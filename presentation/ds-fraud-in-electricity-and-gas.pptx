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notesSlides/notesSlide14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15.xml" ContentType="application/vnd.openxmlformats-officedocument.presentationml.notesSlide+xml"/>
  <Override PartName="/ppt/charts/chart8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22"/>
    <p:sldId id="277" r:id="rId23"/>
    <p:sldId id="276" r:id="rId24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3"/>
    <p:restoredTop sz="84169"/>
  </p:normalViewPr>
  <p:slideViewPr>
    <p:cSldViewPr snapToGrid="0">
      <p:cViewPr varScale="1">
        <p:scale>
          <a:sx n="104" d="100"/>
          <a:sy n="104" d="100"/>
        </p:scale>
        <p:origin x="232" y="1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>
              <a:srgbClr val="1877D2"/>
            </a:solidFill>
          </c:spPr>
          <c:invertIfNegative val="1"/>
          <c:cat>
            <c:strLit>
              <c:ptCount val="2"/>
              <c:pt idx="0">
                <c:v>1–7 invoices</c:v>
              </c:pt>
              <c:pt idx="1">
                <c:v>58–439 invoices</c:v>
              </c:pt>
            </c:strLit>
          </c:cat>
          <c:val>
            <c:numLit>
              <c:formatCode>General</c:formatCode>
              <c:ptCount val="2"/>
              <c:pt idx="0">
                <c:v>0.94</c:v>
              </c:pt>
              <c:pt idx="1">
                <c:v>9.15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4B4-434F-9D95-75A18E88BCF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9CDD3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endParaRPr lang="en-DE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w="9525">
              <a:solidFill>
                <a:srgbClr val="F1F2F4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endParaRPr lang="en-DE"/>
          </a:p>
        </c:txPr>
        <c:crossAx val="48650112"/>
        <c:crosses val="autoZero"/>
        <c:crossBetween val="between"/>
        <c:majorUnit val="2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>
              <a:srgbClr val="178A6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101114"/>
                    </a:solidFill>
                    <a:latin typeface="Helvetica Neue"/>
                    <a:ea typeface="Helvetica Neue"/>
                    <a:cs typeface="Helvetica Neue"/>
                  </a:defRPr>
                </a:pPr>
                <a:endParaRPr lang="en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All clients</c:v>
              </c:pt>
              <c:pt idx="1">
                <c:v>client_catg 51</c:v>
              </c:pt>
            </c:strLit>
          </c:cat>
          <c:val>
            <c:numLit>
              <c:formatCode>General</c:formatCode>
              <c:ptCount val="2"/>
              <c:pt idx="0">
                <c:v>5.58</c:v>
              </c:pt>
              <c:pt idx="1">
                <c:v>16.87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CBB-8148-8B62-7FFA942CD7E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9CDD3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endParaRPr lang="en-DE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8"/>
          <c:min val="0"/>
        </c:scaling>
        <c:delete val="0"/>
        <c:axPos val="l"/>
        <c:majorGridlines>
          <c:spPr>
            <a:ln w="9525">
              <a:solidFill>
                <a:srgbClr val="F1F2F4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endParaRPr lang="en-DE"/>
          </a:p>
        </c:txPr>
        <c:crossAx val="48650112"/>
        <c:crosses val="autoZero"/>
        <c:crossBetween val="between"/>
        <c:majorUnit val="3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>
              <a:srgbClr val="D6282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101114"/>
                    </a:solidFill>
                    <a:latin typeface="Helvetica Neue"/>
                    <a:ea typeface="Helvetica Neue"/>
                    <a:cs typeface="Helvetica Neue"/>
                  </a:defRPr>
                </a:pPr>
                <a:endParaRPr lang="en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Non-fraud</c:v>
              </c:pt>
              <c:pt idx="1">
                <c:v>Fraud</c:v>
              </c:pt>
            </c:strLit>
          </c:cat>
          <c:val>
            <c:numLit>
              <c:formatCode>General</c:formatCode>
              <c:ptCount val="2"/>
              <c:pt idx="0">
                <c:v>75.400000000000006</c:v>
              </c:pt>
              <c:pt idx="1">
                <c:v>118.5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749-E442-A72D-C83BEE970F0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9CDD3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endParaRPr lang="en-DE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30"/>
          <c:min val="0"/>
        </c:scaling>
        <c:delete val="0"/>
        <c:axPos val="l"/>
        <c:majorGridlines>
          <c:spPr>
            <a:ln w="9525">
              <a:solidFill>
                <a:srgbClr val="F1F2F4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endParaRPr lang="en-DE"/>
          </a:p>
        </c:txPr>
        <c:crossAx val="48650112"/>
        <c:crosses val="autoZero"/>
        <c:crossBetween val="between"/>
        <c:majorUnit val="25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>
              <a:srgbClr val="1877D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101114"/>
                    </a:solidFill>
                    <a:latin typeface="Helvetica Neue"/>
                    <a:ea typeface="Helvetica Neue"/>
                    <a:cs typeface="Helvetica Neue"/>
                  </a:defRPr>
                </a:pPr>
                <a:endParaRPr lang="en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Dummy</c:v>
              </c:pt>
              <c:pt idx="1">
                <c:v>Logistic regression</c:v>
              </c:pt>
            </c:strLit>
          </c:cat>
          <c:val>
            <c:numLit>
              <c:formatCode>General</c:formatCode>
              <c:ptCount val="2"/>
              <c:pt idx="0">
                <c:v>5.6</c:v>
              </c:pt>
              <c:pt idx="1">
                <c:v>17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507-7440-BA66-BB935228D16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9CDD3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endParaRPr lang="en-DE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0"/>
          <c:min val="0"/>
        </c:scaling>
        <c:delete val="0"/>
        <c:axPos val="l"/>
        <c:majorGridlines>
          <c:spPr>
            <a:ln w="9525">
              <a:solidFill>
                <a:srgbClr val="F1F2F4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endParaRPr lang="en-DE"/>
          </a:p>
        </c:txPr>
        <c:crossAx val="48650112"/>
        <c:crosses val="autoZero"/>
        <c:crossBetween val="between"/>
        <c:majorUnit val="4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>
              <a:srgbClr val="1877D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101114"/>
                    </a:solidFill>
                    <a:latin typeface="Helvetica Neue"/>
                    <a:ea typeface="Helvetica Neue"/>
                    <a:cs typeface="Helvetica Neue"/>
                  </a:defRPr>
                </a:pPr>
                <a:endParaRPr lang="en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7"/>
              <c:pt idx="0">
                <c:v>Dummy</c:v>
              </c:pt>
              <c:pt idx="1">
                <c:v>IsoF</c:v>
              </c:pt>
              <c:pt idx="2">
                <c:v>KNN</c:v>
              </c:pt>
              <c:pt idx="3">
                <c:v>LogReg</c:v>
              </c:pt>
              <c:pt idx="4">
                <c:v>RF</c:v>
              </c:pt>
              <c:pt idx="5">
                <c:v>XGB</c:v>
              </c:pt>
              <c:pt idx="6">
                <c:v>LGBM</c:v>
              </c:pt>
            </c:strLit>
          </c:cat>
          <c:val>
            <c:numLit>
              <c:formatCode>General</c:formatCode>
              <c:ptCount val="7"/>
              <c:pt idx="0">
                <c:v>5.6</c:v>
              </c:pt>
              <c:pt idx="1">
                <c:v>7.2</c:v>
              </c:pt>
              <c:pt idx="2">
                <c:v>13.9</c:v>
              </c:pt>
              <c:pt idx="3">
                <c:v>17</c:v>
              </c:pt>
              <c:pt idx="4">
                <c:v>22.7</c:v>
              </c:pt>
              <c:pt idx="5">
                <c:v>23.2</c:v>
              </c:pt>
              <c:pt idx="6">
                <c:v>24.7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A49-8F4C-9A92-99A5D8C8062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9CDD3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endParaRPr lang="en-DE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8"/>
          <c:min val="0"/>
        </c:scaling>
        <c:delete val="0"/>
        <c:axPos val="l"/>
        <c:majorGridlines>
          <c:spPr>
            <a:ln w="9525">
              <a:solidFill>
                <a:srgbClr val="F1F2F4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endParaRPr lang="en-DE"/>
          </a:p>
        </c:txPr>
        <c:crossAx val="48650112"/>
        <c:crosses val="autoZero"/>
        <c:crossBetween val="between"/>
        <c:majorUnit val="4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>
              <a:srgbClr val="D6282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101114"/>
                    </a:solidFill>
                    <a:latin typeface="Helvetica Neue"/>
                    <a:ea typeface="Helvetica Neue"/>
                    <a:cs typeface="Helvetica Neue"/>
                  </a:defRPr>
                </a:pPr>
                <a:endParaRPr lang="en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Caught all</c:v>
              </c:pt>
              <c:pt idx="1">
                <c:v>Missed by 1</c:v>
              </c:pt>
              <c:pt idx="2">
                <c:v>Missed by 2</c:v>
              </c:pt>
              <c:pt idx="3">
                <c:v>Missed all</c:v>
              </c:pt>
            </c:strLit>
          </c:cat>
          <c:val>
            <c:numLit>
              <c:formatCode>General</c:formatCode>
              <c:ptCount val="4"/>
              <c:pt idx="0">
                <c:v>2250</c:v>
              </c:pt>
              <c:pt idx="1">
                <c:v>1066</c:v>
              </c:pt>
              <c:pt idx="2">
                <c:v>1002</c:v>
              </c:pt>
              <c:pt idx="3">
                <c:v>3248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D6D-E346-BCE0-B676A522F6D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9CDD3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endParaRPr lang="en-DE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600"/>
          <c:min val="0"/>
        </c:scaling>
        <c:delete val="0"/>
        <c:axPos val="l"/>
        <c:majorGridlines>
          <c:spPr>
            <a:ln w="9525">
              <a:solidFill>
                <a:srgbClr val="F1F2F4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endParaRPr lang="en-DE"/>
          </a:p>
        </c:txPr>
        <c:crossAx val="48650112"/>
        <c:crosses val="autoZero"/>
        <c:crossBetween val="between"/>
        <c:majorUnit val="600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>
              <a:srgbClr val="1877D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101114"/>
                    </a:solidFill>
                    <a:latin typeface="Helvetica Neue"/>
                    <a:ea typeface="Helvetica Neue"/>
                    <a:cs typeface="Helvetica Neue"/>
                  </a:defRPr>
                </a:pPr>
                <a:endParaRPr lang="en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Q1
1–7</c:v>
              </c:pt>
              <c:pt idx="1">
                <c:v>Q2
8–22</c:v>
              </c:pt>
              <c:pt idx="2">
                <c:v>Q3
23–36</c:v>
              </c:pt>
              <c:pt idx="3">
                <c:v>Q4
37–57</c:v>
              </c:pt>
              <c:pt idx="4">
                <c:v>Q5
58+</c:v>
              </c:pt>
            </c:strLit>
          </c:cat>
          <c:val>
            <c:numLit>
              <c:formatCode>General</c:formatCode>
              <c:ptCount val="5"/>
              <c:pt idx="0">
                <c:v>5.56</c:v>
              </c:pt>
              <c:pt idx="1">
                <c:v>26.11</c:v>
              </c:pt>
              <c:pt idx="2">
                <c:v>48.17</c:v>
              </c:pt>
              <c:pt idx="3">
                <c:v>47.51</c:v>
              </c:pt>
              <c:pt idx="4">
                <c:v>55.86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390-D345-84DD-F0A5D70551D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9CDD3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endParaRPr lang="en-DE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5"/>
          <c:min val="0"/>
        </c:scaling>
        <c:delete val="0"/>
        <c:axPos val="l"/>
        <c:majorGridlines>
          <c:spPr>
            <a:ln w="9525">
              <a:solidFill>
                <a:srgbClr val="F1F2F4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endParaRPr lang="en-DE"/>
          </a:p>
        </c:txPr>
        <c:crossAx val="48650112"/>
        <c:crosses val="autoZero"/>
        <c:crossBetween val="between"/>
        <c:majorUnit val="10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Value</c:v>
          </c:tx>
          <c:spPr>
            <a:solidFill>
              <a:srgbClr val="1877D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00">
                    <a:solidFill>
                      <a:srgbClr val="101114"/>
                    </a:solidFill>
                    <a:latin typeface="Helvetica Neue"/>
                    <a:ea typeface="Helvetica Neue"/>
                    <a:cs typeface="Helvetica Neue"/>
                  </a:defRPr>
                </a:pPr>
                <a:endParaRPr lang="en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One-hot
search</c:v>
              </c:pt>
              <c:pt idx="1">
                <c:v>Native cat.
search</c:v>
              </c:pt>
              <c:pt idx="2">
                <c:v>Native cat.
OOF</c:v>
              </c:pt>
              <c:pt idx="3">
                <c:v>LGBM + RF
OOF</c:v>
              </c:pt>
            </c:strLit>
          </c:cat>
          <c:val>
            <c:numLit>
              <c:formatCode>General</c:formatCode>
              <c:ptCount val="4"/>
              <c:pt idx="0">
                <c:v>24.7</c:v>
              </c:pt>
              <c:pt idx="1">
                <c:v>25.14</c:v>
              </c:pt>
              <c:pt idx="2">
                <c:v>25.06</c:v>
              </c:pt>
              <c:pt idx="3">
                <c:v>24.99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5B3-1843-B5F3-0DE1CBDE756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C9CDD3"/>
            </a:solidFill>
            <a:prstDash val="solid"/>
          </a:ln>
        </c:spPr>
        <c:txPr>
          <a:bodyPr anchorCtr="1"/>
          <a:lstStyle/>
          <a:p>
            <a:pPr>
              <a:defRPr sz="90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endParaRPr lang="en-DE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28"/>
          <c:min val="0"/>
        </c:scaling>
        <c:delete val="0"/>
        <c:axPos val="l"/>
        <c:majorGridlines>
          <c:spPr>
            <a:ln w="9525">
              <a:solidFill>
                <a:srgbClr val="F1F2F4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0">
            <a:solidFill>
              <a:srgbClr val="FFFFFF"/>
            </a:solidFill>
            <a:prstDash val="solid"/>
          </a:ln>
        </c:spPr>
        <c:txPr>
          <a:bodyPr anchorCtr="1"/>
          <a:lstStyle/>
          <a:p>
            <a:pPr>
              <a:defRPr sz="825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endParaRPr lang="en-DE"/>
          </a:p>
        </c:txPr>
        <c:crossAx val="48650112"/>
        <c:crosses val="autoZero"/>
        <c:crossBetween val="between"/>
        <c:majorUnit val="4"/>
      </c:valAx>
      <c:spPr>
        <a:noFill/>
        <a:ln w="0">
          <a:solidFill>
            <a:srgbClr val="FFFFFF"/>
          </a:solidFill>
          <a:prstDash val="solid"/>
        </a:ln>
      </c:spPr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GB" dirty="0"/>
              <a:t>We saved the feature-creation process so the same 15 client features can be recreated from new invoice and client data.</a:t>
            </a:r>
          </a:p>
          <a:p>
            <a:endParaRPr lang="en-GB" dirty="0"/>
          </a:p>
          <a:p>
            <a:r>
              <a:rPr lang="en-GB" dirty="0"/>
              <a:t>It remembers the calculation steps, such as:</a:t>
            </a:r>
          </a:p>
          <a:p>
            <a:pPr lvl="0"/>
            <a:r>
              <a:rPr lang="en-GB" dirty="0"/>
              <a:t>- Counting invoices</a:t>
            </a:r>
          </a:p>
          <a:p>
            <a:pPr lvl="0"/>
            <a:r>
              <a:rPr lang="en-GB" dirty="0"/>
              <a:t>- Calculating active days and invoice gaps</a:t>
            </a:r>
          </a:p>
          <a:p>
            <a:pPr lvl="0"/>
            <a:r>
              <a:rPr lang="en-GB" dirty="0"/>
              <a:t>- Measuring consumption patterns</a:t>
            </a:r>
          </a:p>
          <a:p>
            <a:pPr lvl="0"/>
            <a:r>
              <a:rPr lang="en-GB" dirty="0"/>
              <a:t>- Detecting backward meter readings</a:t>
            </a:r>
          </a:p>
          <a:p>
            <a:pPr lvl="0"/>
            <a:r>
              <a:rPr lang="en-GB" dirty="0"/>
              <a:t>- Creating reconciliation features</a:t>
            </a:r>
          </a:p>
          <a:p>
            <a:endParaRPr lang="en-GB" dirty="0"/>
          </a:p>
          <a:p>
            <a:r>
              <a:rPr lang="en-GB" dirty="0"/>
              <a:t>It does not contain the trained fraud model.</a:t>
            </a:r>
          </a:p>
          <a:p>
            <a:pPr marL="171450" indent="-171450">
              <a:buFontTx/>
              <a:buChar char="-"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AE23B99-6E9E-4FD7-839C-76914A97FDA7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523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8FC6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8FC6F5"/>
                </a:solidFill>
                <a:latin typeface="Helvetica Neue"/>
                <a:ea typeface="Helvetica Neue"/>
                <a:cs typeface="Helvetica Neue"/>
              </a:rPr>
              <a:t>DATA SCIENCE · FRAUD DETECTION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C34BC1-1E0B-47FF-AC5A-B0D8E50B0DD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8286750" cy="1714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541"/>
          </a:bodyPr>
          <a:lstStyle/>
          <a:p>
            <a:pPr algn="l">
              <a:defRPr sz="3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Predicting which electricity and gas clients should be inspected first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F925D2-0B2F-464F-9948-4D6E277771A9}"/>
              </a:ext>
            </a:extLst>
          </p:cNvPr>
          <p:cNvSpPr>
            <a:spLocks noGrp="1"/>
          </p:cNvSpPr>
          <p:nvPr/>
        </p:nvSpPr>
        <p:spPr>
          <a:xfrm>
            <a:off x="647700" y="3524250"/>
            <a:ext cx="61912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75" b="0" i="0">
                <a:solidFill>
                  <a:srgbClr val="D8DD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 i="0">
                <a:solidFill>
                  <a:srgbClr val="D8DDE4"/>
                </a:solidFill>
                <a:latin typeface="Helvetica Neue"/>
                <a:ea typeface="Helvetica Neue"/>
                <a:cs typeface="Helvetica Neue"/>
              </a:rPr>
              <a:t>Fraud detection as a ranking problem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2CFA01-32A2-428C-9126-5CB78A31F27F}"/>
              </a:ext>
            </a:extLst>
          </p:cNvPr>
          <p:cNvSpPr>
            <a:spLocks noGrp="1"/>
          </p:cNvSpPr>
          <p:nvPr/>
        </p:nvSpPr>
        <p:spPr>
          <a:xfrm>
            <a:off x="647700" y="4267200"/>
            <a:ext cx="7239000" cy="9525"/>
          </a:xfrm>
          <a:prstGeom prst="rect">
            <a:avLst/>
          </a:prstGeom>
          <a:solidFill>
            <a:srgbClr val="474B52"/>
          </a:solidFill>
          <a:ln w="0">
            <a:solidFill>
              <a:srgbClr val="474B52"/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51236FB-7260-45DD-9FEB-A4B9478DBB00}"/>
              </a:ext>
            </a:extLst>
          </p:cNvPr>
          <p:cNvSpPr>
            <a:spLocks noGrp="1"/>
          </p:cNvSpPr>
          <p:nvPr/>
        </p:nvSpPr>
        <p:spPr>
          <a:xfrm>
            <a:off x="647700" y="453390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8FC6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8FC6F5"/>
                </a:solidFill>
                <a:latin typeface="Helvetica Neue"/>
                <a:ea typeface="Helvetica Neue"/>
                <a:cs typeface="Helvetica Neue"/>
              </a:rPr>
              <a:t>135,493 clients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3117D6-78D0-464B-B1A7-B307C43364E5}"/>
              </a:ext>
            </a:extLst>
          </p:cNvPr>
          <p:cNvSpPr>
            <a:spLocks noGrp="1"/>
          </p:cNvSpPr>
          <p:nvPr/>
        </p:nvSpPr>
        <p:spPr>
          <a:xfrm>
            <a:off x="3143250" y="45339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8FC6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8FC6F5"/>
                </a:solidFill>
                <a:latin typeface="Helvetica Neue"/>
                <a:ea typeface="Helvetica Neue"/>
                <a:cs typeface="Helvetica Neue"/>
              </a:rPr>
              <a:t>4,476,749 invoices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5980B-6CF9-444A-8B0A-1A656E635852}"/>
              </a:ext>
            </a:extLst>
          </p:cNvPr>
          <p:cNvSpPr>
            <a:spLocks noGrp="1"/>
          </p:cNvSpPr>
          <p:nvPr/>
        </p:nvSpPr>
        <p:spPr>
          <a:xfrm>
            <a:off x="5905500" y="45339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8FC6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 dirty="0">
                <a:solidFill>
                  <a:srgbClr val="8FC6F5"/>
                </a:solidFill>
                <a:latin typeface="Helvetica Neue"/>
                <a:ea typeface="Helvetica Neue"/>
                <a:cs typeface="Helvetica Neue"/>
              </a:rPr>
              <a:t>15 </a:t>
            </a:r>
            <a:r>
              <a:rPr lang="de-DE" sz="1500" b="1" i="0" dirty="0" err="1">
                <a:solidFill>
                  <a:srgbClr val="8FC6F5"/>
                </a:solidFill>
                <a:latin typeface="Helvetica Neue"/>
                <a:ea typeface="Helvetica Neue"/>
                <a:cs typeface="Helvetica Neue"/>
              </a:rPr>
              <a:t>features</a:t>
            </a:r>
            <a:endParaRPr sz="1500" b="1" i="0" dirty="0">
              <a:solidFill>
                <a:srgbClr val="8FC6F5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F55824D-4826-4C0F-8022-DD820F0BECFC}"/>
              </a:ext>
            </a:extLst>
          </p:cNvPr>
          <p:cNvSpPr>
            <a:spLocks noGrp="1"/>
          </p:cNvSpPr>
          <p:nvPr/>
        </p:nvSpPr>
        <p:spPr>
          <a:xfrm>
            <a:off x="9372600" y="876300"/>
            <a:ext cx="47625" cy="4648200"/>
          </a:xfrm>
          <a:prstGeom prst="rect">
            <a:avLst/>
          </a:prstGeom>
          <a:solidFill>
            <a:srgbClr val="1877D2"/>
          </a:solidFill>
          <a:ln w="0">
            <a:solidFill>
              <a:srgbClr val="1877D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FE525A8-1BCB-4D00-BFD4-6E09ABBD7208}"/>
              </a:ext>
            </a:extLst>
          </p:cNvPr>
          <p:cNvSpPr>
            <a:spLocks noGrp="1"/>
          </p:cNvSpPr>
          <p:nvPr/>
        </p:nvSpPr>
        <p:spPr>
          <a:xfrm>
            <a:off x="9715500" y="4076700"/>
            <a:ext cx="1809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Roy Grossman</a:t>
            </a:r>
          </a:p>
          <a:p>
            <a:pPr algn="r">
              <a:def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Sean Kress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A2D069-BEA6-4085-A0B1-6FFA79B85C8E}"/>
              </a:ext>
            </a:extLst>
          </p:cNvPr>
          <p:cNvSpPr>
            <a:spLocks noGrp="1"/>
          </p:cNvSpPr>
          <p:nvPr/>
        </p:nvSpPr>
        <p:spPr>
          <a:xfrm>
            <a:off x="9715500" y="4876800"/>
            <a:ext cx="1809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125" b="0" i="0">
                <a:solidFill>
                  <a:srgbClr val="A8AE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 dirty="0">
                <a:solidFill>
                  <a:srgbClr val="A8AEB7"/>
                </a:solidFill>
                <a:latin typeface="Helvetica Neue"/>
                <a:ea typeface="Helvetica Neue"/>
                <a:cs typeface="Helvetica Neue"/>
              </a:rPr>
              <a:t>ML Week </a:t>
            </a:r>
            <a:r>
              <a:rPr lang="de-DE" sz="1125" b="0" i="0" dirty="0">
                <a:solidFill>
                  <a:srgbClr val="A8AEB7"/>
                </a:solidFill>
                <a:latin typeface="Helvetica Neue"/>
                <a:ea typeface="Helvetica Neue"/>
                <a:cs typeface="Helvetica Neue"/>
              </a:rPr>
              <a:t>08 </a:t>
            </a:r>
            <a:r>
              <a:rPr sz="1125" b="0" i="0" dirty="0">
                <a:solidFill>
                  <a:srgbClr val="A8AEB7"/>
                </a:solidFill>
                <a:latin typeface="Helvetica Neue"/>
                <a:ea typeface="Helvetica Neue"/>
                <a:cs typeface="Helvetica Neue"/>
              </a:rPr>
              <a:t>Challenge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5D8F45-964C-4A9D-82D7-310D5DD8E1F3}"/>
              </a:ext>
            </a:extLst>
          </p:cNvPr>
          <p:cNvSpPr>
            <a:spLocks noGrp="1"/>
          </p:cNvSpPr>
          <p:nvPr/>
        </p:nvSpPr>
        <p:spPr>
          <a:xfrm>
            <a:off x="10972800" y="64198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 i="0">
                <a:solidFill>
                  <a:srgbClr val="A8AE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A8AEB7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145919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F53A399A-E882-402C-9170-F40605262DD3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OVERVIEW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45BDB30-9276-48A6-BB20-685316359290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1096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Today’s route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9B10CE-B5C5-4DAA-9F55-26E6062DBBD2}"/>
              </a:ext>
            </a:extLst>
          </p:cNvPr>
          <p:cNvSpPr>
            <a:spLocks noGrp="1"/>
          </p:cNvSpPr>
          <p:nvPr/>
        </p:nvSpPr>
        <p:spPr>
          <a:xfrm>
            <a:off x="514350" y="1181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64D5F44-789B-4EE7-AE40-542307CCA174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04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From the business problem to a tested recommendation.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411AA5-3BC2-4841-B65F-A9B76F0698C2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321467-CC1B-4EA5-AF9B-08F5121E5321}"/>
              </a:ext>
            </a:extLst>
          </p:cNvPr>
          <p:cNvSpPr>
            <a:spLocks noGrp="1"/>
          </p:cNvSpPr>
          <p:nvPr/>
        </p:nvSpPr>
        <p:spPr>
          <a:xfrm>
            <a:off x="514350" y="6591300"/>
            <a:ext cx="3714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ROY + SEAN · FRAUD DETECTION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665B4B-37DC-4374-9BD6-B559B0DC0CB7}"/>
              </a:ext>
            </a:extLst>
          </p:cNvPr>
          <p:cNvSpPr>
            <a:spLocks noGrp="1"/>
          </p:cNvSpPr>
          <p:nvPr/>
        </p:nvSpPr>
        <p:spPr>
          <a:xfrm>
            <a:off x="1112520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696910-4A5A-4E00-B390-28CF38EA7F41}"/>
              </a:ext>
            </a:extLst>
          </p:cNvPr>
          <p:cNvSpPr>
            <a:spLocks noGrp="1"/>
          </p:cNvSpPr>
          <p:nvPr/>
        </p:nvSpPr>
        <p:spPr>
          <a:xfrm>
            <a:off x="514350" y="182880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F59715-33C0-4BBB-9E6E-58C64217BF14}"/>
              </a:ext>
            </a:extLst>
          </p:cNvPr>
          <p:cNvSpPr>
            <a:spLocks noGrp="1"/>
          </p:cNvSpPr>
          <p:nvPr/>
        </p:nvSpPr>
        <p:spPr>
          <a:xfrm>
            <a:off x="1295400" y="1828800"/>
            <a:ext cx="3190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Problem and value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FBC3C7-4473-419E-827D-4A56C37941E9}"/>
              </a:ext>
            </a:extLst>
          </p:cNvPr>
          <p:cNvSpPr>
            <a:spLocks noGrp="1"/>
          </p:cNvSpPr>
          <p:nvPr/>
        </p:nvSpPr>
        <p:spPr>
          <a:xfrm>
            <a:off x="4762500" y="1847850"/>
            <a:ext cx="504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Business case, metric choice, and evaluation design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27473C-0059-45DD-BA15-D10595F2C144}"/>
              </a:ext>
            </a:extLst>
          </p:cNvPr>
          <p:cNvSpPr>
            <a:spLocks noGrp="1"/>
          </p:cNvSpPr>
          <p:nvPr/>
        </p:nvSpPr>
        <p:spPr>
          <a:xfrm>
            <a:off x="10287000" y="1828800"/>
            <a:ext cx="628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2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03–06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3C57AD-862C-4126-8A76-EEBBC99832D3}"/>
              </a:ext>
            </a:extLst>
          </p:cNvPr>
          <p:cNvSpPr>
            <a:spLocks noGrp="1"/>
          </p:cNvSpPr>
          <p:nvPr/>
        </p:nvSpPr>
        <p:spPr>
          <a:xfrm>
            <a:off x="1295400" y="2381250"/>
            <a:ext cx="962025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15EF06A-48D0-4E00-8294-CD4E72983A16}"/>
              </a:ext>
            </a:extLst>
          </p:cNvPr>
          <p:cNvSpPr>
            <a:spLocks noGrp="1"/>
          </p:cNvSpPr>
          <p:nvPr/>
        </p:nvSpPr>
        <p:spPr>
          <a:xfrm>
            <a:off x="514350" y="266700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15A4B7-9150-4439-9461-138F39E34E05}"/>
              </a:ext>
            </a:extLst>
          </p:cNvPr>
          <p:cNvSpPr>
            <a:spLocks noGrp="1"/>
          </p:cNvSpPr>
          <p:nvPr/>
        </p:nvSpPr>
        <p:spPr>
          <a:xfrm>
            <a:off x="1295400" y="2667000"/>
            <a:ext cx="3190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Data and EDA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B338FF-504F-4D57-9E96-981E38F61904}"/>
              </a:ext>
            </a:extLst>
          </p:cNvPr>
          <p:cNvSpPr>
            <a:spLocks noGrp="1"/>
          </p:cNvSpPr>
          <p:nvPr/>
        </p:nvSpPr>
        <p:spPr>
          <a:xfrm>
            <a:off x="4762500" y="2686050"/>
            <a:ext cx="504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Aggregation, feature contract, patterns, and bias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0E0404-15A4-48F6-A316-502CAC13236F}"/>
              </a:ext>
            </a:extLst>
          </p:cNvPr>
          <p:cNvSpPr>
            <a:spLocks noGrp="1"/>
          </p:cNvSpPr>
          <p:nvPr/>
        </p:nvSpPr>
        <p:spPr>
          <a:xfrm>
            <a:off x="10287000" y="2667000"/>
            <a:ext cx="628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275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rPr>
              <a:t>07–10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F31322-75CD-4F38-87CE-D9AD50A1B5FB}"/>
              </a:ext>
            </a:extLst>
          </p:cNvPr>
          <p:cNvSpPr>
            <a:spLocks noGrp="1"/>
          </p:cNvSpPr>
          <p:nvPr/>
        </p:nvSpPr>
        <p:spPr>
          <a:xfrm>
            <a:off x="1295400" y="3219450"/>
            <a:ext cx="962025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97651F-46E6-4D24-B1E6-AFE57A06B8C6}"/>
              </a:ext>
            </a:extLst>
          </p:cNvPr>
          <p:cNvSpPr>
            <a:spLocks noGrp="1"/>
          </p:cNvSpPr>
          <p:nvPr/>
        </p:nvSpPr>
        <p:spPr>
          <a:xfrm>
            <a:off x="514350" y="350520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EE9F27-9536-4D7B-9966-D7961C5D28C5}"/>
              </a:ext>
            </a:extLst>
          </p:cNvPr>
          <p:cNvSpPr>
            <a:spLocks noGrp="1"/>
          </p:cNvSpPr>
          <p:nvPr/>
        </p:nvSpPr>
        <p:spPr>
          <a:xfrm>
            <a:off x="1295400" y="3505200"/>
            <a:ext cx="3190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Modelling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FAB7F8-521F-4303-97F0-BDCEF86C5355}"/>
              </a:ext>
            </a:extLst>
          </p:cNvPr>
          <p:cNvSpPr>
            <a:spLocks noGrp="1"/>
          </p:cNvSpPr>
          <p:nvPr/>
        </p:nvSpPr>
        <p:spPr>
          <a:xfrm>
            <a:off x="4762500" y="3524250"/>
            <a:ext cx="504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Pipeline, baseline, extensions, errors, and final model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7A6220-A43E-4253-ABAE-B817CE0937A7}"/>
              </a:ext>
            </a:extLst>
          </p:cNvPr>
          <p:cNvSpPr>
            <a:spLocks noGrp="1"/>
          </p:cNvSpPr>
          <p:nvPr/>
        </p:nvSpPr>
        <p:spPr>
          <a:xfrm>
            <a:off x="10287000" y="3505200"/>
            <a:ext cx="628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275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rPr>
              <a:t>11–17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C2AA3B-15A9-467B-B9ED-F8700AE1D8A9}"/>
              </a:ext>
            </a:extLst>
          </p:cNvPr>
          <p:cNvSpPr>
            <a:spLocks noGrp="1"/>
          </p:cNvSpPr>
          <p:nvPr/>
        </p:nvSpPr>
        <p:spPr>
          <a:xfrm>
            <a:off x="1295400" y="4057650"/>
            <a:ext cx="962025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92BC244-61EA-41E9-BA85-F474C9DBB213}"/>
              </a:ext>
            </a:extLst>
          </p:cNvPr>
          <p:cNvSpPr>
            <a:spLocks noGrp="1"/>
          </p:cNvSpPr>
          <p:nvPr/>
        </p:nvSpPr>
        <p:spPr>
          <a:xfrm>
            <a:off x="514350" y="434340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B86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B86B0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70D2E50-DAC5-42DD-9F35-B938FEFD2843}"/>
              </a:ext>
            </a:extLst>
          </p:cNvPr>
          <p:cNvSpPr>
            <a:spLocks noGrp="1"/>
          </p:cNvSpPr>
          <p:nvPr/>
        </p:nvSpPr>
        <p:spPr>
          <a:xfrm>
            <a:off x="1295400" y="4343400"/>
            <a:ext cx="3190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Recommendation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18EFCFB-E341-444A-A457-758172CF6B7E}"/>
              </a:ext>
            </a:extLst>
          </p:cNvPr>
          <p:cNvSpPr>
            <a:spLocks noGrp="1"/>
          </p:cNvSpPr>
          <p:nvPr/>
        </p:nvSpPr>
        <p:spPr>
          <a:xfrm>
            <a:off x="4762500" y="4362450"/>
            <a:ext cx="504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Operating controls and limits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17E78E5-C163-4C29-B6EC-D031E97949B9}"/>
              </a:ext>
            </a:extLst>
          </p:cNvPr>
          <p:cNvSpPr>
            <a:spLocks noGrp="1"/>
          </p:cNvSpPr>
          <p:nvPr/>
        </p:nvSpPr>
        <p:spPr>
          <a:xfrm>
            <a:off x="10287000" y="4343400"/>
            <a:ext cx="628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275" b="1" i="0">
                <a:solidFill>
                  <a:srgbClr val="B86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B86B00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7FB4BEA-FEBC-4121-ACAD-1843C4B1BD41}"/>
              </a:ext>
            </a:extLst>
          </p:cNvPr>
          <p:cNvSpPr>
            <a:spLocks noGrp="1"/>
          </p:cNvSpPr>
          <p:nvPr/>
        </p:nvSpPr>
        <p:spPr>
          <a:xfrm>
            <a:off x="1295400" y="4895850"/>
            <a:ext cx="962025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5E71F1D-CDD8-4CA3-BFCE-922FB6187266}"/>
              </a:ext>
            </a:extLst>
          </p:cNvPr>
          <p:cNvSpPr>
            <a:spLocks noGrp="1"/>
          </p:cNvSpPr>
          <p:nvPr/>
        </p:nvSpPr>
        <p:spPr>
          <a:xfrm>
            <a:off x="514350" y="5181600"/>
            <a:ext cx="5524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0477B83-0D11-4CBD-BF8A-293D769C863F}"/>
              </a:ext>
            </a:extLst>
          </p:cNvPr>
          <p:cNvSpPr>
            <a:spLocks noGrp="1"/>
          </p:cNvSpPr>
          <p:nvPr/>
        </p:nvSpPr>
        <p:spPr>
          <a:xfrm>
            <a:off x="1295400" y="5181600"/>
            <a:ext cx="3190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Discussion and next steps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EE386D-061C-41FE-897D-F10B845DB612}"/>
              </a:ext>
            </a:extLst>
          </p:cNvPr>
          <p:cNvSpPr>
            <a:spLocks noGrp="1"/>
          </p:cNvSpPr>
          <p:nvPr/>
        </p:nvSpPr>
        <p:spPr>
          <a:xfrm>
            <a:off x="4762500" y="5200650"/>
            <a:ext cx="5048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Questions, roadmap, and engineering work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764E89E-3C64-4E0B-AE51-23822D63D2B7}"/>
              </a:ext>
            </a:extLst>
          </p:cNvPr>
          <p:cNvSpPr>
            <a:spLocks noGrp="1"/>
          </p:cNvSpPr>
          <p:nvPr/>
        </p:nvSpPr>
        <p:spPr>
          <a:xfrm>
            <a:off x="10287000" y="5181600"/>
            <a:ext cx="6286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12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19–23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ED83C08-673B-4950-B74A-8A73D1370D97}"/>
              </a:ext>
            </a:extLst>
          </p:cNvPr>
          <p:cNvSpPr>
            <a:spLocks noGrp="1"/>
          </p:cNvSpPr>
          <p:nvPr/>
        </p:nvSpPr>
        <p:spPr>
          <a:xfrm>
            <a:off x="1295400" y="5734050"/>
            <a:ext cx="962025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93028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2B9EB0E5-A2D5-4BFE-81E3-F71307F1B1A2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PROBLEM FRAMING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8E20DD-52CC-4A99-815B-22DB5572222F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1096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Business case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D93EBB-FEA3-41DE-A40B-7E75C5725391}"/>
              </a:ext>
            </a:extLst>
          </p:cNvPr>
          <p:cNvSpPr>
            <a:spLocks noGrp="1"/>
          </p:cNvSpPr>
          <p:nvPr/>
        </p:nvSpPr>
        <p:spPr>
          <a:xfrm>
            <a:off x="514350" y="1181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6D7DDC-C38D-4E2B-9D22-2E75B51A9057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04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The useful output is a ranked inspection queue, not a universal yes/no verdict.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A9DEDB7-D18C-40CF-99DC-4DBBDB0E00B6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C85E0FD-AA14-4A4F-A146-D96B6F4AB2A4}"/>
              </a:ext>
            </a:extLst>
          </p:cNvPr>
          <p:cNvSpPr>
            <a:spLocks noGrp="1"/>
          </p:cNvSpPr>
          <p:nvPr/>
        </p:nvSpPr>
        <p:spPr>
          <a:xfrm>
            <a:off x="514350" y="6591300"/>
            <a:ext cx="3714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ROY + SEAN · FRAUD DETECTION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F46C79-97CF-46C4-A1E7-3F75288E973E}"/>
              </a:ext>
            </a:extLst>
          </p:cNvPr>
          <p:cNvSpPr>
            <a:spLocks noGrp="1"/>
          </p:cNvSpPr>
          <p:nvPr/>
        </p:nvSpPr>
        <p:spPr>
          <a:xfrm>
            <a:off x="1112520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FA205E-92AE-4C5F-82AD-03B97F72A781}"/>
              </a:ext>
            </a:extLst>
          </p:cNvPr>
          <p:cNvSpPr>
            <a:spLocks noGrp="1"/>
          </p:cNvSpPr>
          <p:nvPr/>
        </p:nvSpPr>
        <p:spPr>
          <a:xfrm>
            <a:off x="514350" y="1971675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Limited inspection capacity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D384F12-A633-4691-94C1-D5CCBCE6D9AD}"/>
              </a:ext>
            </a:extLst>
          </p:cNvPr>
          <p:cNvSpPr>
            <a:spLocks noGrp="1"/>
          </p:cNvSpPr>
          <p:nvPr/>
        </p:nvSpPr>
        <p:spPr>
          <a:xfrm>
            <a:off x="514350" y="2533650"/>
            <a:ext cx="4429125" cy="1000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A utility cannot investigate all 135,493 clients. The model must concentrate genuine fraud near the top of a finite queue.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3F1147-5096-4013-946A-336F70BEA1E2}"/>
              </a:ext>
            </a:extLst>
          </p:cNvPr>
          <p:cNvSpPr>
            <a:spLocks noGrp="1"/>
          </p:cNvSpPr>
          <p:nvPr/>
        </p:nvSpPr>
        <p:spPr>
          <a:xfrm>
            <a:off x="6048375" y="1924050"/>
            <a:ext cx="4857750" cy="838200"/>
          </a:xfrm>
          <a:prstGeom prst="rect">
            <a:avLst/>
          </a:prstGeom>
          <a:solidFill>
            <a:srgbClr val="F0F7FD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FBEB4B-9683-4CAF-8B6A-3112757DBD50}"/>
              </a:ext>
            </a:extLst>
          </p:cNvPr>
          <p:cNvSpPr>
            <a:spLocks noGrp="1"/>
          </p:cNvSpPr>
          <p:nvPr/>
        </p:nvSpPr>
        <p:spPr>
          <a:xfrm>
            <a:off x="6048375" y="1924050"/>
            <a:ext cx="66675" cy="838200"/>
          </a:xfrm>
          <a:prstGeom prst="rect">
            <a:avLst/>
          </a:prstGeom>
          <a:solidFill>
            <a:srgbClr val="1877D2"/>
          </a:solidFill>
          <a:ln w="0">
            <a:solidFill>
              <a:srgbClr val="1877D2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8B9C3F-F69A-46C4-B05D-0551FED2F7D6}"/>
              </a:ext>
            </a:extLst>
          </p:cNvPr>
          <p:cNvSpPr>
            <a:spLocks noGrp="1"/>
          </p:cNvSpPr>
          <p:nvPr/>
        </p:nvSpPr>
        <p:spPr>
          <a:xfrm>
            <a:off x="6238875" y="2066925"/>
            <a:ext cx="4514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1 · SCORE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DA3062-1726-48E9-9F75-89671B9644E9}"/>
              </a:ext>
            </a:extLst>
          </p:cNvPr>
          <p:cNvSpPr>
            <a:spLocks noGrp="1"/>
          </p:cNvSpPr>
          <p:nvPr/>
        </p:nvSpPr>
        <p:spPr>
          <a:xfrm>
            <a:off x="6238875" y="2371725"/>
            <a:ext cx="4514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One probability per client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A872927-2761-4849-B7D6-588DBF3B4B8C}"/>
              </a:ext>
            </a:extLst>
          </p:cNvPr>
          <p:cNvSpPr>
            <a:spLocks noGrp="1"/>
          </p:cNvSpPr>
          <p:nvPr/>
        </p:nvSpPr>
        <p:spPr>
          <a:xfrm>
            <a:off x="6048375" y="2962275"/>
            <a:ext cx="4857750" cy="838200"/>
          </a:xfrm>
          <a:prstGeom prst="rect">
            <a:avLst/>
          </a:prstGeom>
          <a:solidFill>
            <a:srgbClr val="DDF3EB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C24F37-52C2-426D-B0A6-4B7C3EC26115}"/>
              </a:ext>
            </a:extLst>
          </p:cNvPr>
          <p:cNvSpPr>
            <a:spLocks noGrp="1"/>
          </p:cNvSpPr>
          <p:nvPr/>
        </p:nvSpPr>
        <p:spPr>
          <a:xfrm>
            <a:off x="6048375" y="2962275"/>
            <a:ext cx="66675" cy="838200"/>
          </a:xfrm>
          <a:prstGeom prst="rect">
            <a:avLst/>
          </a:prstGeom>
          <a:solidFill>
            <a:srgbClr val="178A63"/>
          </a:solidFill>
          <a:ln w="0">
            <a:solidFill>
              <a:srgbClr val="178A63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1A27F3D-CB68-4B65-9DF0-2ED830EFAC54}"/>
              </a:ext>
            </a:extLst>
          </p:cNvPr>
          <p:cNvSpPr>
            <a:spLocks noGrp="1"/>
          </p:cNvSpPr>
          <p:nvPr/>
        </p:nvSpPr>
        <p:spPr>
          <a:xfrm>
            <a:off x="6238875" y="3105150"/>
            <a:ext cx="4514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rPr>
              <a:t>2 · RANK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0A99102-1998-4D56-B1C4-C28B22ED9AF9}"/>
              </a:ext>
            </a:extLst>
          </p:cNvPr>
          <p:cNvSpPr>
            <a:spLocks noGrp="1"/>
          </p:cNvSpPr>
          <p:nvPr/>
        </p:nvSpPr>
        <p:spPr>
          <a:xfrm>
            <a:off x="6238875" y="3409950"/>
            <a:ext cx="4514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Sort clients by predicted fraud risk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9B453F8-C36F-416A-ABFB-F6C4C9F37B07}"/>
              </a:ext>
            </a:extLst>
          </p:cNvPr>
          <p:cNvSpPr>
            <a:spLocks noGrp="1"/>
          </p:cNvSpPr>
          <p:nvPr/>
        </p:nvSpPr>
        <p:spPr>
          <a:xfrm>
            <a:off x="6048375" y="4000500"/>
            <a:ext cx="4857750" cy="838200"/>
          </a:xfrm>
          <a:prstGeom prst="rect">
            <a:avLst/>
          </a:prstGeom>
          <a:solidFill>
            <a:srgbClr val="F9DFDF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3BFB2F-373F-4ABE-8A03-20089FECFE81}"/>
              </a:ext>
            </a:extLst>
          </p:cNvPr>
          <p:cNvSpPr>
            <a:spLocks noGrp="1"/>
          </p:cNvSpPr>
          <p:nvPr/>
        </p:nvSpPr>
        <p:spPr>
          <a:xfrm>
            <a:off x="6048375" y="4000500"/>
            <a:ext cx="66675" cy="838200"/>
          </a:xfrm>
          <a:prstGeom prst="rect">
            <a:avLst/>
          </a:prstGeom>
          <a:solidFill>
            <a:srgbClr val="D62828"/>
          </a:solidFill>
          <a:ln w="0">
            <a:solidFill>
              <a:srgbClr val="D6282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9A51020-0673-4F9C-9EE0-E335ED910817}"/>
              </a:ext>
            </a:extLst>
          </p:cNvPr>
          <p:cNvSpPr>
            <a:spLocks noGrp="1"/>
          </p:cNvSpPr>
          <p:nvPr/>
        </p:nvSpPr>
        <p:spPr>
          <a:xfrm>
            <a:off x="6238875" y="4143375"/>
            <a:ext cx="4514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rPr>
              <a:t>3 · REVIEW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35E7C6B-BC7F-41F6-A63B-7F4E1797FFA4}"/>
              </a:ext>
            </a:extLst>
          </p:cNvPr>
          <p:cNvSpPr>
            <a:spLocks noGrp="1"/>
          </p:cNvSpPr>
          <p:nvPr/>
        </p:nvSpPr>
        <p:spPr>
          <a:xfrm>
            <a:off x="6238875" y="4448175"/>
            <a:ext cx="4514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Inspect only the capacity-limited top slice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BE20A73-8692-432F-9EFB-194DAC9DBC49}"/>
              </a:ext>
            </a:extLst>
          </p:cNvPr>
          <p:cNvSpPr>
            <a:spLocks noGrp="1"/>
          </p:cNvSpPr>
          <p:nvPr/>
        </p:nvSpPr>
        <p:spPr>
          <a:xfrm>
            <a:off x="6048375" y="5038725"/>
            <a:ext cx="4857750" cy="838200"/>
          </a:xfrm>
          <a:prstGeom prst="rect">
            <a:avLst/>
          </a:prstGeom>
          <a:solidFill>
            <a:srgbClr val="F8E8C8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B186DB-E5E8-4E07-AF06-00359753775B}"/>
              </a:ext>
            </a:extLst>
          </p:cNvPr>
          <p:cNvSpPr>
            <a:spLocks noGrp="1"/>
          </p:cNvSpPr>
          <p:nvPr/>
        </p:nvSpPr>
        <p:spPr>
          <a:xfrm>
            <a:off x="6048375" y="5038725"/>
            <a:ext cx="66675" cy="838200"/>
          </a:xfrm>
          <a:prstGeom prst="rect">
            <a:avLst/>
          </a:prstGeom>
          <a:solidFill>
            <a:srgbClr val="B86B00"/>
          </a:solidFill>
          <a:ln w="0">
            <a:solidFill>
              <a:srgbClr val="B86B00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E1E7A2F-7BF7-42E5-B138-B6691ABAAFEF}"/>
              </a:ext>
            </a:extLst>
          </p:cNvPr>
          <p:cNvSpPr>
            <a:spLocks noGrp="1"/>
          </p:cNvSpPr>
          <p:nvPr/>
        </p:nvSpPr>
        <p:spPr>
          <a:xfrm>
            <a:off x="6238875" y="5181600"/>
            <a:ext cx="4514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B86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86B00"/>
                </a:solidFill>
                <a:latin typeface="Helvetica Neue"/>
                <a:ea typeface="Helvetica Neue"/>
                <a:cs typeface="Helvetica Neue"/>
              </a:rPr>
              <a:t>4 · LEARN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A43996D-E91F-4BD0-9476-E6C97CD60BED}"/>
              </a:ext>
            </a:extLst>
          </p:cNvPr>
          <p:cNvSpPr>
            <a:spLocks noGrp="1"/>
          </p:cNvSpPr>
          <p:nvPr/>
        </p:nvSpPr>
        <p:spPr>
          <a:xfrm>
            <a:off x="6238875" y="5486400"/>
            <a:ext cx="45148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Return investigation outcomes for monitoring and retraining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5E8510-81A2-4B3C-8C87-565CECB06D49}"/>
              </a:ext>
            </a:extLst>
          </p:cNvPr>
          <p:cNvSpPr>
            <a:spLocks noGrp="1"/>
          </p:cNvSpPr>
          <p:nvPr/>
        </p:nvSpPr>
        <p:spPr>
          <a:xfrm>
            <a:off x="514350" y="41910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Model output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C964D3E-A4EF-472F-87F4-88DFE6A3E804}"/>
              </a:ext>
            </a:extLst>
          </p:cNvPr>
          <p:cNvSpPr>
            <a:spLocks noGrp="1"/>
          </p:cNvSpPr>
          <p:nvPr/>
        </p:nvSpPr>
        <p:spPr>
          <a:xfrm>
            <a:off x="514350" y="4495800"/>
            <a:ext cx="20955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 lnSpcReduction="10000"/>
          </a:bodyPr>
          <a:lstStyle/>
          <a:p>
            <a:pPr algn="l">
              <a:defRPr sz="22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risk score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C528BCB-8D1C-4EE9-AE82-8F726AF69B9B}"/>
              </a:ext>
            </a:extLst>
          </p:cNvPr>
          <p:cNvSpPr>
            <a:spLocks noGrp="1"/>
          </p:cNvSpPr>
          <p:nvPr/>
        </p:nvSpPr>
        <p:spPr>
          <a:xfrm>
            <a:off x="2857500" y="4191000"/>
            <a:ext cx="2381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rPr>
              <a:t>Stakeholder decision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2949E2B-2AE6-4402-AE0E-664417969A7C}"/>
              </a:ext>
            </a:extLst>
          </p:cNvPr>
          <p:cNvSpPr>
            <a:spLocks noGrp="1"/>
          </p:cNvSpPr>
          <p:nvPr/>
        </p:nvSpPr>
        <p:spPr>
          <a:xfrm>
            <a:off x="2857500" y="4495800"/>
            <a:ext cx="238125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7222" lnSpcReduction="10000"/>
          </a:bodyPr>
          <a:lstStyle/>
          <a:p>
            <a:pPr algn="l">
              <a:defRPr sz="22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inspection cut-off</a:t>
            </a:r>
          </a:p>
        </p:txBody>
      </p:sp>
    </p:spTree>
    <p:extLst>
      <p:ext uri="{BB962C8B-B14F-4D97-AF65-F5344CB8AC3E}">
        <p14:creationId xmlns:p14="http://schemas.microsoft.com/office/powerpoint/2010/main" val="35004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E2877A12-22B8-400B-911D-FB50C671AC3D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EVALUATION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445B6E8-5E12-4B70-9522-612954BF5B26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1096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What does value mean?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9C82FBF-0604-40AD-B272-8B17108CD48D}"/>
              </a:ext>
            </a:extLst>
          </p:cNvPr>
          <p:cNvSpPr>
            <a:spLocks noGrp="1"/>
          </p:cNvSpPr>
          <p:nvPr/>
        </p:nvSpPr>
        <p:spPr>
          <a:xfrm>
            <a:off x="514350" y="1181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0F3949-FBBB-4BB9-994E-7B95D3B58D4A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04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 dirty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Rare-class ranking quality first</a:t>
            </a:r>
            <a:r>
              <a:rPr lang="de-DE" sz="1275" b="0" i="0" dirty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, </a:t>
            </a:r>
            <a:r>
              <a:rPr sz="1275" b="0" i="0" dirty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operating-point metrics second.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58C36AC-1472-4E94-86D0-D16C6FCAA55D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E58A79-87B6-4524-8A6E-1F7C56744282}"/>
              </a:ext>
            </a:extLst>
          </p:cNvPr>
          <p:cNvSpPr>
            <a:spLocks noGrp="1"/>
          </p:cNvSpPr>
          <p:nvPr/>
        </p:nvSpPr>
        <p:spPr>
          <a:xfrm>
            <a:off x="514350" y="6591300"/>
            <a:ext cx="3714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ROY + SEAN · FRAUD DETECTION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0D9E051-A66C-4B2F-954F-EF5DF92BAF54}"/>
              </a:ext>
            </a:extLst>
          </p:cNvPr>
          <p:cNvSpPr>
            <a:spLocks noGrp="1"/>
          </p:cNvSpPr>
          <p:nvPr/>
        </p:nvSpPr>
        <p:spPr>
          <a:xfrm>
            <a:off x="1112520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D7784A-FF66-4D1C-A5BD-3E82B9BA36D5}"/>
              </a:ext>
            </a:extLst>
          </p:cNvPr>
          <p:cNvSpPr>
            <a:spLocks noGrp="1"/>
          </p:cNvSpPr>
          <p:nvPr/>
        </p:nvSpPr>
        <p:spPr>
          <a:xfrm>
            <a:off x="514350" y="1924050"/>
            <a:ext cx="2286000" cy="10096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42B8C59-4118-4943-BAC1-13026D294BED}"/>
              </a:ext>
            </a:extLst>
          </p:cNvPr>
          <p:cNvSpPr>
            <a:spLocks noGrp="1"/>
          </p:cNvSpPr>
          <p:nvPr/>
        </p:nvSpPr>
        <p:spPr>
          <a:xfrm>
            <a:off x="685800" y="2057400"/>
            <a:ext cx="1943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LABELLED CLIENTS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E019EE-0572-49AE-A784-2936F602C663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1943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2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135,493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D097E0-AF80-4F74-934A-67341C3B0A1B}"/>
              </a:ext>
            </a:extLst>
          </p:cNvPr>
          <p:cNvSpPr>
            <a:spLocks noGrp="1"/>
          </p:cNvSpPr>
          <p:nvPr/>
        </p:nvSpPr>
        <p:spPr>
          <a:xfrm>
            <a:off x="2981325" y="1924050"/>
            <a:ext cx="2286000" cy="1009650"/>
          </a:xfrm>
          <a:prstGeom prst="rect">
            <a:avLst/>
          </a:prstGeom>
          <a:solidFill>
            <a:srgbClr val="F9DFDF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7CC2F4-3E96-403E-857D-E3C11C65F1A6}"/>
              </a:ext>
            </a:extLst>
          </p:cNvPr>
          <p:cNvSpPr>
            <a:spLocks noGrp="1"/>
          </p:cNvSpPr>
          <p:nvPr/>
        </p:nvSpPr>
        <p:spPr>
          <a:xfrm>
            <a:off x="3152775" y="2057400"/>
            <a:ext cx="1943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FRAUD CLIENTS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5CFEC7-72F0-4F4E-9E21-FB79648E6A02}"/>
              </a:ext>
            </a:extLst>
          </p:cNvPr>
          <p:cNvSpPr>
            <a:spLocks noGrp="1"/>
          </p:cNvSpPr>
          <p:nvPr/>
        </p:nvSpPr>
        <p:spPr>
          <a:xfrm>
            <a:off x="3152775" y="2324100"/>
            <a:ext cx="1943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250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rPr>
              <a:t>7,566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6692E3-6002-4F0F-9760-6558796EDD35}"/>
              </a:ext>
            </a:extLst>
          </p:cNvPr>
          <p:cNvSpPr>
            <a:spLocks noGrp="1"/>
          </p:cNvSpPr>
          <p:nvPr/>
        </p:nvSpPr>
        <p:spPr>
          <a:xfrm>
            <a:off x="5448300" y="1924050"/>
            <a:ext cx="2286000" cy="1009650"/>
          </a:xfrm>
          <a:prstGeom prst="rect">
            <a:avLst/>
          </a:prstGeom>
          <a:solidFill>
            <a:srgbClr val="DDEEFF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09C4E3-202B-48D3-86F0-7E8AB3B3A8BD}"/>
              </a:ext>
            </a:extLst>
          </p:cNvPr>
          <p:cNvSpPr>
            <a:spLocks noGrp="1"/>
          </p:cNvSpPr>
          <p:nvPr/>
        </p:nvSpPr>
        <p:spPr>
          <a:xfrm>
            <a:off x="5619750" y="2057400"/>
            <a:ext cx="1943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FRAUD PREVALENCE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A1E5959-7776-4C8F-9040-FA9DDC81EC17}"/>
              </a:ext>
            </a:extLst>
          </p:cNvPr>
          <p:cNvSpPr>
            <a:spLocks noGrp="1"/>
          </p:cNvSpPr>
          <p:nvPr/>
        </p:nvSpPr>
        <p:spPr>
          <a:xfrm>
            <a:off x="5619750" y="2324100"/>
            <a:ext cx="19431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2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5.58%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3E710A9-E1E1-45DD-8552-674A26C98DB7}"/>
              </a:ext>
            </a:extLst>
          </p:cNvPr>
          <p:cNvSpPr>
            <a:spLocks noGrp="1"/>
          </p:cNvSpPr>
          <p:nvPr/>
        </p:nvSpPr>
        <p:spPr>
          <a:xfrm>
            <a:off x="7915275" y="1924050"/>
            <a:ext cx="3000375" cy="1009650"/>
          </a:xfrm>
          <a:prstGeom prst="rect">
            <a:avLst/>
          </a:prstGeom>
          <a:solidFill>
            <a:srgbClr val="F8E8C8"/>
          </a:solidFill>
          <a:ln w="0">
            <a:noFill/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19F310-DBC3-4BB7-9119-C428447901A4}"/>
              </a:ext>
            </a:extLst>
          </p:cNvPr>
          <p:cNvSpPr>
            <a:spLocks noGrp="1"/>
          </p:cNvSpPr>
          <p:nvPr/>
        </p:nvSpPr>
        <p:spPr>
          <a:xfrm>
            <a:off x="8086725" y="2057400"/>
            <a:ext cx="2657475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ALL-NEGATIVE ACCURACY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67024D-E186-4B28-82D0-45082D175A7C}"/>
              </a:ext>
            </a:extLst>
          </p:cNvPr>
          <p:cNvSpPr>
            <a:spLocks noGrp="1"/>
          </p:cNvSpPr>
          <p:nvPr/>
        </p:nvSpPr>
        <p:spPr>
          <a:xfrm>
            <a:off x="8086725" y="2324100"/>
            <a:ext cx="2657475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250" b="1" i="0">
                <a:solidFill>
                  <a:srgbClr val="B86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B86B00"/>
                </a:solidFill>
                <a:latin typeface="Helvetica Neue"/>
                <a:ea typeface="Helvetica Neue"/>
                <a:cs typeface="Helvetica Neue"/>
              </a:rPr>
              <a:t>94.42%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410044F-E6B1-48EC-B23F-BF887708085C}"/>
              </a:ext>
            </a:extLst>
          </p:cNvPr>
          <p:cNvSpPr>
            <a:spLocks noGrp="1"/>
          </p:cNvSpPr>
          <p:nvPr/>
        </p:nvSpPr>
        <p:spPr>
          <a:xfrm>
            <a:off x="514350" y="3448050"/>
            <a:ext cx="5048250" cy="1257300"/>
          </a:xfrm>
          <a:prstGeom prst="rect">
            <a:avLst/>
          </a:prstGeom>
          <a:solidFill>
            <a:srgbClr val="F0F7FD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B97FA1-3110-4C9A-B015-84F83BBD4A2E}"/>
              </a:ext>
            </a:extLst>
          </p:cNvPr>
          <p:cNvSpPr>
            <a:spLocks noGrp="1"/>
          </p:cNvSpPr>
          <p:nvPr/>
        </p:nvSpPr>
        <p:spPr>
          <a:xfrm>
            <a:off x="514350" y="3448050"/>
            <a:ext cx="66675" cy="1257300"/>
          </a:xfrm>
          <a:prstGeom prst="rect">
            <a:avLst/>
          </a:prstGeom>
          <a:solidFill>
            <a:srgbClr val="1877D2"/>
          </a:solidFill>
          <a:ln w="0">
            <a:solidFill>
              <a:srgbClr val="1877D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538ED6-5768-46F1-BFB3-596B3E0683B0}"/>
              </a:ext>
            </a:extLst>
          </p:cNvPr>
          <p:cNvSpPr>
            <a:spLocks noGrp="1"/>
          </p:cNvSpPr>
          <p:nvPr/>
        </p:nvSpPr>
        <p:spPr>
          <a:xfrm>
            <a:off x="704850" y="3590925"/>
            <a:ext cx="470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PRIMARY · PR-AUC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6E4EA2-B80C-4B7F-BF8F-F7CE81CD7886}"/>
              </a:ext>
            </a:extLst>
          </p:cNvPr>
          <p:cNvSpPr>
            <a:spLocks noGrp="1"/>
          </p:cNvSpPr>
          <p:nvPr/>
        </p:nvSpPr>
        <p:spPr>
          <a:xfrm>
            <a:off x="704850" y="3895725"/>
            <a:ext cx="4705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Measures whether rare fraud cases are concentrated near the top across the ranking.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3BDE9C0-1AAF-40ED-BA24-2F61DBD90654}"/>
              </a:ext>
            </a:extLst>
          </p:cNvPr>
          <p:cNvSpPr>
            <a:spLocks noGrp="1"/>
          </p:cNvSpPr>
          <p:nvPr/>
        </p:nvSpPr>
        <p:spPr>
          <a:xfrm>
            <a:off x="5867400" y="3448050"/>
            <a:ext cx="5048250" cy="1257300"/>
          </a:xfrm>
          <a:prstGeom prst="rect">
            <a:avLst/>
          </a:prstGeom>
          <a:solidFill>
            <a:srgbClr val="DDF3EB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094D058-2B42-47DF-9B13-83F01782D38A}"/>
              </a:ext>
            </a:extLst>
          </p:cNvPr>
          <p:cNvSpPr>
            <a:spLocks noGrp="1"/>
          </p:cNvSpPr>
          <p:nvPr/>
        </p:nvSpPr>
        <p:spPr>
          <a:xfrm>
            <a:off x="5867400" y="3448050"/>
            <a:ext cx="66675" cy="1257300"/>
          </a:xfrm>
          <a:prstGeom prst="rect">
            <a:avLst/>
          </a:prstGeom>
          <a:solidFill>
            <a:srgbClr val="178A63"/>
          </a:solidFill>
          <a:ln w="0">
            <a:solidFill>
              <a:srgbClr val="178A63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DE0398-C6B9-4DFE-8271-6F4FA0EE524D}"/>
              </a:ext>
            </a:extLst>
          </p:cNvPr>
          <p:cNvSpPr>
            <a:spLocks noGrp="1"/>
          </p:cNvSpPr>
          <p:nvPr/>
        </p:nvSpPr>
        <p:spPr>
          <a:xfrm>
            <a:off x="6057900" y="3590925"/>
            <a:ext cx="470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rPr>
              <a:t>OPERATING POINT · PRECISION@10% / RECALL@10%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0120D3-C234-47FC-BBCB-67B11EA8B4DF}"/>
              </a:ext>
            </a:extLst>
          </p:cNvPr>
          <p:cNvSpPr>
            <a:spLocks noGrp="1"/>
          </p:cNvSpPr>
          <p:nvPr/>
        </p:nvSpPr>
        <p:spPr>
          <a:xfrm>
            <a:off x="6057900" y="3895725"/>
            <a:ext cx="47053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Translates the ranking into hit rate and fraud coverage at a fixed inspection capacity.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2382C6E-2A46-4146-91C0-F0397F8671B1}"/>
              </a:ext>
            </a:extLst>
          </p:cNvPr>
          <p:cNvSpPr>
            <a:spLocks noGrp="1"/>
          </p:cNvSpPr>
          <p:nvPr/>
        </p:nvSpPr>
        <p:spPr>
          <a:xfrm>
            <a:off x="514350" y="5219700"/>
            <a:ext cx="1000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364"/>
          </a:bodyPr>
          <a:lstStyle/>
          <a:p>
            <a:pPr algn="l">
              <a:defRPr sz="157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ROC-AUC remains a secondary ranking diagnostic. Accuracy is not a model-selection metric for this task.</a:t>
            </a:r>
          </a:p>
        </p:txBody>
      </p:sp>
    </p:spTree>
    <p:extLst>
      <p:ext uri="{BB962C8B-B14F-4D97-AF65-F5344CB8AC3E}">
        <p14:creationId xmlns:p14="http://schemas.microsoft.com/office/powerpoint/2010/main" val="724675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843D1BD6-475F-46E9-AD4A-363A077F270F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EVALUATION DESIGN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24D623-E692-4C93-B214-9F908319D71B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1096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Our data-science question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4A1280-A084-4DB8-A7BC-E74F36CCBF5E}"/>
              </a:ext>
            </a:extLst>
          </p:cNvPr>
          <p:cNvSpPr>
            <a:spLocks noGrp="1"/>
          </p:cNvSpPr>
          <p:nvPr/>
        </p:nvSpPr>
        <p:spPr>
          <a:xfrm>
            <a:off x="514350" y="1181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F466C6-EAE3-4A11-90C0-DC77FB509167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04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Can client and invoice history produce a useful ranking — and where does it fail?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39F1DD-20DA-475D-B616-4123A43D5925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388B9C-E370-4308-866E-544C5D8E089B}"/>
              </a:ext>
            </a:extLst>
          </p:cNvPr>
          <p:cNvSpPr>
            <a:spLocks noGrp="1"/>
          </p:cNvSpPr>
          <p:nvPr/>
        </p:nvSpPr>
        <p:spPr>
          <a:xfrm>
            <a:off x="514350" y="6591300"/>
            <a:ext cx="3714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ROY + SEAN · FRAUD DETECTION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EF1CD5-AC81-4537-AF09-2F6AE3280746}"/>
              </a:ext>
            </a:extLst>
          </p:cNvPr>
          <p:cNvSpPr>
            <a:spLocks noGrp="1"/>
          </p:cNvSpPr>
          <p:nvPr/>
        </p:nvSpPr>
        <p:spPr>
          <a:xfrm>
            <a:off x="1112520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53282B-5451-4C2F-8069-E82E1C83908F}"/>
              </a:ext>
            </a:extLst>
          </p:cNvPr>
          <p:cNvSpPr>
            <a:spLocks noGrp="1"/>
          </p:cNvSpPr>
          <p:nvPr/>
        </p:nvSpPr>
        <p:spPr>
          <a:xfrm>
            <a:off x="514350" y="20955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5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E29FF8-31D1-47DA-94AD-AD8A5772740C}"/>
              </a:ext>
            </a:extLst>
          </p:cNvPr>
          <p:cNvSpPr>
            <a:spLocks noGrp="1"/>
          </p:cNvSpPr>
          <p:nvPr/>
        </p:nvSpPr>
        <p:spPr>
          <a:xfrm>
            <a:off x="1066800" y="2333625"/>
            <a:ext cx="2000250" cy="19050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E158D1C-7B47-4843-8AB8-02066A459D7D}"/>
              </a:ext>
            </a:extLst>
          </p:cNvPr>
          <p:cNvSpPr>
            <a:spLocks noGrp="1"/>
          </p:cNvSpPr>
          <p:nvPr/>
        </p:nvSpPr>
        <p:spPr>
          <a:xfrm>
            <a:off x="514350" y="27813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Feature table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837E1B-8F39-4DC6-A6A1-7FB7E8E0876C}"/>
              </a:ext>
            </a:extLst>
          </p:cNvPr>
          <p:cNvSpPr>
            <a:spLocks noGrp="1"/>
          </p:cNvSpPr>
          <p:nvPr/>
        </p:nvSpPr>
        <p:spPr>
          <a:xfrm>
            <a:off x="514350" y="3171825"/>
            <a:ext cx="2333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Aggregate invoices to one row per client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7CC023-1751-48E6-836D-E2480C4967A6}"/>
              </a:ext>
            </a:extLst>
          </p:cNvPr>
          <p:cNvSpPr>
            <a:spLocks noGrp="1"/>
          </p:cNvSpPr>
          <p:nvPr/>
        </p:nvSpPr>
        <p:spPr>
          <a:xfrm>
            <a:off x="3276600" y="20955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5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6B61CF-01F2-4EE0-811F-4EF40E37C12C}"/>
              </a:ext>
            </a:extLst>
          </p:cNvPr>
          <p:cNvSpPr>
            <a:spLocks noGrp="1"/>
          </p:cNvSpPr>
          <p:nvPr/>
        </p:nvSpPr>
        <p:spPr>
          <a:xfrm>
            <a:off x="3829050" y="2333625"/>
            <a:ext cx="2000250" cy="19050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F4F1AD-4612-45EE-BECE-8E439DA0A4CF}"/>
              </a:ext>
            </a:extLst>
          </p:cNvPr>
          <p:cNvSpPr>
            <a:spLocks noGrp="1"/>
          </p:cNvSpPr>
          <p:nvPr/>
        </p:nvSpPr>
        <p:spPr>
          <a:xfrm>
            <a:off x="3276600" y="27813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Out-of-fold comparison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F94C8D-1A02-446E-A973-68DA27365AB1}"/>
              </a:ext>
            </a:extLst>
          </p:cNvPr>
          <p:cNvSpPr>
            <a:spLocks noGrp="1"/>
          </p:cNvSpPr>
          <p:nvPr/>
        </p:nvSpPr>
        <p:spPr>
          <a:xfrm>
            <a:off x="3276600" y="3171825"/>
            <a:ext cx="2333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Five-fold stratified predictions for model selection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9D2DD9-F968-4105-B6F1-F07E3F867B3A}"/>
              </a:ext>
            </a:extLst>
          </p:cNvPr>
          <p:cNvSpPr>
            <a:spLocks noGrp="1"/>
          </p:cNvSpPr>
          <p:nvPr/>
        </p:nvSpPr>
        <p:spPr>
          <a:xfrm>
            <a:off x="6038850" y="20955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5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95F29F-125B-41C6-B720-840F75D91204}"/>
              </a:ext>
            </a:extLst>
          </p:cNvPr>
          <p:cNvSpPr>
            <a:spLocks noGrp="1"/>
          </p:cNvSpPr>
          <p:nvPr/>
        </p:nvSpPr>
        <p:spPr>
          <a:xfrm>
            <a:off x="6591300" y="2333625"/>
            <a:ext cx="2000250" cy="19050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D767B2-B439-429B-8498-60704FBC7CB9}"/>
              </a:ext>
            </a:extLst>
          </p:cNvPr>
          <p:cNvSpPr>
            <a:spLocks noGrp="1"/>
          </p:cNvSpPr>
          <p:nvPr/>
        </p:nvSpPr>
        <p:spPr>
          <a:xfrm>
            <a:off x="6038850" y="27813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Tune on development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F9FC05-47A1-40D1-B73E-4B3E1C0EEC2F}"/>
              </a:ext>
            </a:extLst>
          </p:cNvPr>
          <p:cNvSpPr>
            <a:spLocks noGrp="1"/>
          </p:cNvSpPr>
          <p:nvPr/>
        </p:nvSpPr>
        <p:spPr>
          <a:xfrm>
            <a:off x="6038850" y="3171825"/>
            <a:ext cx="2333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Search only after selecting the model family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7762030-0291-4253-917A-750C2CFC8BF3}"/>
              </a:ext>
            </a:extLst>
          </p:cNvPr>
          <p:cNvSpPr>
            <a:spLocks noGrp="1"/>
          </p:cNvSpPr>
          <p:nvPr/>
        </p:nvSpPr>
        <p:spPr>
          <a:xfrm>
            <a:off x="8801100" y="2095500"/>
            <a:ext cx="4572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5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DECD9A-EAEE-4AE1-A2FC-CC9878373503}"/>
              </a:ext>
            </a:extLst>
          </p:cNvPr>
          <p:cNvSpPr>
            <a:spLocks noGrp="1"/>
          </p:cNvSpPr>
          <p:nvPr/>
        </p:nvSpPr>
        <p:spPr>
          <a:xfrm>
            <a:off x="9353550" y="2333625"/>
            <a:ext cx="2000250" cy="190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5B93110-02C8-46E1-B68D-FC62384A637E}"/>
              </a:ext>
            </a:extLst>
          </p:cNvPr>
          <p:cNvSpPr>
            <a:spLocks noGrp="1"/>
          </p:cNvSpPr>
          <p:nvPr/>
        </p:nvSpPr>
        <p:spPr>
          <a:xfrm>
            <a:off x="8801100" y="278130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One final holdout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F7A0D2-B01F-4CB1-993A-6F7C3102EFEE}"/>
              </a:ext>
            </a:extLst>
          </p:cNvPr>
          <p:cNvSpPr>
            <a:spLocks noGrp="1"/>
          </p:cNvSpPr>
          <p:nvPr/>
        </p:nvSpPr>
        <p:spPr>
          <a:xfrm>
            <a:off x="8801100" y="3171825"/>
            <a:ext cx="2333625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Freeze the pipeline, then score once</a:t>
            </a:r>
          </a:p>
        </p:txBody>
      </p:sp>
    </p:spTree>
    <p:extLst>
      <p:ext uri="{BB962C8B-B14F-4D97-AF65-F5344CB8AC3E}">
        <p14:creationId xmlns:p14="http://schemas.microsoft.com/office/powerpoint/2010/main" val="19377737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649EA311-8A46-4535-AE8D-7B42AF3537AC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C7466C8-D997-4A51-9AA0-4DEEF8ABC679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1096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The conclusion first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B86AFC-3452-4EDD-8B41-3DEE9D5C7527}"/>
              </a:ext>
            </a:extLst>
          </p:cNvPr>
          <p:cNvSpPr>
            <a:spLocks noGrp="1"/>
          </p:cNvSpPr>
          <p:nvPr/>
        </p:nvSpPr>
        <p:spPr>
          <a:xfrm>
            <a:off x="514350" y="1181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B53F2C-5442-4B21-8C3B-E5A67408D17D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04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Use tuned LightGBM to prioritise investigations — with explicit limits.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A30AEC-109F-4610-A5D0-63095D3E07BB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D191D3-9434-40A9-B2EF-8CAD92FA00DD}"/>
              </a:ext>
            </a:extLst>
          </p:cNvPr>
          <p:cNvSpPr>
            <a:spLocks noGrp="1"/>
          </p:cNvSpPr>
          <p:nvPr/>
        </p:nvSpPr>
        <p:spPr>
          <a:xfrm>
            <a:off x="514350" y="6591300"/>
            <a:ext cx="3714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ROY + SEAN · FRAUD DETECTION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548450-2F45-4666-A994-345E89F5017D}"/>
              </a:ext>
            </a:extLst>
          </p:cNvPr>
          <p:cNvSpPr>
            <a:spLocks noGrp="1"/>
          </p:cNvSpPr>
          <p:nvPr/>
        </p:nvSpPr>
        <p:spPr>
          <a:xfrm>
            <a:off x="1112520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4FC39B-5487-494C-B963-0656E1D37A95}"/>
              </a:ext>
            </a:extLst>
          </p:cNvPr>
          <p:cNvSpPr>
            <a:spLocks noGrp="1"/>
          </p:cNvSpPr>
          <p:nvPr/>
        </p:nvSpPr>
        <p:spPr>
          <a:xfrm>
            <a:off x="514350" y="1933575"/>
            <a:ext cx="3333750" cy="1123950"/>
          </a:xfrm>
          <a:prstGeom prst="rect">
            <a:avLst/>
          </a:prstGeom>
          <a:solidFill>
            <a:srgbClr val="DDEEF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E5BDBF-AFE4-4554-BB91-58159EAA817A}"/>
              </a:ext>
            </a:extLst>
          </p:cNvPr>
          <p:cNvSpPr>
            <a:spLocks noGrp="1"/>
          </p:cNvSpPr>
          <p:nvPr/>
        </p:nvSpPr>
        <p:spPr>
          <a:xfrm>
            <a:off x="685800" y="2066925"/>
            <a:ext cx="2990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FINAL HOLDOUT PR-AUC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561382-490C-4A0F-8E8A-F4FF9D6F2BC6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2990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2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0.2647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DC20B3-E94A-4ADB-9B14-3C2468C44B06}"/>
              </a:ext>
            </a:extLst>
          </p:cNvPr>
          <p:cNvSpPr>
            <a:spLocks noGrp="1"/>
          </p:cNvSpPr>
          <p:nvPr/>
        </p:nvSpPr>
        <p:spPr>
          <a:xfrm>
            <a:off x="4048125" y="1933575"/>
            <a:ext cx="3333750" cy="1123950"/>
          </a:xfrm>
          <a:prstGeom prst="rect">
            <a:avLst/>
          </a:prstGeom>
          <a:solidFill>
            <a:srgbClr val="DDF3EB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DF4A6F6-5469-406D-AD9B-DBA1EFAF6191}"/>
              </a:ext>
            </a:extLst>
          </p:cNvPr>
          <p:cNvSpPr>
            <a:spLocks noGrp="1"/>
          </p:cNvSpPr>
          <p:nvPr/>
        </p:nvSpPr>
        <p:spPr>
          <a:xfrm>
            <a:off x="4219575" y="2066925"/>
            <a:ext cx="2990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FINAL HOLDOUT ROC-AUC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87F21F-2EC7-4DDE-9950-C963F603B0CD}"/>
              </a:ext>
            </a:extLst>
          </p:cNvPr>
          <p:cNvSpPr>
            <a:spLocks noGrp="1"/>
          </p:cNvSpPr>
          <p:nvPr/>
        </p:nvSpPr>
        <p:spPr>
          <a:xfrm>
            <a:off x="4219575" y="2333625"/>
            <a:ext cx="2990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250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rPr>
              <a:t>0.8354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99EE555-D6C5-47FB-B240-762F8F80223A}"/>
              </a:ext>
            </a:extLst>
          </p:cNvPr>
          <p:cNvSpPr>
            <a:spLocks noGrp="1"/>
          </p:cNvSpPr>
          <p:nvPr/>
        </p:nvSpPr>
        <p:spPr>
          <a:xfrm>
            <a:off x="7581900" y="1933575"/>
            <a:ext cx="3333750" cy="1123950"/>
          </a:xfrm>
          <a:prstGeom prst="rect">
            <a:avLst/>
          </a:prstGeom>
          <a:solidFill>
            <a:srgbClr val="F9DFDF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B5ADBF4-C7D9-4CD4-8BB3-3B0A3153592A}"/>
              </a:ext>
            </a:extLst>
          </p:cNvPr>
          <p:cNvSpPr>
            <a:spLocks noGrp="1"/>
          </p:cNvSpPr>
          <p:nvPr/>
        </p:nvSpPr>
        <p:spPr>
          <a:xfrm>
            <a:off x="7753350" y="2066925"/>
            <a:ext cx="2990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SHORTEST-HISTORY RECALL@10%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51ED37A-5420-441C-8F00-15A7943A82A6}"/>
              </a:ext>
            </a:extLst>
          </p:cNvPr>
          <p:cNvSpPr>
            <a:spLocks noGrp="1"/>
          </p:cNvSpPr>
          <p:nvPr/>
        </p:nvSpPr>
        <p:spPr>
          <a:xfrm>
            <a:off x="7753350" y="2333625"/>
            <a:ext cx="29908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250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rPr>
              <a:t>5.6%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5F288A1-6317-4CAC-98EA-0A1DCF411F78}"/>
              </a:ext>
            </a:extLst>
          </p:cNvPr>
          <p:cNvSpPr>
            <a:spLocks noGrp="1"/>
          </p:cNvSpPr>
          <p:nvPr/>
        </p:nvSpPr>
        <p:spPr>
          <a:xfrm>
            <a:off x="552450" y="3743325"/>
            <a:ext cx="66675" cy="66675"/>
          </a:xfrm>
          <a:prstGeom prst="ellipse">
            <a:avLst/>
          </a:prstGeom>
          <a:solidFill>
            <a:srgbClr val="1877D2"/>
          </a:solidFill>
          <a:ln w="0">
            <a:solidFill>
              <a:srgbClr val="1877D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8F087A4-405F-4FDF-B0B6-E32B6D87D177}"/>
              </a:ext>
            </a:extLst>
          </p:cNvPr>
          <p:cNvSpPr>
            <a:spLocks noGrp="1"/>
          </p:cNvSpPr>
          <p:nvPr/>
        </p:nvSpPr>
        <p:spPr>
          <a:xfrm>
            <a:off x="733425" y="3667125"/>
            <a:ext cx="98202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LightGBM materially improves the linear baseline on the same 15-input contract.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F3BEA1-FF18-4383-81D2-A0CA528682E6}"/>
              </a:ext>
            </a:extLst>
          </p:cNvPr>
          <p:cNvSpPr>
            <a:spLocks noGrp="1"/>
          </p:cNvSpPr>
          <p:nvPr/>
        </p:nvSpPr>
        <p:spPr>
          <a:xfrm>
            <a:off x="552450" y="4171950"/>
            <a:ext cx="66675" cy="66675"/>
          </a:xfrm>
          <a:prstGeom prst="ellipse">
            <a:avLst/>
          </a:prstGeom>
          <a:solidFill>
            <a:srgbClr val="1877D2"/>
          </a:solidFill>
          <a:ln w="0">
            <a:solidFill>
              <a:srgbClr val="1877D2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A8E448-2F99-431D-B3C7-EA4D5070703A}"/>
              </a:ext>
            </a:extLst>
          </p:cNvPr>
          <p:cNvSpPr>
            <a:spLocks noGrp="1"/>
          </p:cNvSpPr>
          <p:nvPr/>
        </p:nvSpPr>
        <p:spPr>
          <a:xfrm>
            <a:off x="733425" y="4095750"/>
            <a:ext cx="98202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Native categorical handling edges out one-hot encoding in the tuning comparison.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82279D3-C1CD-48A3-BFD8-09005F5560DE}"/>
              </a:ext>
            </a:extLst>
          </p:cNvPr>
          <p:cNvSpPr>
            <a:spLocks noGrp="1"/>
          </p:cNvSpPr>
          <p:nvPr/>
        </p:nvSpPr>
        <p:spPr>
          <a:xfrm>
            <a:off x="552450" y="4600575"/>
            <a:ext cx="66675" cy="66675"/>
          </a:xfrm>
          <a:prstGeom prst="ellipse">
            <a:avLst/>
          </a:prstGeom>
          <a:solidFill>
            <a:srgbClr val="1877D2"/>
          </a:solidFill>
          <a:ln w="0">
            <a:solidFill>
              <a:srgbClr val="1877D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E91FC2E-BF59-4C76-9FC3-02EEF852590E}"/>
              </a:ext>
            </a:extLst>
          </p:cNvPr>
          <p:cNvSpPr>
            <a:spLocks noGrp="1"/>
          </p:cNvSpPr>
          <p:nvPr/>
        </p:nvSpPr>
        <p:spPr>
          <a:xfrm>
            <a:off x="733425" y="4524375"/>
            <a:ext cx="98202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A LightGBM + Random Forest ensemble is slightly worse and is rejected.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E764FB3-6AB8-46A4-93A2-DC23614FCEBD}"/>
              </a:ext>
            </a:extLst>
          </p:cNvPr>
          <p:cNvSpPr>
            <a:spLocks noGrp="1"/>
          </p:cNvSpPr>
          <p:nvPr/>
        </p:nvSpPr>
        <p:spPr>
          <a:xfrm>
            <a:off x="552450" y="5029200"/>
            <a:ext cx="66675" cy="66675"/>
          </a:xfrm>
          <a:prstGeom prst="ellipse">
            <a:avLst/>
          </a:prstGeom>
          <a:solidFill>
            <a:srgbClr val="1877D2"/>
          </a:solidFill>
          <a:ln w="0">
            <a:solidFill>
              <a:srgbClr val="1877D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A66073D-CF31-4FDC-8E55-DC2218B5A7EE}"/>
              </a:ext>
            </a:extLst>
          </p:cNvPr>
          <p:cNvSpPr>
            <a:spLocks noGrp="1"/>
          </p:cNvSpPr>
          <p:nvPr/>
        </p:nvSpPr>
        <p:spPr>
          <a:xfrm>
            <a:off x="733425" y="4953000"/>
            <a:ext cx="9820275" cy="4857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All three top models miss many of the same fraud clients, suggesting that the current features lack useful information for those cases.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0122B8E-CAEB-473D-BE1C-D846FBD6E1AF}"/>
              </a:ext>
            </a:extLst>
          </p:cNvPr>
          <p:cNvSpPr>
            <a:spLocks noGrp="1"/>
          </p:cNvSpPr>
          <p:nvPr/>
        </p:nvSpPr>
        <p:spPr>
          <a:xfrm>
            <a:off x="514350" y="5715000"/>
            <a:ext cx="10191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Decision boundary: ranking support + human review + segment monitoring</a:t>
            </a:r>
          </a:p>
        </p:txBody>
      </p:sp>
    </p:spTree>
    <p:extLst>
      <p:ext uri="{BB962C8B-B14F-4D97-AF65-F5344CB8AC3E}">
        <p14:creationId xmlns:p14="http://schemas.microsoft.com/office/powerpoint/2010/main" val="2520457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:a16="http://schemas.microsoft.com/office/drawing/2014/main" id="{03EFE0A4-126B-4408-BE3C-CDEC92993663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EDA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9C775C3-1482-4E90-BC8A-923D3AE9FE82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1096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EDA: from invoices to one prediction row per client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BD2D3A-1D49-42A0-BC36-266F2CCC3470}"/>
              </a:ext>
            </a:extLst>
          </p:cNvPr>
          <p:cNvSpPr>
            <a:spLocks noGrp="1"/>
          </p:cNvSpPr>
          <p:nvPr/>
        </p:nvSpPr>
        <p:spPr>
          <a:xfrm>
            <a:off x="514350" y="1181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7E0046D-55D8-46CF-9332-04EE1E18A160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04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The modelling grain follows the target grain.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A56B5C-7896-4EBF-8DC6-1F181F5C61C0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2EC160-E01F-4693-B740-5ABAA097AFF3}"/>
              </a:ext>
            </a:extLst>
          </p:cNvPr>
          <p:cNvSpPr>
            <a:spLocks noGrp="1"/>
          </p:cNvSpPr>
          <p:nvPr/>
        </p:nvSpPr>
        <p:spPr>
          <a:xfrm>
            <a:off x="514350" y="6591300"/>
            <a:ext cx="3714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ROY + SEAN · FRAUD DETECTION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757E936-8EC7-4ED6-A0EE-1A13F2B52BBF}"/>
              </a:ext>
            </a:extLst>
          </p:cNvPr>
          <p:cNvSpPr>
            <a:spLocks noGrp="1"/>
          </p:cNvSpPr>
          <p:nvPr/>
        </p:nvSpPr>
        <p:spPr>
          <a:xfrm>
            <a:off x="1112520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6D99B5-0B2C-4124-967F-D59C610F183D}"/>
              </a:ext>
            </a:extLst>
          </p:cNvPr>
          <p:cNvSpPr>
            <a:spLocks noGrp="1"/>
          </p:cNvSpPr>
          <p:nvPr/>
        </p:nvSpPr>
        <p:spPr>
          <a:xfrm>
            <a:off x="514350" y="2095500"/>
            <a:ext cx="3143250" cy="1581150"/>
          </a:xfrm>
          <a:prstGeom prst="rect">
            <a:avLst/>
          </a:prstGeom>
          <a:solidFill>
            <a:srgbClr val="DDEEF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2DA8913-73C3-457D-A5B2-4D481A74083C}"/>
              </a:ext>
            </a:extLst>
          </p:cNvPr>
          <p:cNvSpPr>
            <a:spLocks noGrp="1"/>
          </p:cNvSpPr>
          <p:nvPr/>
        </p:nvSpPr>
        <p:spPr>
          <a:xfrm>
            <a:off x="704850" y="2286000"/>
            <a:ext cx="2762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CLIENT_TRAIN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48CAE5-DE81-491C-899C-7CBACF9E440B}"/>
              </a:ext>
            </a:extLst>
          </p:cNvPr>
          <p:cNvSpPr>
            <a:spLocks noGrp="1"/>
          </p:cNvSpPr>
          <p:nvPr/>
        </p:nvSpPr>
        <p:spPr>
          <a:xfrm>
            <a:off x="704850" y="2657475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5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135,493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6FF461-797F-4ED8-8BF4-5B2801747946}"/>
              </a:ext>
            </a:extLst>
          </p:cNvPr>
          <p:cNvSpPr>
            <a:spLocks noGrp="1"/>
          </p:cNvSpPr>
          <p:nvPr/>
        </p:nvSpPr>
        <p:spPr>
          <a:xfrm>
            <a:off x="704850" y="3209925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one target per client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A970E37-1CD2-4513-9063-14BA7A0EF7E0}"/>
              </a:ext>
            </a:extLst>
          </p:cNvPr>
          <p:cNvSpPr>
            <a:spLocks noGrp="1"/>
          </p:cNvSpPr>
          <p:nvPr/>
        </p:nvSpPr>
        <p:spPr>
          <a:xfrm>
            <a:off x="3686175" y="2619375"/>
            <a:ext cx="400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250" b="1" i="0">
                <a:solidFill>
                  <a:srgbClr val="C9C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C9CDD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4A3AC2E-B6EB-4825-A87A-2130CF0EBAAF}"/>
              </a:ext>
            </a:extLst>
          </p:cNvPr>
          <p:cNvSpPr>
            <a:spLocks noGrp="1"/>
          </p:cNvSpPr>
          <p:nvPr/>
        </p:nvSpPr>
        <p:spPr>
          <a:xfrm>
            <a:off x="4133850" y="2095500"/>
            <a:ext cx="3143250" cy="1581150"/>
          </a:xfrm>
          <a:prstGeom prst="rect">
            <a:avLst/>
          </a:prstGeom>
          <a:solidFill>
            <a:srgbClr val="DDF3EB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3B63D6-BB3D-422F-B60B-17F1BC8AD601}"/>
              </a:ext>
            </a:extLst>
          </p:cNvPr>
          <p:cNvSpPr>
            <a:spLocks noGrp="1"/>
          </p:cNvSpPr>
          <p:nvPr/>
        </p:nvSpPr>
        <p:spPr>
          <a:xfrm>
            <a:off x="4324350" y="2286000"/>
            <a:ext cx="2762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rPr>
              <a:t>INVOICE_TRAIN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368017-EA98-4CF0-A168-639025A5FA89}"/>
              </a:ext>
            </a:extLst>
          </p:cNvPr>
          <p:cNvSpPr>
            <a:spLocks noGrp="1"/>
          </p:cNvSpPr>
          <p:nvPr/>
        </p:nvSpPr>
        <p:spPr>
          <a:xfrm>
            <a:off x="4324350" y="2657475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5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4,476,749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3BB6BD-78D0-4244-BC4E-975606B8DB88}"/>
              </a:ext>
            </a:extLst>
          </p:cNvPr>
          <p:cNvSpPr>
            <a:spLocks noGrp="1"/>
          </p:cNvSpPr>
          <p:nvPr/>
        </p:nvSpPr>
        <p:spPr>
          <a:xfrm>
            <a:off x="4324350" y="3209925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repeated meter and billing rows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A2E6B9-9509-4315-83BF-411E8AE0C1CD}"/>
              </a:ext>
            </a:extLst>
          </p:cNvPr>
          <p:cNvSpPr>
            <a:spLocks noGrp="1"/>
          </p:cNvSpPr>
          <p:nvPr/>
        </p:nvSpPr>
        <p:spPr>
          <a:xfrm>
            <a:off x="7305675" y="2619375"/>
            <a:ext cx="400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2250" b="1" i="0">
                <a:solidFill>
                  <a:srgbClr val="C9C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C9CDD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0CBDC4-AEFC-4ECC-9D9E-A1F1714117E6}"/>
              </a:ext>
            </a:extLst>
          </p:cNvPr>
          <p:cNvSpPr>
            <a:spLocks noGrp="1"/>
          </p:cNvSpPr>
          <p:nvPr/>
        </p:nvSpPr>
        <p:spPr>
          <a:xfrm>
            <a:off x="7753350" y="2095500"/>
            <a:ext cx="3143250" cy="1581150"/>
          </a:xfrm>
          <a:prstGeom prst="rect">
            <a:avLst/>
          </a:prstGeom>
          <a:solidFill>
            <a:srgbClr val="F9DFDF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84A96F-BDE2-495A-BA10-6C4465439BFE}"/>
              </a:ext>
            </a:extLst>
          </p:cNvPr>
          <p:cNvSpPr>
            <a:spLocks noGrp="1"/>
          </p:cNvSpPr>
          <p:nvPr/>
        </p:nvSpPr>
        <p:spPr>
          <a:xfrm>
            <a:off x="7943850" y="2286000"/>
            <a:ext cx="2762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rPr>
              <a:t>DF_TRAINING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7AB268-492B-41BC-A128-ED79FF02FA8A}"/>
              </a:ext>
            </a:extLst>
          </p:cNvPr>
          <p:cNvSpPr>
            <a:spLocks noGrp="1"/>
          </p:cNvSpPr>
          <p:nvPr/>
        </p:nvSpPr>
        <p:spPr>
          <a:xfrm>
            <a:off x="7943850" y="2657475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5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135,493 × 17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291609F-D13D-4272-9EDE-66DF25659D00}"/>
              </a:ext>
            </a:extLst>
          </p:cNvPr>
          <p:cNvSpPr>
            <a:spLocks noGrp="1"/>
          </p:cNvSpPr>
          <p:nvPr/>
        </p:nvSpPr>
        <p:spPr>
          <a:xfrm>
            <a:off x="7943850" y="3209925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 dirty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key + target + 15 inputs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A590D2-8626-41BF-AA21-5545B4109AED}"/>
              </a:ext>
            </a:extLst>
          </p:cNvPr>
          <p:cNvSpPr>
            <a:spLocks noGrp="1"/>
          </p:cNvSpPr>
          <p:nvPr/>
        </p:nvSpPr>
        <p:spPr>
          <a:xfrm>
            <a:off x="514350" y="4238625"/>
            <a:ext cx="5000625" cy="1066800"/>
          </a:xfrm>
          <a:prstGeom prst="rect">
            <a:avLst/>
          </a:prstGeom>
          <a:solidFill>
            <a:srgbClr val="F0F7FD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578698-67B9-435A-B69C-24628B8BE2B6}"/>
              </a:ext>
            </a:extLst>
          </p:cNvPr>
          <p:cNvSpPr>
            <a:spLocks noGrp="1"/>
          </p:cNvSpPr>
          <p:nvPr/>
        </p:nvSpPr>
        <p:spPr>
          <a:xfrm>
            <a:off x="514350" y="4238625"/>
            <a:ext cx="66675" cy="1066800"/>
          </a:xfrm>
          <a:prstGeom prst="rect">
            <a:avLst/>
          </a:prstGeom>
          <a:solidFill>
            <a:srgbClr val="1877D2"/>
          </a:solidFill>
          <a:ln w="0">
            <a:solidFill>
              <a:srgbClr val="1877D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B92E4E-474C-42E3-8BC5-8F5891B5B7A5}"/>
              </a:ext>
            </a:extLst>
          </p:cNvPr>
          <p:cNvSpPr>
            <a:spLocks noGrp="1"/>
          </p:cNvSpPr>
          <p:nvPr/>
        </p:nvSpPr>
        <p:spPr>
          <a:xfrm>
            <a:off x="704850" y="4381500"/>
            <a:ext cx="46577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MEMORY-AWARE AGGREGATION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413AEC2-8362-4DBF-80B2-24A216989F0E}"/>
              </a:ext>
            </a:extLst>
          </p:cNvPr>
          <p:cNvSpPr>
            <a:spLocks noGrp="1"/>
          </p:cNvSpPr>
          <p:nvPr/>
        </p:nvSpPr>
        <p:spPr>
          <a:xfrm>
            <a:off x="704850" y="4686300"/>
            <a:ext cx="46577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Invoice Parquet is processed in 250,000-row chunks. The executed aggregation completed in 16.4 seconds.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C50E1D4-676E-47E4-A485-97F537DE1812}"/>
              </a:ext>
            </a:extLst>
          </p:cNvPr>
          <p:cNvSpPr>
            <a:spLocks noGrp="1"/>
          </p:cNvSpPr>
          <p:nvPr/>
        </p:nvSpPr>
        <p:spPr>
          <a:xfrm>
            <a:off x="5915025" y="4238625"/>
            <a:ext cx="5000625" cy="1066800"/>
          </a:xfrm>
          <a:prstGeom prst="rect">
            <a:avLst/>
          </a:prstGeom>
          <a:solidFill>
            <a:srgbClr val="F8E8C8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C39FA22-4506-4D61-A3E7-00E80B2326F7}"/>
              </a:ext>
            </a:extLst>
          </p:cNvPr>
          <p:cNvSpPr>
            <a:spLocks noGrp="1"/>
          </p:cNvSpPr>
          <p:nvPr/>
        </p:nvSpPr>
        <p:spPr>
          <a:xfrm>
            <a:off x="5915025" y="4238625"/>
            <a:ext cx="66675" cy="1066800"/>
          </a:xfrm>
          <a:prstGeom prst="rect">
            <a:avLst/>
          </a:prstGeom>
          <a:solidFill>
            <a:srgbClr val="B86B00"/>
          </a:solidFill>
          <a:ln w="0">
            <a:solidFill>
              <a:srgbClr val="B86B0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8801F3-4F60-4E52-BC0D-39D472DA45EA}"/>
              </a:ext>
            </a:extLst>
          </p:cNvPr>
          <p:cNvSpPr>
            <a:spLocks noGrp="1"/>
          </p:cNvSpPr>
          <p:nvPr/>
        </p:nvSpPr>
        <p:spPr>
          <a:xfrm>
            <a:off x="6105525" y="4381500"/>
            <a:ext cx="46577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B86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86B00"/>
                </a:solidFill>
                <a:latin typeface="Helvetica Neue"/>
                <a:ea typeface="Helvetica Neue"/>
                <a:cs typeface="Helvetica Neue"/>
              </a:rPr>
              <a:t>OBSERVATION-WINDOW BIAS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B90A70-5134-4AB0-AD75-D083B553EAD3}"/>
              </a:ext>
            </a:extLst>
          </p:cNvPr>
          <p:cNvSpPr>
            <a:spLocks noGrp="1"/>
          </p:cNvSpPr>
          <p:nvPr/>
        </p:nvSpPr>
        <p:spPr>
          <a:xfrm>
            <a:off x="6105525" y="4686300"/>
            <a:ext cx="46577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735" lnSpcReduction="10000"/>
          </a:bodyPr>
          <a:lstStyle/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Fraud rate rises from 0.94% for clients with 1–7 invoices to 9.15% for clients with 58+. The model may learn how much history exists, not only fraud behaviour.</a:t>
            </a:r>
          </a:p>
        </p:txBody>
      </p:sp>
    </p:spTree>
    <p:extLst>
      <p:ext uri="{BB962C8B-B14F-4D97-AF65-F5344CB8AC3E}">
        <p14:creationId xmlns:p14="http://schemas.microsoft.com/office/powerpoint/2010/main" val="586860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C913067A-746B-48BC-AD77-339DDA99FDF1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EDA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A8BBABE-AFCB-4B8F-9C36-58459F8CAC45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1096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EDA: the feature contract we built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E7BACFF-53EC-48E8-9219-F07BA74CFA3A}"/>
              </a:ext>
            </a:extLst>
          </p:cNvPr>
          <p:cNvSpPr>
            <a:spLocks noGrp="1"/>
          </p:cNvSpPr>
          <p:nvPr/>
        </p:nvSpPr>
        <p:spPr>
          <a:xfrm>
            <a:off x="514350" y="1181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3383DB4-5472-4931-ACD2-845D6F5DA545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04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Fifteen client inputs, grouped by the question they answer.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00D8889-323E-4623-9E48-C25282EDBBC7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CECB5B-EBA7-4644-B665-AF269CD782CE}"/>
              </a:ext>
            </a:extLst>
          </p:cNvPr>
          <p:cNvSpPr>
            <a:spLocks noGrp="1"/>
          </p:cNvSpPr>
          <p:nvPr/>
        </p:nvSpPr>
        <p:spPr>
          <a:xfrm>
            <a:off x="514350" y="6591300"/>
            <a:ext cx="3714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ROY + SEAN · FRAUD DETECTION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3A7BDE-9BD6-4973-89D2-72739565FE91}"/>
              </a:ext>
            </a:extLst>
          </p:cNvPr>
          <p:cNvSpPr>
            <a:spLocks noGrp="1"/>
          </p:cNvSpPr>
          <p:nvPr/>
        </p:nvSpPr>
        <p:spPr>
          <a:xfrm>
            <a:off x="1112520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05D12E-F007-46EF-AB2A-AEB517E30442}"/>
              </a:ext>
            </a:extLst>
          </p:cNvPr>
          <p:cNvSpPr>
            <a:spLocks noGrp="1"/>
          </p:cNvSpPr>
          <p:nvPr/>
        </p:nvSpPr>
        <p:spPr>
          <a:xfrm>
            <a:off x="514350" y="1857375"/>
            <a:ext cx="95250" cy="666750"/>
          </a:xfrm>
          <a:prstGeom prst="rect">
            <a:avLst/>
          </a:prstGeom>
          <a:solidFill>
            <a:srgbClr val="1877D2"/>
          </a:solidFill>
          <a:ln w="0">
            <a:solidFill>
              <a:srgbClr val="1877D2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32635C-77EB-422A-86E5-9CB214C516B0}"/>
              </a:ext>
            </a:extLst>
          </p:cNvPr>
          <p:cNvSpPr>
            <a:spLocks noGrp="1"/>
          </p:cNvSpPr>
          <p:nvPr/>
        </p:nvSpPr>
        <p:spPr>
          <a:xfrm>
            <a:off x="781050" y="1895475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OBSERVATION HISTORY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90B054-55CA-45AA-8973-3481D239E8BD}"/>
              </a:ext>
            </a:extLst>
          </p:cNvPr>
          <p:cNvSpPr>
            <a:spLocks noGrp="1"/>
          </p:cNvSpPr>
          <p:nvPr/>
        </p:nvSpPr>
        <p:spPr>
          <a:xfrm>
            <a:off x="3333750" y="18859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invoice_count · active_days · mean_invoice_gap_days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C94842-A283-4EAE-A23D-6140762DBFFC}"/>
              </a:ext>
            </a:extLst>
          </p:cNvPr>
          <p:cNvSpPr>
            <a:spLocks noGrp="1"/>
          </p:cNvSpPr>
          <p:nvPr/>
        </p:nvSpPr>
        <p:spPr>
          <a:xfrm>
            <a:off x="8572500" y="1885950"/>
            <a:ext cx="2343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How much evidence and how regularly?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0EBCED-CA89-400E-8A97-A807BB494EFD}"/>
              </a:ext>
            </a:extLst>
          </p:cNvPr>
          <p:cNvSpPr>
            <a:spLocks noGrp="1"/>
          </p:cNvSpPr>
          <p:nvPr/>
        </p:nvSpPr>
        <p:spPr>
          <a:xfrm>
            <a:off x="781050" y="2524125"/>
            <a:ext cx="101346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012B25-3DFB-4544-A854-1F9567D0102A}"/>
              </a:ext>
            </a:extLst>
          </p:cNvPr>
          <p:cNvSpPr>
            <a:spLocks noGrp="1"/>
          </p:cNvSpPr>
          <p:nvPr/>
        </p:nvSpPr>
        <p:spPr>
          <a:xfrm>
            <a:off x="514350" y="2705100"/>
            <a:ext cx="95250" cy="666750"/>
          </a:xfrm>
          <a:prstGeom prst="rect">
            <a:avLst/>
          </a:prstGeom>
          <a:solidFill>
            <a:srgbClr val="178A63"/>
          </a:solidFill>
          <a:ln w="0">
            <a:solidFill>
              <a:srgbClr val="178A63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77B56BA-EC03-419A-8BEC-D6F2B7DE523D}"/>
              </a:ext>
            </a:extLst>
          </p:cNvPr>
          <p:cNvSpPr>
            <a:spLocks noGrp="1"/>
          </p:cNvSpPr>
          <p:nvPr/>
        </p:nvSpPr>
        <p:spPr>
          <a:xfrm>
            <a:off x="781050" y="274320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rPr>
              <a:t>CONSUMPTION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FD1E16-F03E-4B05-B9EB-F5E69DA3B1BA}"/>
              </a:ext>
            </a:extLst>
          </p:cNvPr>
          <p:cNvSpPr>
            <a:spLocks noGrp="1"/>
          </p:cNvSpPr>
          <p:nvPr/>
        </p:nvSpPr>
        <p:spPr>
          <a:xfrm>
            <a:off x="3333750" y="2733675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mean_consumption · zero_consumption_rate · elec_share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11FDF6-20E1-4FED-AEF5-E62BA887B5EF}"/>
              </a:ext>
            </a:extLst>
          </p:cNvPr>
          <p:cNvSpPr>
            <a:spLocks noGrp="1"/>
          </p:cNvSpPr>
          <p:nvPr/>
        </p:nvSpPr>
        <p:spPr>
          <a:xfrm>
            <a:off x="8572500" y="2733675"/>
            <a:ext cx="2343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What does typical demand look like?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936303-BA19-45A4-A366-D6B7B98E4448}"/>
              </a:ext>
            </a:extLst>
          </p:cNvPr>
          <p:cNvSpPr>
            <a:spLocks noGrp="1"/>
          </p:cNvSpPr>
          <p:nvPr/>
        </p:nvSpPr>
        <p:spPr>
          <a:xfrm>
            <a:off x="781050" y="3371850"/>
            <a:ext cx="101346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55F9187-4AE4-4CE6-A955-0832C119720B}"/>
              </a:ext>
            </a:extLst>
          </p:cNvPr>
          <p:cNvSpPr>
            <a:spLocks noGrp="1"/>
          </p:cNvSpPr>
          <p:nvPr/>
        </p:nvSpPr>
        <p:spPr>
          <a:xfrm>
            <a:off x="514350" y="3552825"/>
            <a:ext cx="95250" cy="666750"/>
          </a:xfrm>
          <a:prstGeom prst="rect">
            <a:avLst/>
          </a:prstGeom>
          <a:solidFill>
            <a:srgbClr val="D62828"/>
          </a:solidFill>
          <a:ln w="0">
            <a:solidFill>
              <a:srgbClr val="D62828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BA7FCAF-7254-45FA-90C8-F9C191739B5E}"/>
              </a:ext>
            </a:extLst>
          </p:cNvPr>
          <p:cNvSpPr>
            <a:spLocks noGrp="1"/>
          </p:cNvSpPr>
          <p:nvPr/>
        </p:nvSpPr>
        <p:spPr>
          <a:xfrm>
            <a:off x="781050" y="3590925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rPr>
              <a:t>METER SEQUENCE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2D3410-B65A-4F1D-9C6D-FB0C745D3269}"/>
              </a:ext>
            </a:extLst>
          </p:cNvPr>
          <p:cNvSpPr>
            <a:spLocks noGrp="1"/>
          </p:cNvSpPr>
          <p:nvPr/>
        </p:nvSpPr>
        <p:spPr>
          <a:xfrm>
            <a:off x="3333750" y="358140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9228" lnSpcReduction="10000"/>
          </a:bodyPr>
          <a:lstStyle/>
          <a:p>
            <a:pPr algn="l">
              <a:defRPr sz="12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backwards_index_rate · meter_count · mean_monthly_submission_index_delta · backward_submission_rate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D9E37B-8F7C-4160-BC0C-A311451C7C21}"/>
              </a:ext>
            </a:extLst>
          </p:cNvPr>
          <p:cNvSpPr>
            <a:spLocks noGrp="1"/>
          </p:cNvSpPr>
          <p:nvPr/>
        </p:nvSpPr>
        <p:spPr>
          <a:xfrm>
            <a:off x="8572500" y="3581400"/>
            <a:ext cx="2343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How do ordered readings move?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9B1BB32-4D31-41B7-96CE-91E6B7E952CB}"/>
              </a:ext>
            </a:extLst>
          </p:cNvPr>
          <p:cNvSpPr>
            <a:spLocks noGrp="1"/>
          </p:cNvSpPr>
          <p:nvPr/>
        </p:nvSpPr>
        <p:spPr>
          <a:xfrm>
            <a:off x="781050" y="4219575"/>
            <a:ext cx="101346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FCE6AA6-BE07-4015-B44B-16386637155D}"/>
              </a:ext>
            </a:extLst>
          </p:cNvPr>
          <p:cNvSpPr>
            <a:spLocks noGrp="1"/>
          </p:cNvSpPr>
          <p:nvPr/>
        </p:nvSpPr>
        <p:spPr>
          <a:xfrm>
            <a:off x="514350" y="4400550"/>
            <a:ext cx="95250" cy="666750"/>
          </a:xfrm>
          <a:prstGeom prst="rect">
            <a:avLst/>
          </a:prstGeom>
          <a:solidFill>
            <a:srgbClr val="B86B00"/>
          </a:solidFill>
          <a:ln w="0">
            <a:solidFill>
              <a:srgbClr val="B86B00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120D2E8-2152-422F-B2C1-4DB60AA6D2AE}"/>
              </a:ext>
            </a:extLst>
          </p:cNvPr>
          <p:cNvSpPr>
            <a:spLocks noGrp="1"/>
          </p:cNvSpPr>
          <p:nvPr/>
        </p:nvSpPr>
        <p:spPr>
          <a:xfrm>
            <a:off x="781050" y="4438650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B86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B86B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8C6C4D-922B-4148-B25F-BB529A54ADC4}"/>
              </a:ext>
            </a:extLst>
          </p:cNvPr>
          <p:cNvSpPr>
            <a:spLocks noGrp="1"/>
          </p:cNvSpPr>
          <p:nvPr/>
        </p:nvSpPr>
        <p:spPr>
          <a:xfrm>
            <a:off x="3333750" y="4429125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large_mismatch_count · reconciliation_gap_abs_mean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67F7CE2-0489-439A-B7FB-5A56F33DFBC1}"/>
              </a:ext>
            </a:extLst>
          </p:cNvPr>
          <p:cNvSpPr>
            <a:spLocks noGrp="1"/>
          </p:cNvSpPr>
          <p:nvPr/>
        </p:nvSpPr>
        <p:spPr>
          <a:xfrm>
            <a:off x="8572500" y="4429125"/>
            <a:ext cx="2343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Do meter movement and billed use agree?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0268EE7-A9A8-4B74-88AA-6D0C51E415ED}"/>
              </a:ext>
            </a:extLst>
          </p:cNvPr>
          <p:cNvSpPr>
            <a:spLocks noGrp="1"/>
          </p:cNvSpPr>
          <p:nvPr/>
        </p:nvSpPr>
        <p:spPr>
          <a:xfrm>
            <a:off x="781050" y="5067300"/>
            <a:ext cx="101346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374873-A3B0-4B76-8562-ABBE4C635F2E}"/>
              </a:ext>
            </a:extLst>
          </p:cNvPr>
          <p:cNvSpPr>
            <a:spLocks noGrp="1"/>
          </p:cNvSpPr>
          <p:nvPr/>
        </p:nvSpPr>
        <p:spPr>
          <a:xfrm>
            <a:off x="514350" y="5248275"/>
            <a:ext cx="95250" cy="666750"/>
          </a:xfrm>
          <a:prstGeom prst="rect">
            <a:avLst/>
          </a:prstGeom>
          <a:solidFill>
            <a:srgbClr val="1877D2"/>
          </a:solidFill>
          <a:ln w="0">
            <a:solidFill>
              <a:srgbClr val="1877D2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5A95DBE-4F7E-483C-8353-7F8B47288993}"/>
              </a:ext>
            </a:extLst>
          </p:cNvPr>
          <p:cNvSpPr>
            <a:spLocks noGrp="1"/>
          </p:cNvSpPr>
          <p:nvPr/>
        </p:nvSpPr>
        <p:spPr>
          <a:xfrm>
            <a:off x="781050" y="5286375"/>
            <a:ext cx="2381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CLIENT CONTEXT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8E22A0-CEBA-4BF5-BDF0-6F2B086224C7}"/>
              </a:ext>
            </a:extLst>
          </p:cNvPr>
          <p:cNvSpPr>
            <a:spLocks noGrp="1"/>
          </p:cNvSpPr>
          <p:nvPr/>
        </p:nvSpPr>
        <p:spPr>
          <a:xfrm>
            <a:off x="3333750" y="52768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client_catg · disrict · region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A34F086-FC0C-458F-8A3C-C85274A51874}"/>
              </a:ext>
            </a:extLst>
          </p:cNvPr>
          <p:cNvSpPr>
            <a:spLocks noGrp="1"/>
          </p:cNvSpPr>
          <p:nvPr/>
        </p:nvSpPr>
        <p:spPr>
          <a:xfrm>
            <a:off x="8572500" y="5276850"/>
            <a:ext cx="23431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Which categorical segment is this?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4702457-0B94-4A00-9DD5-B5707E8ABAEE}"/>
              </a:ext>
            </a:extLst>
          </p:cNvPr>
          <p:cNvSpPr>
            <a:spLocks noGrp="1"/>
          </p:cNvSpPr>
          <p:nvPr/>
        </p:nvSpPr>
        <p:spPr>
          <a:xfrm>
            <a:off x="781050" y="5915025"/>
            <a:ext cx="101346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321869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C380908B-768B-473F-9B60-C9A8EEEF87FE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EDA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86083E-FA78-4547-BB77-3CFF666CC3BE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1096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EDA: strong patterns and bias risks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BD4118-6AD0-48D9-B407-9C5269A75B71}"/>
              </a:ext>
            </a:extLst>
          </p:cNvPr>
          <p:cNvSpPr>
            <a:spLocks noGrp="1"/>
          </p:cNvSpPr>
          <p:nvPr/>
        </p:nvSpPr>
        <p:spPr>
          <a:xfrm>
            <a:off x="514350" y="1181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2B3FB0-E204-4F35-BA6B-0487D55B8D0E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04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The strongest signals are useful — and each has an interpretation risk.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3BC662-381A-4E62-8967-A7649470A771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BADE01-9E59-4547-8E9C-E1954C5BAE2B}"/>
              </a:ext>
            </a:extLst>
          </p:cNvPr>
          <p:cNvSpPr>
            <a:spLocks noGrp="1"/>
          </p:cNvSpPr>
          <p:nvPr/>
        </p:nvSpPr>
        <p:spPr>
          <a:xfrm>
            <a:off x="514350" y="6591300"/>
            <a:ext cx="3714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ROY + SEAN · FRAUD DETECTION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688851-DF0B-4F89-A319-988FC9461E60}"/>
              </a:ext>
            </a:extLst>
          </p:cNvPr>
          <p:cNvSpPr>
            <a:spLocks noGrp="1"/>
          </p:cNvSpPr>
          <p:nvPr/>
        </p:nvSpPr>
        <p:spPr>
          <a:xfrm>
            <a:off x="1112520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69EDA3-4356-4D53-A476-D94513649AE0}"/>
              </a:ext>
            </a:extLst>
          </p:cNvPr>
          <p:cNvSpPr>
            <a:spLocks noGrp="1"/>
          </p:cNvSpPr>
          <p:nvPr/>
        </p:nvSpPr>
        <p:spPr>
          <a:xfrm>
            <a:off x="514350" y="18478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Observation window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="514350" y="2133600"/>
          <a:ext cx="3143250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56F39B80-0904-4A96-A35A-9364AB6289F6}"/>
              </a:ext>
            </a:extLst>
          </p:cNvPr>
          <p:cNvSpPr>
            <a:spLocks noGrp="1"/>
          </p:cNvSpPr>
          <p:nvPr/>
        </p:nvSpPr>
        <p:spPr>
          <a:xfrm>
            <a:off x="952500" y="3886200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0.94%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99FD553-ABDA-44DA-9BCF-0370FD6BC657}"/>
              </a:ext>
            </a:extLst>
          </p:cNvPr>
          <p:cNvSpPr>
            <a:spLocks noGrp="1"/>
          </p:cNvSpPr>
          <p:nvPr/>
        </p:nvSpPr>
        <p:spPr>
          <a:xfrm>
            <a:off x="2400300" y="2371725"/>
            <a:ext cx="8572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7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9.15%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3CA0A2-9747-4F19-A000-85508ED82158}"/>
              </a:ext>
            </a:extLst>
          </p:cNvPr>
          <p:cNvSpPr>
            <a:spLocks noGrp="1"/>
          </p:cNvSpPr>
          <p:nvPr/>
        </p:nvSpPr>
        <p:spPr>
          <a:xfrm>
            <a:off x="514350" y="46291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9.7× fraud-rate range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CE44956-4659-477E-92BC-40BB04AD48D0}"/>
              </a:ext>
            </a:extLst>
          </p:cNvPr>
          <p:cNvSpPr>
            <a:spLocks noGrp="1"/>
          </p:cNvSpPr>
          <p:nvPr/>
        </p:nvSpPr>
        <p:spPr>
          <a:xfrm>
            <a:off x="4057650" y="1847850"/>
            <a:ext cx="3143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Client category</a:t>
            </a:r>
          </a:p>
        </p:txBody>
      </p:sp>
      <p:graphicFrame>
        <p:nvGraphicFramePr>
          <p:cNvPr id="36" name="Chart"/>
          <p:cNvGraphicFramePr/>
          <p:nvPr/>
        </p:nvGraphicFramePr>
        <p:xfrm>
          <a:off x="4057650" y="2133600"/>
          <a:ext cx="3143250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D8B3C258-4358-44EC-A50C-705BC6754A18}"/>
              </a:ext>
            </a:extLst>
          </p:cNvPr>
          <p:cNvSpPr>
            <a:spLocks noGrp="1"/>
          </p:cNvSpPr>
          <p:nvPr/>
        </p:nvSpPr>
        <p:spPr>
          <a:xfrm>
            <a:off x="4057650" y="462915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rPr>
              <a:t>Category ≠ cause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AD02276-E1B5-484B-844D-1863C33CB656}"/>
              </a:ext>
            </a:extLst>
          </p:cNvPr>
          <p:cNvSpPr>
            <a:spLocks noGrp="1"/>
          </p:cNvSpPr>
          <p:nvPr/>
        </p:nvSpPr>
        <p:spPr>
          <a:xfrm>
            <a:off x="7600950" y="1847850"/>
            <a:ext cx="3314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Reconciliation gap</a:t>
            </a:r>
          </a:p>
        </p:txBody>
      </p:sp>
      <p:graphicFrame>
        <p:nvGraphicFramePr>
          <p:cNvPr id="39" name="Chart"/>
          <p:cNvGraphicFramePr/>
          <p:nvPr/>
        </p:nvGraphicFramePr>
        <p:xfrm>
          <a:off x="7600950" y="2133600"/>
          <a:ext cx="3314700" cy="2381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:a16="http://schemas.microsoft.com/office/drawing/2014/main" id="{3E4ADE4F-C1AD-42C0-B928-857D1CCB38F6}"/>
              </a:ext>
            </a:extLst>
          </p:cNvPr>
          <p:cNvSpPr>
            <a:spLocks noGrp="1"/>
          </p:cNvSpPr>
          <p:nvPr/>
        </p:nvSpPr>
        <p:spPr>
          <a:xfrm>
            <a:off x="7600950" y="4629150"/>
            <a:ext cx="3314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rPr>
              <a:t>Median is zero in both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977A6B1-F4A0-4A64-926D-77439F81FED8}"/>
              </a:ext>
            </a:extLst>
          </p:cNvPr>
          <p:cNvSpPr>
            <a:spLocks noGrp="1"/>
          </p:cNvSpPr>
          <p:nvPr/>
        </p:nvSpPr>
        <p:spPr>
          <a:xfrm>
            <a:off x="514350" y="5181600"/>
            <a:ext cx="10401300" cy="8953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E0DA203-07F9-450A-9F61-1198FC2537A5}"/>
              </a:ext>
            </a:extLst>
          </p:cNvPr>
          <p:cNvSpPr>
            <a:spLocks noGrp="1"/>
          </p:cNvSpPr>
          <p:nvPr/>
        </p:nvSpPr>
        <p:spPr>
          <a:xfrm>
            <a:off x="514350" y="5181600"/>
            <a:ext cx="66675" cy="895350"/>
          </a:xfrm>
          <a:prstGeom prst="rect">
            <a:avLst/>
          </a:prstGeom>
          <a:solidFill>
            <a:srgbClr val="101114"/>
          </a:solidFill>
          <a:ln w="0">
            <a:solidFill>
              <a:srgbClr val="101114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703CDDC-48A6-41A9-ACFD-2B8E96B72769}"/>
              </a:ext>
            </a:extLst>
          </p:cNvPr>
          <p:cNvSpPr>
            <a:spLocks noGrp="1"/>
          </p:cNvSpPr>
          <p:nvPr/>
        </p:nvSpPr>
        <p:spPr>
          <a:xfrm>
            <a:off x="704850" y="5324475"/>
            <a:ext cx="1005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MODELLING IMPLICATION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783EC6-43B3-42F1-A7A4-6BF5BC68B525}"/>
              </a:ext>
            </a:extLst>
          </p:cNvPr>
          <p:cNvSpPr>
            <a:spLocks noGrp="1"/>
          </p:cNvSpPr>
          <p:nvPr/>
        </p:nvSpPr>
        <p:spPr>
          <a:xfrm>
            <a:off x="704850" y="5629275"/>
            <a:ext cx="10058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5735" lnSpcReduction="10000"/>
          </a:bodyPr>
          <a:lstStyle/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No single numeric variable is decisive: the largest target correlations are only 0.128 (active_days) and 0.127 (invoice_count). Combine signals and test non-linear interactions.</a:t>
            </a:r>
          </a:p>
        </p:txBody>
      </p:sp>
    </p:spTree>
    <p:extLst>
      <p:ext uri="{BB962C8B-B14F-4D97-AF65-F5344CB8AC3E}">
        <p14:creationId xmlns:p14="http://schemas.microsoft.com/office/powerpoint/2010/main" val="372662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5DCD8F1-A4C8-432F-B521-A9C172083FD3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EDA DECISION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1EED795-0F83-4B6B-86EA-1DBABB7B9275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1096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EDA conclusion: what changes for modelling?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97EC11-273F-4365-BBB4-83A45E65C41F}"/>
              </a:ext>
            </a:extLst>
          </p:cNvPr>
          <p:cNvSpPr>
            <a:spLocks noGrp="1"/>
          </p:cNvSpPr>
          <p:nvPr/>
        </p:nvSpPr>
        <p:spPr>
          <a:xfrm>
            <a:off x="514350" y="1181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B262FA-4CE6-4E58-80A2-C02729028B56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04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EDA defined the inputs, the evaluation checks, and the next feature work.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5E42C5-3C1A-47B6-A5FA-A4B22B087E28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954262-CBE3-43A7-96BD-1F78D91495AA}"/>
              </a:ext>
            </a:extLst>
          </p:cNvPr>
          <p:cNvSpPr>
            <a:spLocks noGrp="1"/>
          </p:cNvSpPr>
          <p:nvPr/>
        </p:nvSpPr>
        <p:spPr>
          <a:xfrm>
            <a:off x="514350" y="6591300"/>
            <a:ext cx="3714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ROY + SEAN · FRAUD DETECTION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7F5EC8D-451A-43BE-BE0F-33A54F61D175}"/>
              </a:ext>
            </a:extLst>
          </p:cNvPr>
          <p:cNvSpPr>
            <a:spLocks noGrp="1"/>
          </p:cNvSpPr>
          <p:nvPr/>
        </p:nvSpPr>
        <p:spPr>
          <a:xfrm>
            <a:off x="1112520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448911D-D82E-40C6-9E93-812A903C7B0B}"/>
              </a:ext>
            </a:extLst>
          </p:cNvPr>
          <p:cNvSpPr>
            <a:spLocks noGrp="1"/>
          </p:cNvSpPr>
          <p:nvPr/>
        </p:nvSpPr>
        <p:spPr>
          <a:xfrm>
            <a:off x="514350" y="2000250"/>
            <a:ext cx="3286125" cy="1619250"/>
          </a:xfrm>
          <a:prstGeom prst="rect">
            <a:avLst/>
          </a:prstGeom>
          <a:solidFill>
            <a:srgbClr val="DDF3EB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6597C2-2A01-48AB-8ADF-939D90818E80}"/>
              </a:ext>
            </a:extLst>
          </p:cNvPr>
          <p:cNvSpPr>
            <a:spLocks noGrp="1"/>
          </p:cNvSpPr>
          <p:nvPr/>
        </p:nvSpPr>
        <p:spPr>
          <a:xfrm>
            <a:off x="514350" y="2000250"/>
            <a:ext cx="66675" cy="1619250"/>
          </a:xfrm>
          <a:prstGeom prst="rect">
            <a:avLst/>
          </a:prstGeom>
          <a:solidFill>
            <a:srgbClr val="178A63"/>
          </a:solidFill>
          <a:ln w="0">
            <a:solidFill>
              <a:srgbClr val="178A63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AB48CA-86DF-4A90-8F52-174FE423502D}"/>
              </a:ext>
            </a:extLst>
          </p:cNvPr>
          <p:cNvSpPr>
            <a:spLocks noGrp="1"/>
          </p:cNvSpPr>
          <p:nvPr/>
        </p:nvSpPr>
        <p:spPr>
          <a:xfrm>
            <a:off x="704850" y="2143125"/>
            <a:ext cx="2943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rPr>
              <a:t>MODEL NOW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218E96-6DBC-449B-978B-6ED81F6B1218}"/>
              </a:ext>
            </a:extLst>
          </p:cNvPr>
          <p:cNvSpPr>
            <a:spLocks noGrp="1"/>
          </p:cNvSpPr>
          <p:nvPr/>
        </p:nvSpPr>
        <p:spPr>
          <a:xfrm>
            <a:off x="704850" y="2447925"/>
            <a:ext cx="294322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Use 15 client inputs covering history, consumption, meter sequence, reconciliation, category, district, and region.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2E39A8-822D-413A-855A-3C05DF02222D}"/>
              </a:ext>
            </a:extLst>
          </p:cNvPr>
          <p:cNvSpPr>
            <a:spLocks noGrp="1"/>
          </p:cNvSpPr>
          <p:nvPr/>
        </p:nvSpPr>
        <p:spPr>
          <a:xfrm>
            <a:off x="3971925" y="2000250"/>
            <a:ext cx="3286125" cy="1619250"/>
          </a:xfrm>
          <a:prstGeom prst="rect">
            <a:avLst/>
          </a:prstGeom>
          <a:solidFill>
            <a:srgbClr val="F9DFDF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D8F6FC-8C9D-4BDE-BAAD-B67FC2589558}"/>
              </a:ext>
            </a:extLst>
          </p:cNvPr>
          <p:cNvSpPr>
            <a:spLocks noGrp="1"/>
          </p:cNvSpPr>
          <p:nvPr/>
        </p:nvSpPr>
        <p:spPr>
          <a:xfrm>
            <a:off x="3971925" y="2000250"/>
            <a:ext cx="66675" cy="1619250"/>
          </a:xfrm>
          <a:prstGeom prst="rect">
            <a:avLst/>
          </a:prstGeom>
          <a:solidFill>
            <a:srgbClr val="D62828"/>
          </a:solidFill>
          <a:ln w="0">
            <a:solidFill>
              <a:srgbClr val="D6282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330792C-50DE-4D15-9673-AA1519FEE269}"/>
              </a:ext>
            </a:extLst>
          </p:cNvPr>
          <p:cNvSpPr>
            <a:spLocks noGrp="1"/>
          </p:cNvSpPr>
          <p:nvPr/>
        </p:nvSpPr>
        <p:spPr>
          <a:xfrm>
            <a:off x="4162425" y="2143125"/>
            <a:ext cx="29432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rPr>
              <a:t>CONTROL FOR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B49C2A5-2990-4B6A-B94D-28912C2898C1}"/>
              </a:ext>
            </a:extLst>
          </p:cNvPr>
          <p:cNvSpPr>
            <a:spLocks noGrp="1"/>
          </p:cNvSpPr>
          <p:nvPr/>
        </p:nvSpPr>
        <p:spPr>
          <a:xfrm>
            <a:off x="4162425" y="2447925"/>
            <a:ext cx="2943225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Report results by history length and geography. Avoid conclusions based on unreliable creation dates.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DE6136D-DE6B-4888-9F5E-3F296E30CF5E}"/>
              </a:ext>
            </a:extLst>
          </p:cNvPr>
          <p:cNvSpPr>
            <a:spLocks noGrp="1"/>
          </p:cNvSpPr>
          <p:nvPr/>
        </p:nvSpPr>
        <p:spPr>
          <a:xfrm>
            <a:off x="7429500" y="2000250"/>
            <a:ext cx="3486150" cy="1619250"/>
          </a:xfrm>
          <a:prstGeom prst="rect">
            <a:avLst/>
          </a:prstGeom>
          <a:solidFill>
            <a:srgbClr val="F8E8C8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F88AF0-DF3E-4470-AFC1-BB4FEC62A19A}"/>
              </a:ext>
            </a:extLst>
          </p:cNvPr>
          <p:cNvSpPr>
            <a:spLocks noGrp="1"/>
          </p:cNvSpPr>
          <p:nvPr/>
        </p:nvSpPr>
        <p:spPr>
          <a:xfrm>
            <a:off x="7429500" y="2000250"/>
            <a:ext cx="66675" cy="1619250"/>
          </a:xfrm>
          <a:prstGeom prst="rect">
            <a:avLst/>
          </a:prstGeom>
          <a:solidFill>
            <a:srgbClr val="B86B00"/>
          </a:solidFill>
          <a:ln w="0">
            <a:solidFill>
              <a:srgbClr val="B86B00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E1741B3-E2AF-470B-97FD-F38DC581AD95}"/>
              </a:ext>
            </a:extLst>
          </p:cNvPr>
          <p:cNvSpPr>
            <a:spLocks noGrp="1"/>
          </p:cNvSpPr>
          <p:nvPr/>
        </p:nvSpPr>
        <p:spPr>
          <a:xfrm>
            <a:off x="7620000" y="2143125"/>
            <a:ext cx="3143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B86B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B86B00"/>
                </a:solidFill>
                <a:latin typeface="Helvetica Neue"/>
                <a:ea typeface="Helvetica Neue"/>
                <a:cs typeface="Helvetica Neue"/>
              </a:rPr>
              <a:t>INVESTIGATE NEXT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5F9CA4-723B-4286-A89D-BCB23A09BC6B}"/>
              </a:ext>
            </a:extLst>
          </p:cNvPr>
          <p:cNvSpPr>
            <a:spLocks noGrp="1"/>
          </p:cNvSpPr>
          <p:nvPr/>
        </p:nvSpPr>
        <p:spPr>
          <a:xfrm>
            <a:off x="7620000" y="2447925"/>
            <a:ext cx="3143250" cy="1066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Build stronger short-history signals and validate meter resets and reconciliation gaps with domain experts.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02ACFF-AAFC-473F-8285-3E8E15095CDB}"/>
              </a:ext>
            </a:extLst>
          </p:cNvPr>
          <p:cNvSpPr>
            <a:spLocks noGrp="1"/>
          </p:cNvSpPr>
          <p:nvPr/>
        </p:nvSpPr>
        <p:spPr>
          <a:xfrm>
            <a:off x="514350" y="424815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 dirty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What EDA changed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3869174-F181-4A85-A5C6-37E3975E0539}"/>
              </a:ext>
            </a:extLst>
          </p:cNvPr>
          <p:cNvSpPr>
            <a:spLocks noGrp="1"/>
          </p:cNvSpPr>
          <p:nvPr/>
        </p:nvSpPr>
        <p:spPr>
          <a:xfrm>
            <a:off x="533400" y="4762500"/>
            <a:ext cx="66675" cy="66675"/>
          </a:xfrm>
          <a:prstGeom prst="ellipse">
            <a:avLst/>
          </a:prstGeom>
          <a:solidFill>
            <a:srgbClr val="1877D2"/>
          </a:solidFill>
          <a:ln w="0">
            <a:solidFill>
              <a:srgbClr val="1877D2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B603D1B-FEEA-4CBC-90B8-71409939E355}"/>
              </a:ext>
            </a:extLst>
          </p:cNvPr>
          <p:cNvSpPr>
            <a:spLocks noGrp="1"/>
          </p:cNvSpPr>
          <p:nvPr/>
        </p:nvSpPr>
        <p:spPr>
          <a:xfrm>
            <a:off x="714375" y="4686300"/>
            <a:ext cx="96297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The first model uses one explicit 15-input contract rather than every available aggregate.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55CA347-A9EA-4CF5-9309-F939A24F87CD}"/>
              </a:ext>
            </a:extLst>
          </p:cNvPr>
          <p:cNvSpPr>
            <a:spLocks noGrp="1"/>
          </p:cNvSpPr>
          <p:nvPr/>
        </p:nvSpPr>
        <p:spPr>
          <a:xfrm>
            <a:off x="533400" y="5162550"/>
            <a:ext cx="66675" cy="66675"/>
          </a:xfrm>
          <a:prstGeom prst="ellipse">
            <a:avLst/>
          </a:prstGeom>
          <a:solidFill>
            <a:srgbClr val="1877D2"/>
          </a:solidFill>
          <a:ln w="0">
            <a:solidFill>
              <a:srgbClr val="1877D2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0C3551-318A-4826-95C9-013C6BE48E30}"/>
              </a:ext>
            </a:extLst>
          </p:cNvPr>
          <p:cNvSpPr>
            <a:spLocks noGrp="1"/>
          </p:cNvSpPr>
          <p:nvPr/>
        </p:nvSpPr>
        <p:spPr>
          <a:xfrm>
            <a:off x="714375" y="5086350"/>
            <a:ext cx="9629775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42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GB" sz="1425" dirty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Unusual readings remain available as possible signals; rows are not deleted without evidence.</a:t>
            </a:r>
          </a:p>
        </p:txBody>
      </p:sp>
    </p:spTree>
    <p:extLst>
      <p:ext uri="{BB962C8B-B14F-4D97-AF65-F5344CB8AC3E}">
        <p14:creationId xmlns:p14="http://schemas.microsoft.com/office/powerpoint/2010/main" val="29563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9A2B71C3-9672-4E3E-A697-4702154CF05F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IMPLEMENTATION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E833C7-1B4A-401C-A2F0-901D4FD31195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1096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Reproducible modelling pipeline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1D16F0-463B-45BC-9A24-95F2E1759FE3}"/>
              </a:ext>
            </a:extLst>
          </p:cNvPr>
          <p:cNvSpPr>
            <a:spLocks noGrp="1"/>
          </p:cNvSpPr>
          <p:nvPr/>
        </p:nvSpPr>
        <p:spPr>
          <a:xfrm>
            <a:off x="514350" y="1181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D19E12-7EDA-4069-8F2E-83326EF0DC3A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04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Deterministic feature creation is separated from learned preprocessing and estimation.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DC8C64-9118-415E-9894-AE53D9AEEE5B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0FD1BC-5D48-4DB6-BC8F-5A00B53EACB5}"/>
              </a:ext>
            </a:extLst>
          </p:cNvPr>
          <p:cNvSpPr>
            <a:spLocks noGrp="1"/>
          </p:cNvSpPr>
          <p:nvPr/>
        </p:nvSpPr>
        <p:spPr>
          <a:xfrm>
            <a:off x="514350" y="6591300"/>
            <a:ext cx="3714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ROY + SEAN · FRAUD DETECTION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23E01E-EF08-4451-B4B8-DCC616B7D3EE}"/>
              </a:ext>
            </a:extLst>
          </p:cNvPr>
          <p:cNvSpPr>
            <a:spLocks noGrp="1"/>
          </p:cNvSpPr>
          <p:nvPr/>
        </p:nvSpPr>
        <p:spPr>
          <a:xfrm>
            <a:off x="1112520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D662B6-00CF-4C0D-BF8A-5084BEC17BB9}"/>
              </a:ext>
            </a:extLst>
          </p:cNvPr>
          <p:cNvSpPr>
            <a:spLocks noGrp="1"/>
          </p:cNvSpPr>
          <p:nvPr/>
        </p:nvSpPr>
        <p:spPr>
          <a:xfrm>
            <a:off x="514350" y="2076450"/>
            <a:ext cx="1466850" cy="99060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34CE5D3-EF52-48E8-B3A2-1E3C97C21FB6}"/>
              </a:ext>
            </a:extLst>
          </p:cNvPr>
          <p:cNvSpPr>
            <a:spLocks noGrp="1"/>
          </p:cNvSpPr>
          <p:nvPr/>
        </p:nvSpPr>
        <p:spPr>
          <a:xfrm>
            <a:off x="628650" y="22479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RAW PARQUET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F1EFCB-4A2D-498F-9275-A529F21DFE6C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1276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client + invoice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45B1F2-FBC5-47F0-A471-166B087EB32C}"/>
              </a:ext>
            </a:extLst>
          </p:cNvPr>
          <p:cNvSpPr>
            <a:spLocks noGrp="1"/>
          </p:cNvSpPr>
          <p:nvPr/>
        </p:nvSpPr>
        <p:spPr>
          <a:xfrm>
            <a:off x="2000250" y="2381250"/>
            <a:ext cx="333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 i="0">
                <a:solidFill>
                  <a:srgbClr val="C9C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C9CDD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168F7C-2602-41AF-9D2B-F3D1EDD42252}"/>
              </a:ext>
            </a:extLst>
          </p:cNvPr>
          <p:cNvSpPr>
            <a:spLocks noGrp="1"/>
          </p:cNvSpPr>
          <p:nvPr/>
        </p:nvSpPr>
        <p:spPr>
          <a:xfrm>
            <a:off x="2333625" y="2076450"/>
            <a:ext cx="1466850" cy="99060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DE88B2-84D5-4816-809A-867B3864069B}"/>
              </a:ext>
            </a:extLst>
          </p:cNvPr>
          <p:cNvSpPr>
            <a:spLocks noGrp="1"/>
          </p:cNvSpPr>
          <p:nvPr/>
        </p:nvSpPr>
        <p:spPr>
          <a:xfrm>
            <a:off x="2447925" y="22479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AGGREGATE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B724E2-3767-4E47-858E-D1790BF73214}"/>
              </a:ext>
            </a:extLst>
          </p:cNvPr>
          <p:cNvSpPr>
            <a:spLocks noGrp="1"/>
          </p:cNvSpPr>
          <p:nvPr/>
        </p:nvSpPr>
        <p:spPr>
          <a:xfrm>
            <a:off x="2428875" y="2571750"/>
            <a:ext cx="1276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one row / client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6469208-A033-428A-B4CB-E602763509CB}"/>
              </a:ext>
            </a:extLst>
          </p:cNvPr>
          <p:cNvSpPr>
            <a:spLocks noGrp="1"/>
          </p:cNvSpPr>
          <p:nvPr/>
        </p:nvSpPr>
        <p:spPr>
          <a:xfrm>
            <a:off x="3819525" y="2381250"/>
            <a:ext cx="333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 i="0">
                <a:solidFill>
                  <a:srgbClr val="C9C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C9CDD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2A4EB7-B541-498F-90F3-DD08AF3D38B9}"/>
              </a:ext>
            </a:extLst>
          </p:cNvPr>
          <p:cNvSpPr>
            <a:spLocks noGrp="1"/>
          </p:cNvSpPr>
          <p:nvPr/>
        </p:nvSpPr>
        <p:spPr>
          <a:xfrm>
            <a:off x="4152900" y="2076450"/>
            <a:ext cx="1466850" cy="99060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39E397-2E5A-455F-89CD-2E578D977186}"/>
              </a:ext>
            </a:extLst>
          </p:cNvPr>
          <p:cNvSpPr>
            <a:spLocks noGrp="1"/>
          </p:cNvSpPr>
          <p:nvPr/>
        </p:nvSpPr>
        <p:spPr>
          <a:xfrm>
            <a:off x="4267200" y="22479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CONTRACT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59E2B24-2155-4122-82EB-6311AD6A35A3}"/>
              </a:ext>
            </a:extLst>
          </p:cNvPr>
          <p:cNvSpPr>
            <a:spLocks noGrp="1"/>
          </p:cNvSpPr>
          <p:nvPr/>
        </p:nvSpPr>
        <p:spPr>
          <a:xfrm>
            <a:off x="4248150" y="2571750"/>
            <a:ext cx="1276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15 inputs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4B6AB9-D6B5-42FF-9D33-1B54C9C5EEE7}"/>
              </a:ext>
            </a:extLst>
          </p:cNvPr>
          <p:cNvSpPr>
            <a:spLocks noGrp="1"/>
          </p:cNvSpPr>
          <p:nvPr/>
        </p:nvSpPr>
        <p:spPr>
          <a:xfrm>
            <a:off x="5638800" y="2381250"/>
            <a:ext cx="333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 i="0">
                <a:solidFill>
                  <a:srgbClr val="C9C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C9CDD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EB5F4E-9DB1-46DF-9E22-922DDBBE33E3}"/>
              </a:ext>
            </a:extLst>
          </p:cNvPr>
          <p:cNvSpPr>
            <a:spLocks noGrp="1"/>
          </p:cNvSpPr>
          <p:nvPr/>
        </p:nvSpPr>
        <p:spPr>
          <a:xfrm>
            <a:off x="5972175" y="2076450"/>
            <a:ext cx="1466850" cy="990600"/>
          </a:xfrm>
          <a:prstGeom prst="rect">
            <a:avLst/>
          </a:prstGeom>
          <a:solidFill>
            <a:srgbClr val="DDEEFF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95D2FDB-B51C-4668-965C-16F8BF255AA1}"/>
              </a:ext>
            </a:extLst>
          </p:cNvPr>
          <p:cNvSpPr>
            <a:spLocks noGrp="1"/>
          </p:cNvSpPr>
          <p:nvPr/>
        </p:nvSpPr>
        <p:spPr>
          <a:xfrm>
            <a:off x="6086475" y="22479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PREPROCESS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933653-875A-4F4B-A2B6-127691DAAAF8}"/>
              </a:ext>
            </a:extLst>
          </p:cNvPr>
          <p:cNvSpPr>
            <a:spLocks noGrp="1"/>
          </p:cNvSpPr>
          <p:nvPr/>
        </p:nvSpPr>
        <p:spPr>
          <a:xfrm>
            <a:off x="6067425" y="2571750"/>
            <a:ext cx="1276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fit inside fold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731C7FE-A869-4734-A90A-3A2B8A613CA3}"/>
              </a:ext>
            </a:extLst>
          </p:cNvPr>
          <p:cNvSpPr>
            <a:spLocks noGrp="1"/>
          </p:cNvSpPr>
          <p:nvPr/>
        </p:nvSpPr>
        <p:spPr>
          <a:xfrm>
            <a:off x="7458075" y="2381250"/>
            <a:ext cx="333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 i="0">
                <a:solidFill>
                  <a:srgbClr val="C9C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C9CDD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F87292-722A-4511-9FFA-C45E295DB6DA}"/>
              </a:ext>
            </a:extLst>
          </p:cNvPr>
          <p:cNvSpPr>
            <a:spLocks noGrp="1"/>
          </p:cNvSpPr>
          <p:nvPr/>
        </p:nvSpPr>
        <p:spPr>
          <a:xfrm>
            <a:off x="7791450" y="2076450"/>
            <a:ext cx="1466850" cy="99060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BC05A36-EB86-4277-90A2-D32915FCC5E6}"/>
              </a:ext>
            </a:extLst>
          </p:cNvPr>
          <p:cNvSpPr>
            <a:spLocks noGrp="1"/>
          </p:cNvSpPr>
          <p:nvPr/>
        </p:nvSpPr>
        <p:spPr>
          <a:xfrm>
            <a:off x="7905750" y="22479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ESTIMATOR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96841E-332F-4A9D-BD3F-6BB36C6B3EED}"/>
              </a:ext>
            </a:extLst>
          </p:cNvPr>
          <p:cNvSpPr>
            <a:spLocks noGrp="1"/>
          </p:cNvSpPr>
          <p:nvPr/>
        </p:nvSpPr>
        <p:spPr>
          <a:xfrm>
            <a:off x="7886700" y="2571750"/>
            <a:ext cx="1276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662" lnSpcReduction="10000"/>
          </a:bodyPr>
          <a:lstStyle/>
          <a:p>
            <a:pPr algn="ctr">
              <a:defRPr sz="127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probability score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E480D4C-FB44-4759-9C9F-5E3341D0437E}"/>
              </a:ext>
            </a:extLst>
          </p:cNvPr>
          <p:cNvSpPr>
            <a:spLocks noGrp="1"/>
          </p:cNvSpPr>
          <p:nvPr/>
        </p:nvSpPr>
        <p:spPr>
          <a:xfrm>
            <a:off x="9277350" y="2381250"/>
            <a:ext cx="333375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875" b="1" i="0">
                <a:solidFill>
                  <a:srgbClr val="C9C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 i="0">
                <a:solidFill>
                  <a:srgbClr val="C9CDD3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2DF7F5A-2D27-4819-9A0F-82A2D4F75CA2}"/>
              </a:ext>
            </a:extLst>
          </p:cNvPr>
          <p:cNvSpPr>
            <a:spLocks noGrp="1"/>
          </p:cNvSpPr>
          <p:nvPr/>
        </p:nvSpPr>
        <p:spPr>
          <a:xfrm>
            <a:off x="9610725" y="2076450"/>
            <a:ext cx="1466850" cy="99060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CA32171-B0A2-4F95-AE77-B18A329342AE}"/>
              </a:ext>
            </a:extLst>
          </p:cNvPr>
          <p:cNvSpPr>
            <a:spLocks noGrp="1"/>
          </p:cNvSpPr>
          <p:nvPr/>
        </p:nvSpPr>
        <p:spPr>
          <a:xfrm>
            <a:off x="9725025" y="2247900"/>
            <a:ext cx="12382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RANK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7AEA17D-258A-4B66-A3CC-0CE8D499744E}"/>
              </a:ext>
            </a:extLst>
          </p:cNvPr>
          <p:cNvSpPr>
            <a:spLocks noGrp="1"/>
          </p:cNvSpPr>
          <p:nvPr/>
        </p:nvSpPr>
        <p:spPr>
          <a:xfrm>
            <a:off x="9705975" y="2571750"/>
            <a:ext cx="1276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7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top-k queue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97B2C32-044C-406C-A9C1-F0A12F73681A}"/>
              </a:ext>
            </a:extLst>
          </p:cNvPr>
          <p:cNvSpPr>
            <a:spLocks noGrp="1"/>
          </p:cNvSpPr>
          <p:nvPr/>
        </p:nvSpPr>
        <p:spPr>
          <a:xfrm>
            <a:off x="514350" y="3638550"/>
            <a:ext cx="5048250" cy="1123950"/>
          </a:xfrm>
          <a:prstGeom prst="rect">
            <a:avLst/>
          </a:prstGeom>
          <a:solidFill>
            <a:srgbClr val="F0F7FD"/>
          </a:solidFill>
          <a:ln w="0">
            <a:noFill/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D9B7AC4-81A5-4F69-BBC4-DBC5418ABF8A}"/>
              </a:ext>
            </a:extLst>
          </p:cNvPr>
          <p:cNvSpPr>
            <a:spLocks noGrp="1"/>
          </p:cNvSpPr>
          <p:nvPr/>
        </p:nvSpPr>
        <p:spPr>
          <a:xfrm>
            <a:off x="514350" y="3638550"/>
            <a:ext cx="66675" cy="1123950"/>
          </a:xfrm>
          <a:prstGeom prst="rect">
            <a:avLst/>
          </a:prstGeom>
          <a:solidFill>
            <a:srgbClr val="1877D2"/>
          </a:solidFill>
          <a:ln w="0">
            <a:solidFill>
              <a:srgbClr val="1877D2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6B9FF77-67D6-4125-88CA-359C3F88AB67}"/>
              </a:ext>
            </a:extLst>
          </p:cNvPr>
          <p:cNvSpPr>
            <a:spLocks noGrp="1"/>
          </p:cNvSpPr>
          <p:nvPr/>
        </p:nvSpPr>
        <p:spPr>
          <a:xfrm>
            <a:off x="704850" y="3781425"/>
            <a:ext cx="470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COMMON COMPARISON PIPELINE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9A00A83-9941-4144-8C9C-1240E4A4C422}"/>
              </a:ext>
            </a:extLst>
          </p:cNvPr>
          <p:cNvSpPr>
            <a:spLocks noGrp="1"/>
          </p:cNvSpPr>
          <p:nvPr/>
        </p:nvSpPr>
        <p:spPr>
          <a:xfrm>
            <a:off x="704850" y="4086225"/>
            <a:ext cx="4705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Numeric: median imputation + scaling. Categories: one-hot encoding with unknown-category handling.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11CE3DD-AC33-4A11-AE84-0B8DDEF57F1D}"/>
              </a:ext>
            </a:extLst>
          </p:cNvPr>
          <p:cNvSpPr>
            <a:spLocks noGrp="1"/>
          </p:cNvSpPr>
          <p:nvPr/>
        </p:nvSpPr>
        <p:spPr>
          <a:xfrm>
            <a:off x="5867400" y="3638550"/>
            <a:ext cx="5048250" cy="1123950"/>
          </a:xfrm>
          <a:prstGeom prst="rect">
            <a:avLst/>
          </a:prstGeom>
          <a:solidFill>
            <a:srgbClr val="DDF3EB"/>
          </a:solidFill>
          <a:ln w="0">
            <a:noFill/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462B66E-5221-4490-8A03-109C164EA2E3}"/>
              </a:ext>
            </a:extLst>
          </p:cNvPr>
          <p:cNvSpPr>
            <a:spLocks noGrp="1"/>
          </p:cNvSpPr>
          <p:nvPr/>
        </p:nvSpPr>
        <p:spPr>
          <a:xfrm>
            <a:off x="5867400" y="3638550"/>
            <a:ext cx="66675" cy="1123950"/>
          </a:xfrm>
          <a:prstGeom prst="rect">
            <a:avLst/>
          </a:prstGeom>
          <a:solidFill>
            <a:srgbClr val="178A63"/>
          </a:solidFill>
          <a:ln w="0">
            <a:solidFill>
              <a:srgbClr val="178A63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05BDB1D-0E20-48E1-B899-A98E9B6C18C9}"/>
              </a:ext>
            </a:extLst>
          </p:cNvPr>
          <p:cNvSpPr>
            <a:spLocks noGrp="1"/>
          </p:cNvSpPr>
          <p:nvPr/>
        </p:nvSpPr>
        <p:spPr>
          <a:xfrm>
            <a:off x="6057900" y="3781425"/>
            <a:ext cx="4705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rPr>
              <a:t>FINAL LIGHTGBM PIPELINE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7B5BDAC-016E-4550-9BD2-42C46E34199F}"/>
              </a:ext>
            </a:extLst>
          </p:cNvPr>
          <p:cNvSpPr>
            <a:spLocks noGrp="1"/>
          </p:cNvSpPr>
          <p:nvPr/>
        </p:nvSpPr>
        <p:spPr>
          <a:xfrm>
            <a:off x="6057900" y="4086225"/>
            <a:ext cx="47053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Numeric: median imputation + scaling. Categories: native categorical handling; no dummy columns.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877F795-6193-4DDF-B2B3-90AC8DE619D2}"/>
              </a:ext>
            </a:extLst>
          </p:cNvPr>
          <p:cNvSpPr>
            <a:spLocks noGrp="1"/>
          </p:cNvSpPr>
          <p:nvPr/>
        </p:nvSpPr>
        <p:spPr>
          <a:xfrm>
            <a:off x="514350" y="5067300"/>
            <a:ext cx="10401300" cy="8191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C74A7C8-390D-449A-B9D5-EDCD785FAC65}"/>
              </a:ext>
            </a:extLst>
          </p:cNvPr>
          <p:cNvSpPr>
            <a:spLocks noGrp="1"/>
          </p:cNvSpPr>
          <p:nvPr/>
        </p:nvSpPr>
        <p:spPr>
          <a:xfrm>
            <a:off x="514350" y="5067300"/>
            <a:ext cx="66675" cy="819150"/>
          </a:xfrm>
          <a:prstGeom prst="rect">
            <a:avLst/>
          </a:prstGeom>
          <a:solidFill>
            <a:srgbClr val="101114"/>
          </a:solidFill>
          <a:ln w="0">
            <a:solidFill>
              <a:srgbClr val="101114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D60B538-F5EC-4B74-956A-4624E73E45A8}"/>
              </a:ext>
            </a:extLst>
          </p:cNvPr>
          <p:cNvSpPr>
            <a:spLocks noGrp="1"/>
          </p:cNvSpPr>
          <p:nvPr/>
        </p:nvSpPr>
        <p:spPr>
          <a:xfrm>
            <a:off x="704850" y="5210175"/>
            <a:ext cx="1005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REUSABLE FEATURE CREATION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83CC1D91-794C-4D59-A59A-AA5BACB671A1}"/>
              </a:ext>
            </a:extLst>
          </p:cNvPr>
          <p:cNvSpPr>
            <a:spLocks noGrp="1"/>
          </p:cNvSpPr>
          <p:nvPr/>
        </p:nvSpPr>
        <p:spPr>
          <a:xfrm>
            <a:off x="704850" y="5514975"/>
            <a:ext cx="10058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Applies the same client-feature calculations to future raw data. It does not contain the fitted fraud estimator.</a:t>
            </a:r>
          </a:p>
        </p:txBody>
      </p:sp>
    </p:spTree>
    <p:extLst>
      <p:ext uri="{BB962C8B-B14F-4D97-AF65-F5344CB8AC3E}">
        <p14:creationId xmlns:p14="http://schemas.microsoft.com/office/powerpoint/2010/main" val="21132564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BEFB7F7-8A6B-4803-9FD8-ACCB769AB80C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MODEL 1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899803-784C-4F64-9324-C4587D0B26DC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1096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Baseline model and results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EDD9A88-3C0F-49E5-837D-8DD0D0FD4643}"/>
              </a:ext>
            </a:extLst>
          </p:cNvPr>
          <p:cNvSpPr>
            <a:spLocks noGrp="1"/>
          </p:cNvSpPr>
          <p:nvPr/>
        </p:nvSpPr>
        <p:spPr>
          <a:xfrm>
            <a:off x="514350" y="1181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81855A5-30A5-4028-8748-B065C18DBDB4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04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A simple linear classifier proves the feature contract contains signal.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51BE28-72CE-4756-A410-A9627968B1F2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834BBC-1F64-46C2-B19D-A92B791414B0}"/>
              </a:ext>
            </a:extLst>
          </p:cNvPr>
          <p:cNvSpPr>
            <a:spLocks noGrp="1"/>
          </p:cNvSpPr>
          <p:nvPr/>
        </p:nvSpPr>
        <p:spPr>
          <a:xfrm>
            <a:off x="514350" y="6591300"/>
            <a:ext cx="3714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ROY + SEAN · FRAUD DETECTION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6A64C9-2538-4B84-B79C-D53CB164CE70}"/>
              </a:ext>
            </a:extLst>
          </p:cNvPr>
          <p:cNvSpPr>
            <a:spLocks noGrp="1"/>
          </p:cNvSpPr>
          <p:nvPr/>
        </p:nvSpPr>
        <p:spPr>
          <a:xfrm>
            <a:off x="1112520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="514350" y="1981200"/>
          <a:ext cx="6191250" cy="3619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824D685D-6B45-4CF9-8C32-A2CBF63F55A5}"/>
              </a:ext>
            </a:extLst>
          </p:cNvPr>
          <p:cNvSpPr>
            <a:spLocks noGrp="1"/>
          </p:cNvSpPr>
          <p:nvPr/>
        </p:nvSpPr>
        <p:spPr>
          <a:xfrm>
            <a:off x="7239000" y="2095500"/>
            <a:ext cx="3333750" cy="10096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FAC22D-6006-4366-8BC7-8B042212EC61}"/>
              </a:ext>
            </a:extLst>
          </p:cNvPr>
          <p:cNvSpPr>
            <a:spLocks noGrp="1"/>
          </p:cNvSpPr>
          <p:nvPr/>
        </p:nvSpPr>
        <p:spPr>
          <a:xfrm>
            <a:off x="7410450" y="2228850"/>
            <a:ext cx="2990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DUMMY PR-AUC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E42AD9-98BF-4268-83D6-4BB02F983D15}"/>
              </a:ext>
            </a:extLst>
          </p:cNvPr>
          <p:cNvSpPr>
            <a:spLocks noGrp="1"/>
          </p:cNvSpPr>
          <p:nvPr/>
        </p:nvSpPr>
        <p:spPr>
          <a:xfrm>
            <a:off x="7410450" y="2495550"/>
            <a:ext cx="2990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2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0.056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E0EA9E-24AA-4698-A40E-A9C56BC532FD}"/>
              </a:ext>
            </a:extLst>
          </p:cNvPr>
          <p:cNvSpPr>
            <a:spLocks noGrp="1"/>
          </p:cNvSpPr>
          <p:nvPr/>
        </p:nvSpPr>
        <p:spPr>
          <a:xfrm>
            <a:off x="7239000" y="3314700"/>
            <a:ext cx="3333750" cy="1009650"/>
          </a:xfrm>
          <a:prstGeom prst="rect">
            <a:avLst/>
          </a:prstGeom>
          <a:solidFill>
            <a:srgbClr val="DDEEFF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13C6EB-F4F4-4455-B7C3-A7EE16F80800}"/>
              </a:ext>
            </a:extLst>
          </p:cNvPr>
          <p:cNvSpPr>
            <a:spLocks noGrp="1"/>
          </p:cNvSpPr>
          <p:nvPr/>
        </p:nvSpPr>
        <p:spPr>
          <a:xfrm>
            <a:off x="7410450" y="3448050"/>
            <a:ext cx="2990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LOGISTIC PR-AUC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99D726-6862-4CA0-9105-8B5FDD2BEF1B}"/>
              </a:ext>
            </a:extLst>
          </p:cNvPr>
          <p:cNvSpPr>
            <a:spLocks noGrp="1"/>
          </p:cNvSpPr>
          <p:nvPr/>
        </p:nvSpPr>
        <p:spPr>
          <a:xfrm>
            <a:off x="7410450" y="3714750"/>
            <a:ext cx="2990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2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0.170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1B43DF1-322A-41DF-8BC4-FDE026B86E45}"/>
              </a:ext>
            </a:extLst>
          </p:cNvPr>
          <p:cNvSpPr>
            <a:spLocks noGrp="1"/>
          </p:cNvSpPr>
          <p:nvPr/>
        </p:nvSpPr>
        <p:spPr>
          <a:xfrm>
            <a:off x="7239000" y="4533900"/>
            <a:ext cx="3333750" cy="1009650"/>
          </a:xfrm>
          <a:prstGeom prst="rect">
            <a:avLst/>
          </a:prstGeom>
          <a:solidFill>
            <a:srgbClr val="DDF3EB"/>
          </a:solidFill>
          <a:ln w="0">
            <a:noFill/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694D7EB-2D09-41D3-A169-2896C6B38B95}"/>
              </a:ext>
            </a:extLst>
          </p:cNvPr>
          <p:cNvSpPr>
            <a:spLocks noGrp="1"/>
          </p:cNvSpPr>
          <p:nvPr/>
        </p:nvSpPr>
        <p:spPr>
          <a:xfrm>
            <a:off x="7410450" y="4667250"/>
            <a:ext cx="2990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LOGISTIC ROC-AUC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55F225-55A7-40FA-9A52-AA93C950DAE4}"/>
              </a:ext>
            </a:extLst>
          </p:cNvPr>
          <p:cNvSpPr>
            <a:spLocks noGrp="1"/>
          </p:cNvSpPr>
          <p:nvPr/>
        </p:nvSpPr>
        <p:spPr>
          <a:xfrm>
            <a:off x="7410450" y="4933950"/>
            <a:ext cx="29908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250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rPr>
              <a:t>0.795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4A09357-9917-40B4-85AD-B83A53FA8BA3}"/>
              </a:ext>
            </a:extLst>
          </p:cNvPr>
          <p:cNvSpPr>
            <a:spLocks noGrp="1"/>
          </p:cNvSpPr>
          <p:nvPr/>
        </p:nvSpPr>
        <p:spPr>
          <a:xfrm>
            <a:off x="514350" y="5734050"/>
            <a:ext cx="619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Chart: PR-AUC (%)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7C3C060-3A5A-4C11-8DE6-FC6719818A5B}"/>
              </a:ext>
            </a:extLst>
          </p:cNvPr>
          <p:cNvSpPr>
            <a:spLocks noGrp="1"/>
          </p:cNvSpPr>
          <p:nvPr/>
        </p:nvSpPr>
        <p:spPr>
          <a:xfrm>
            <a:off x="7239000" y="5791200"/>
            <a:ext cx="3333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≈3× PR-AUC lift over prevalence</a:t>
            </a:r>
          </a:p>
        </p:txBody>
      </p:sp>
    </p:spTree>
    <p:extLst>
      <p:ext uri="{BB962C8B-B14F-4D97-AF65-F5344CB8AC3E}">
        <p14:creationId xmlns:p14="http://schemas.microsoft.com/office/powerpoint/2010/main" val="1879198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72D3B364-2A9A-4B3A-A9DD-1816809843EC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MODEL COMPARISON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B4B329-118D-4535-AC4A-4D51B10155A0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1096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Model extensions and results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0CE36A-D52C-4E29-9251-9B0DD9541672}"/>
              </a:ext>
            </a:extLst>
          </p:cNvPr>
          <p:cNvSpPr>
            <a:spLocks noGrp="1"/>
          </p:cNvSpPr>
          <p:nvPr/>
        </p:nvSpPr>
        <p:spPr>
          <a:xfrm>
            <a:off x="514350" y="1181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5B1530-D9E7-47CE-A5E5-495C4754FB07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04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 dirty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Same inputs and folds</a:t>
            </a:r>
            <a:r>
              <a:rPr lang="de-DE" sz="1275" b="0" i="0" dirty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, o</a:t>
            </a:r>
            <a:r>
              <a:rPr sz="1275" b="0" i="0" dirty="0" err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nly</a:t>
            </a:r>
            <a:r>
              <a:rPr sz="1275" b="0" i="0" dirty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 the model family changes.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2EA046-9D97-4B64-ADE1-3AA91F181722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A084DD-04A8-4946-8DAA-EA71ADB217A0}"/>
              </a:ext>
            </a:extLst>
          </p:cNvPr>
          <p:cNvSpPr>
            <a:spLocks noGrp="1"/>
          </p:cNvSpPr>
          <p:nvPr/>
        </p:nvSpPr>
        <p:spPr>
          <a:xfrm>
            <a:off x="514350" y="6591300"/>
            <a:ext cx="3714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ROY + SEAN · FRAUD DETECTION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10A641-B639-4ACC-AAF3-E8AEC6B8DE28}"/>
              </a:ext>
            </a:extLst>
          </p:cNvPr>
          <p:cNvSpPr>
            <a:spLocks noGrp="1"/>
          </p:cNvSpPr>
          <p:nvPr/>
        </p:nvSpPr>
        <p:spPr>
          <a:xfrm>
            <a:off x="1112520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="514350" y="1924050"/>
          <a:ext cx="7858125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2B8F5CDC-057B-4C27-BFD3-C3000CF8F846}"/>
              </a:ext>
            </a:extLst>
          </p:cNvPr>
          <p:cNvSpPr>
            <a:spLocks noGrp="1"/>
          </p:cNvSpPr>
          <p:nvPr/>
        </p:nvSpPr>
        <p:spPr>
          <a:xfrm>
            <a:off x="8763000" y="2133600"/>
            <a:ext cx="2152650" cy="1390650"/>
          </a:xfrm>
          <a:prstGeom prst="rect">
            <a:avLst/>
          </a:prstGeom>
          <a:solidFill>
            <a:srgbClr val="DDEEFF"/>
          </a:solidFill>
          <a:ln w="0">
            <a:noFill/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5A63F76-6AD6-44D5-B021-C483F65FF139}"/>
              </a:ext>
            </a:extLst>
          </p:cNvPr>
          <p:cNvSpPr>
            <a:spLocks noGrp="1"/>
          </p:cNvSpPr>
          <p:nvPr/>
        </p:nvSpPr>
        <p:spPr>
          <a:xfrm>
            <a:off x="8763000" y="2133600"/>
            <a:ext cx="66675" cy="1390650"/>
          </a:xfrm>
          <a:prstGeom prst="rect">
            <a:avLst/>
          </a:prstGeom>
          <a:solidFill>
            <a:srgbClr val="1877D2"/>
          </a:solidFill>
          <a:ln w="0">
            <a:solidFill>
              <a:srgbClr val="1877D2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C58C52-5989-42B7-896A-C1D391235AA7}"/>
              </a:ext>
            </a:extLst>
          </p:cNvPr>
          <p:cNvSpPr>
            <a:spLocks noGrp="1"/>
          </p:cNvSpPr>
          <p:nvPr/>
        </p:nvSpPr>
        <p:spPr>
          <a:xfrm>
            <a:off x="8953500" y="2276475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WINNER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29A314-1226-4633-83FB-73FDF754C6A9}"/>
              </a:ext>
            </a:extLst>
          </p:cNvPr>
          <p:cNvSpPr>
            <a:spLocks noGrp="1"/>
          </p:cNvSpPr>
          <p:nvPr/>
        </p:nvSpPr>
        <p:spPr>
          <a:xfrm>
            <a:off x="8953500" y="2581275"/>
            <a:ext cx="180975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LightGBM</a:t>
            </a:r>
          </a:p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PR-AUC 0.247</a:t>
            </a:r>
          </a:p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ROC-AUC 0.831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7E93A4-9A6A-4E78-A077-CCEE53603B1C}"/>
              </a:ext>
            </a:extLst>
          </p:cNvPr>
          <p:cNvSpPr>
            <a:spLocks noGrp="1"/>
          </p:cNvSpPr>
          <p:nvPr/>
        </p:nvSpPr>
        <p:spPr>
          <a:xfrm>
            <a:off x="8763000" y="3781425"/>
            <a:ext cx="2152650" cy="1257300"/>
          </a:xfrm>
          <a:prstGeom prst="rect">
            <a:avLst/>
          </a:prstGeom>
          <a:solidFill>
            <a:srgbClr val="DDF3EB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DBC81E9-E74A-42E2-A5EF-51740AA5C596}"/>
              </a:ext>
            </a:extLst>
          </p:cNvPr>
          <p:cNvSpPr>
            <a:spLocks noGrp="1"/>
          </p:cNvSpPr>
          <p:nvPr/>
        </p:nvSpPr>
        <p:spPr>
          <a:xfrm>
            <a:off x="8763000" y="3781425"/>
            <a:ext cx="66675" cy="1257300"/>
          </a:xfrm>
          <a:prstGeom prst="rect">
            <a:avLst/>
          </a:prstGeom>
          <a:solidFill>
            <a:srgbClr val="178A63"/>
          </a:solidFill>
          <a:ln w="0">
            <a:solidFill>
              <a:srgbClr val="178A63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304A28D-1AA0-452F-8612-37AA95FF4A11}"/>
              </a:ext>
            </a:extLst>
          </p:cNvPr>
          <p:cNvSpPr>
            <a:spLocks noGrp="1"/>
          </p:cNvSpPr>
          <p:nvPr/>
        </p:nvSpPr>
        <p:spPr>
          <a:xfrm>
            <a:off x="8953500" y="39243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rPr>
              <a:t>WHY IT WINS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38C7CB-E7B9-49F0-A0D7-54F50DFDFDC0}"/>
              </a:ext>
            </a:extLst>
          </p:cNvPr>
          <p:cNvSpPr>
            <a:spLocks noGrp="1"/>
          </p:cNvSpPr>
          <p:nvPr/>
        </p:nvSpPr>
        <p:spPr>
          <a:xfrm>
            <a:off x="8953500" y="4229100"/>
            <a:ext cx="180975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121"/>
          </a:bodyPr>
          <a:lstStyle/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Non-linear splits capture interactions that the linear baseline cannot express.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C662395-6105-460B-A74F-3669E217FDB1}"/>
              </a:ext>
            </a:extLst>
          </p:cNvPr>
          <p:cNvSpPr>
            <a:spLocks noGrp="1"/>
          </p:cNvSpPr>
          <p:nvPr/>
        </p:nvSpPr>
        <p:spPr>
          <a:xfrm>
            <a:off x="514350" y="5905500"/>
            <a:ext cx="785812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12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Chart: PR-AUC (%)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B75F385-A793-4EDB-B7E2-4824C816E2A2}"/>
              </a:ext>
            </a:extLst>
          </p:cNvPr>
          <p:cNvSpPr>
            <a:spLocks noGrp="1"/>
          </p:cNvSpPr>
          <p:nvPr/>
        </p:nvSpPr>
        <p:spPr>
          <a:xfrm>
            <a:off x="8763000" y="5372100"/>
            <a:ext cx="21526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50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Tuning budget goes to LightGBM</a:t>
            </a:r>
          </a:p>
        </p:txBody>
      </p:sp>
    </p:spTree>
    <p:extLst>
      <p:ext uri="{BB962C8B-B14F-4D97-AF65-F5344CB8AC3E}">
        <p14:creationId xmlns:p14="http://schemas.microsoft.com/office/powerpoint/2010/main" val="1979206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041B2C1-8EC7-4E28-BFAA-826EF919957E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ERROR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50839E-51E7-47CC-B0F5-536363C7AE71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1096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Error analysis: where the models fail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5B645D-E0B3-4D8B-A986-F6853BBF079F}"/>
              </a:ext>
            </a:extLst>
          </p:cNvPr>
          <p:cNvSpPr>
            <a:spLocks noGrp="1"/>
          </p:cNvSpPr>
          <p:nvPr/>
        </p:nvSpPr>
        <p:spPr>
          <a:xfrm>
            <a:off x="514350" y="1181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E67AA1-58AC-488E-9F2D-A83CEF2A1503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04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 dirty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Model agreement exposes a shared blind spot</a:t>
            </a:r>
            <a:r>
              <a:rPr lang="de-DE" sz="1275" b="0" i="0" dirty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. H</a:t>
            </a:r>
            <a:r>
              <a:rPr sz="1275" b="0" i="0" dirty="0" err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oldout</a:t>
            </a:r>
            <a:r>
              <a:rPr sz="1275" b="0" i="0" dirty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 segments show where it persists.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FD651B-C74C-44B2-88FF-303622F9942B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7D7F7A7-4B4D-44D9-BF34-C4A748248395}"/>
              </a:ext>
            </a:extLst>
          </p:cNvPr>
          <p:cNvSpPr>
            <a:spLocks noGrp="1"/>
          </p:cNvSpPr>
          <p:nvPr/>
        </p:nvSpPr>
        <p:spPr>
          <a:xfrm>
            <a:off x="514350" y="6591300"/>
            <a:ext cx="3714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ROY + SEAN · FRAUD DETECTION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F5996F-25CD-4246-A006-FBF282084817}"/>
              </a:ext>
            </a:extLst>
          </p:cNvPr>
          <p:cNvSpPr>
            <a:spLocks noGrp="1"/>
          </p:cNvSpPr>
          <p:nvPr/>
        </p:nvSpPr>
        <p:spPr>
          <a:xfrm>
            <a:off x="1112520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63C5EA-A51A-48EB-B3A9-8B738BD056CF}"/>
              </a:ext>
            </a:extLst>
          </p:cNvPr>
          <p:cNvSpPr>
            <a:spLocks noGrp="1"/>
          </p:cNvSpPr>
          <p:nvPr/>
        </p:nvSpPr>
        <p:spPr>
          <a:xfrm>
            <a:off x="514350" y="17907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Fraud clients by model agreement</a:t>
            </a:r>
          </a:p>
        </p:txBody>
      </p:sp>
      <p:graphicFrame>
        <p:nvGraphicFramePr>
          <p:cNvPr id="26" name="Chart"/>
          <p:cNvGraphicFramePr/>
          <p:nvPr/>
        </p:nvGraphicFramePr>
        <p:xfrm>
          <a:off x="514350" y="2095500"/>
          <a:ext cx="495300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B3B1E037-AFCB-4584-AB82-46BD6E76B713}"/>
              </a:ext>
            </a:extLst>
          </p:cNvPr>
          <p:cNvSpPr>
            <a:spLocks noGrp="1"/>
          </p:cNvSpPr>
          <p:nvPr/>
        </p:nvSpPr>
        <p:spPr>
          <a:xfrm>
            <a:off x="514350" y="51816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rPr>
              <a:t>3,248 unanimous misses = 42.9% of all fraud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F522C8-F2E6-4227-A93A-E857EC749315}"/>
              </a:ext>
            </a:extLst>
          </p:cNvPr>
          <p:cNvSpPr>
            <a:spLocks noGrp="1"/>
          </p:cNvSpPr>
          <p:nvPr/>
        </p:nvSpPr>
        <p:spPr>
          <a:xfrm>
            <a:off x="5962650" y="1790700"/>
            <a:ext cx="495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3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Holdout recall@10% by invoice history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="5962650" y="2095500"/>
          <a:ext cx="4953000" cy="2952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C7E50783-0426-4A80-8D39-B38AD6A04EAC}"/>
              </a:ext>
            </a:extLst>
          </p:cNvPr>
          <p:cNvSpPr>
            <a:spLocks noGrp="1"/>
          </p:cNvSpPr>
          <p:nvPr/>
        </p:nvSpPr>
        <p:spPr>
          <a:xfrm>
            <a:off x="5962650" y="5181600"/>
            <a:ext cx="4953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42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5.6% recall in Q1 → 55.9% in Q5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030B74-CC04-4732-AF52-B3372135F8E6}"/>
              </a:ext>
            </a:extLst>
          </p:cNvPr>
          <p:cNvSpPr>
            <a:spLocks noGrp="1"/>
          </p:cNvSpPr>
          <p:nvPr/>
        </p:nvSpPr>
        <p:spPr>
          <a:xfrm>
            <a:off x="514350" y="5524500"/>
            <a:ext cx="10401300" cy="83820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E5680A-771A-42D2-A520-D1B816010E5D}"/>
              </a:ext>
            </a:extLst>
          </p:cNvPr>
          <p:cNvSpPr>
            <a:spLocks noGrp="1"/>
          </p:cNvSpPr>
          <p:nvPr/>
        </p:nvSpPr>
        <p:spPr>
          <a:xfrm>
            <a:off x="514350" y="5524500"/>
            <a:ext cx="66675" cy="838200"/>
          </a:xfrm>
          <a:prstGeom prst="rect">
            <a:avLst/>
          </a:prstGeom>
          <a:solidFill>
            <a:srgbClr val="101114"/>
          </a:solidFill>
          <a:ln w="0">
            <a:solidFill>
              <a:srgbClr val="101114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DA48F6-8AC8-462B-9743-B7983F118459}"/>
              </a:ext>
            </a:extLst>
          </p:cNvPr>
          <p:cNvSpPr>
            <a:spLocks noGrp="1"/>
          </p:cNvSpPr>
          <p:nvPr/>
        </p:nvSpPr>
        <p:spPr>
          <a:xfrm>
            <a:off x="704850" y="5667375"/>
            <a:ext cx="10058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INTERPRETATION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4ECDB0-BA46-47F4-8F08-3B8C8444FABA}"/>
              </a:ext>
            </a:extLst>
          </p:cNvPr>
          <p:cNvSpPr>
            <a:spLocks noGrp="1"/>
          </p:cNvSpPr>
          <p:nvPr/>
        </p:nvSpPr>
        <p:spPr>
          <a:xfrm>
            <a:off x="704850" y="5972175"/>
            <a:ext cx="100584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 dirty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Shared misses point to missing information in the feature contract</a:t>
            </a:r>
            <a:r>
              <a:rPr lang="de-DE" sz="1275" b="0" i="0" dirty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.</a:t>
            </a:r>
            <a:endParaRPr sz="1275" b="0" i="0" dirty="0">
              <a:solidFill>
                <a:srgbClr val="101114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6791744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302C605-5948-4CA9-91EC-F631726833B3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FINAL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5BCBDEA-9DDA-4751-B752-0556F95A40D8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1096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Final tuned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342C6D-EFBD-47E3-B3D5-DE31B6D5A33C}"/>
              </a:ext>
            </a:extLst>
          </p:cNvPr>
          <p:cNvSpPr>
            <a:spLocks noGrp="1"/>
          </p:cNvSpPr>
          <p:nvPr/>
        </p:nvSpPr>
        <p:spPr>
          <a:xfrm>
            <a:off x="514350" y="1181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BF1254-C7DB-4539-8BA3-04EAC34665F1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04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 dirty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Tuning produced a modest gain</a:t>
            </a:r>
            <a:r>
              <a:rPr lang="de-DE" sz="1275" b="0" i="0" dirty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,</a:t>
            </a:r>
            <a:r>
              <a:rPr sz="1275" b="0" i="0" dirty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 evidence rejected the ensemble.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3373D0-CCD4-4307-BB6B-E0A6B3DD70A8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E8F991-DCEE-43A7-BDDD-994524AD31DA}"/>
              </a:ext>
            </a:extLst>
          </p:cNvPr>
          <p:cNvSpPr>
            <a:spLocks noGrp="1"/>
          </p:cNvSpPr>
          <p:nvPr/>
        </p:nvSpPr>
        <p:spPr>
          <a:xfrm>
            <a:off x="514350" y="6591300"/>
            <a:ext cx="3714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ROY + SEAN · FRAUD DETECTION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834470-DDD7-4DE4-9672-38EAC4B059E3}"/>
              </a:ext>
            </a:extLst>
          </p:cNvPr>
          <p:cNvSpPr>
            <a:spLocks noGrp="1"/>
          </p:cNvSpPr>
          <p:nvPr/>
        </p:nvSpPr>
        <p:spPr>
          <a:xfrm>
            <a:off x="1112520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="514350" y="2076450"/>
          <a:ext cx="619125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8B674136-2E72-43CF-87B4-BE5396A7FCF9}"/>
              </a:ext>
            </a:extLst>
          </p:cNvPr>
          <p:cNvSpPr>
            <a:spLocks noGrp="1"/>
          </p:cNvSpPr>
          <p:nvPr/>
        </p:nvSpPr>
        <p:spPr>
          <a:xfrm>
            <a:off x="514350" y="5391150"/>
            <a:ext cx="6191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defRPr sz="12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Average precision (%)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4B806D9-C8C6-4967-BFAA-552AB9E6A8F5}"/>
              </a:ext>
            </a:extLst>
          </p:cNvPr>
          <p:cNvSpPr>
            <a:spLocks noGrp="1"/>
          </p:cNvSpPr>
          <p:nvPr/>
        </p:nvSpPr>
        <p:spPr>
          <a:xfrm>
            <a:off x="7239000" y="2152650"/>
            <a:ext cx="3333750" cy="1047750"/>
          </a:xfrm>
          <a:prstGeom prst="rect">
            <a:avLst/>
          </a:prstGeom>
          <a:solidFill>
            <a:srgbClr val="DDEEFF"/>
          </a:solidFill>
          <a:ln w="0">
            <a:noFill/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ADB78A-5566-4885-819A-347DA23EDAA0}"/>
              </a:ext>
            </a:extLst>
          </p:cNvPr>
          <p:cNvSpPr>
            <a:spLocks noGrp="1"/>
          </p:cNvSpPr>
          <p:nvPr/>
        </p:nvSpPr>
        <p:spPr>
          <a:xfrm>
            <a:off x="7410450" y="2286000"/>
            <a:ext cx="2990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FINAL HOLDOUT PR-AUC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9EBDF9-0B45-4A2E-937C-D09BC4CB9B0F}"/>
              </a:ext>
            </a:extLst>
          </p:cNvPr>
          <p:cNvSpPr>
            <a:spLocks noGrp="1"/>
          </p:cNvSpPr>
          <p:nvPr/>
        </p:nvSpPr>
        <p:spPr>
          <a:xfrm>
            <a:off x="7410450" y="2552700"/>
            <a:ext cx="29908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2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0.2647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97EE195-4BB6-4856-BCED-70FB47C87107}"/>
              </a:ext>
            </a:extLst>
          </p:cNvPr>
          <p:cNvSpPr>
            <a:spLocks noGrp="1"/>
          </p:cNvSpPr>
          <p:nvPr/>
        </p:nvSpPr>
        <p:spPr>
          <a:xfrm>
            <a:off x="7239000" y="3409950"/>
            <a:ext cx="3333750" cy="1047750"/>
          </a:xfrm>
          <a:prstGeom prst="rect">
            <a:avLst/>
          </a:prstGeom>
          <a:solidFill>
            <a:srgbClr val="DDF3EB"/>
          </a:solidFill>
          <a:ln w="0">
            <a:noFill/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EBB0862-BD04-43F9-9F1C-DAD4213AB43B}"/>
              </a:ext>
            </a:extLst>
          </p:cNvPr>
          <p:cNvSpPr>
            <a:spLocks noGrp="1"/>
          </p:cNvSpPr>
          <p:nvPr/>
        </p:nvSpPr>
        <p:spPr>
          <a:xfrm>
            <a:off x="7410450" y="3543300"/>
            <a:ext cx="29908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FINAL HOLDOUT ROC-AUC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10E370-76D5-484B-9090-731712C145CF}"/>
              </a:ext>
            </a:extLst>
          </p:cNvPr>
          <p:cNvSpPr>
            <a:spLocks noGrp="1"/>
          </p:cNvSpPr>
          <p:nvPr/>
        </p:nvSpPr>
        <p:spPr>
          <a:xfrm>
            <a:off x="7410450" y="3810000"/>
            <a:ext cx="29908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250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rPr>
              <a:t>0.8354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612E72-EA19-435B-AD3A-9AC9C230C46C}"/>
              </a:ext>
            </a:extLst>
          </p:cNvPr>
          <p:cNvSpPr>
            <a:spLocks noGrp="1"/>
          </p:cNvSpPr>
          <p:nvPr/>
        </p:nvSpPr>
        <p:spPr>
          <a:xfrm>
            <a:off x="7239000" y="4686300"/>
            <a:ext cx="3333750" cy="1181100"/>
          </a:xfrm>
          <a:prstGeom prst="rect">
            <a:avLst/>
          </a:prstGeom>
          <a:solidFill>
            <a:srgbClr val="F9DFDF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018C01-474D-4DE6-A612-DA40E24A9537}"/>
              </a:ext>
            </a:extLst>
          </p:cNvPr>
          <p:cNvSpPr>
            <a:spLocks noGrp="1"/>
          </p:cNvSpPr>
          <p:nvPr/>
        </p:nvSpPr>
        <p:spPr>
          <a:xfrm>
            <a:off x="7239000" y="4686300"/>
            <a:ext cx="66675" cy="1181100"/>
          </a:xfrm>
          <a:prstGeom prst="rect">
            <a:avLst/>
          </a:prstGeom>
          <a:solidFill>
            <a:srgbClr val="D62828"/>
          </a:solidFill>
          <a:ln w="0">
            <a:solidFill>
              <a:srgbClr val="D62828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1A7F2C2-D7BB-4708-BC14-23E550F9D6E4}"/>
              </a:ext>
            </a:extLst>
          </p:cNvPr>
          <p:cNvSpPr>
            <a:spLocks noGrp="1"/>
          </p:cNvSpPr>
          <p:nvPr/>
        </p:nvSpPr>
        <p:spPr>
          <a:xfrm>
            <a:off x="7429500" y="4829175"/>
            <a:ext cx="29908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rPr>
              <a:t>MODEL DECISION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73854E-AA46-4096-BD8B-3CC0C2D04A08}"/>
              </a:ext>
            </a:extLst>
          </p:cNvPr>
          <p:cNvSpPr>
            <a:spLocks noGrp="1"/>
          </p:cNvSpPr>
          <p:nvPr/>
        </p:nvSpPr>
        <p:spPr>
          <a:xfrm>
            <a:off x="7429500" y="5133975"/>
            <a:ext cx="29908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350" lnSpcReduction="20000"/>
          </a:bodyPr>
          <a:lstStyle/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Keep tuned LightGBM with native categorical handling. Reject the ensemble: 0.2499 is below 0.2506 and adds complexity.</a:t>
            </a:r>
          </a:p>
        </p:txBody>
      </p:sp>
    </p:spTree>
    <p:extLst>
      <p:ext uri="{BB962C8B-B14F-4D97-AF65-F5344CB8AC3E}">
        <p14:creationId xmlns:p14="http://schemas.microsoft.com/office/powerpoint/2010/main" val="7389060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28E0C26D-7C2C-4C24-B8EB-364149DDF875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OPERATING POINT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77A64DF-3EB4-4309-A008-25857DFF6A83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1096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One illustrative example — not a recommendation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872FDC-B240-4A6F-A937-CA07A0B0B0AD}"/>
              </a:ext>
            </a:extLst>
          </p:cNvPr>
          <p:cNvSpPr>
            <a:spLocks noGrp="1"/>
          </p:cNvSpPr>
          <p:nvPr/>
        </p:nvSpPr>
        <p:spPr>
          <a:xfrm>
            <a:off x="514350" y="1181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9D7955-E072-4C9E-9169-8CF3C4FF5EE7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04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A top-10% threshold makes the trade-off concrete; it is not the chosen production capacity.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1FDAC8E-0302-4C0C-9098-43F3CBAD4718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C90683-D4C0-441C-836E-4690279C1699}"/>
              </a:ext>
            </a:extLst>
          </p:cNvPr>
          <p:cNvSpPr>
            <a:spLocks noGrp="1"/>
          </p:cNvSpPr>
          <p:nvPr/>
        </p:nvSpPr>
        <p:spPr>
          <a:xfrm>
            <a:off x="514350" y="6591300"/>
            <a:ext cx="3714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ROY + SEAN · FRAUD DETECTION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0A0A09-3B92-41BD-AF4E-A27B6548B912}"/>
              </a:ext>
            </a:extLst>
          </p:cNvPr>
          <p:cNvSpPr>
            <a:spLocks noGrp="1"/>
          </p:cNvSpPr>
          <p:nvPr/>
        </p:nvSpPr>
        <p:spPr>
          <a:xfrm>
            <a:off x="1112520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0398D2-3BD9-4ADB-A558-92B2C07DE703}"/>
              </a:ext>
            </a:extLst>
          </p:cNvPr>
          <p:cNvSpPr>
            <a:spLocks noGrp="1"/>
          </p:cNvSpPr>
          <p:nvPr/>
        </p:nvSpPr>
        <p:spPr>
          <a:xfrm>
            <a:off x="514350" y="192405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TOP 10% OF HOLDOUT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BA149F-7C2F-4C39-B8DE-8032E1066584}"/>
              </a:ext>
            </a:extLst>
          </p:cNvPr>
          <p:cNvSpPr>
            <a:spLocks noGrp="1"/>
          </p:cNvSpPr>
          <p:nvPr/>
        </p:nvSpPr>
        <p:spPr>
          <a:xfrm>
            <a:off x="514350" y="2305050"/>
            <a:ext cx="4095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2,710 of 27,099</a:t>
            </a:r>
          </a:p>
          <a:p>
            <a:pPr algn="l">
              <a:defRPr sz="22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clients flagged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DAC1ED-3BCA-4259-860F-F40042A286C9}"/>
              </a:ext>
            </a:extLst>
          </p:cNvPr>
          <p:cNvSpPr>
            <a:spLocks noGrp="1"/>
          </p:cNvSpPr>
          <p:nvPr/>
        </p:nvSpPr>
        <p:spPr>
          <a:xfrm>
            <a:off x="514350" y="358140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rPr>
              <a:t>WHAT THAT MEANS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D2327C-CFD1-4BFC-9870-1DF821D1A417}"/>
              </a:ext>
            </a:extLst>
          </p:cNvPr>
          <p:cNvSpPr>
            <a:spLocks noGrp="1"/>
          </p:cNvSpPr>
          <p:nvPr/>
        </p:nvSpPr>
        <p:spPr>
          <a:xfrm>
            <a:off x="514350" y="3962400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8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702 fraud caught · 811 missed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28ACAD-6F62-4481-B647-1E895848F20B}"/>
              </a:ext>
            </a:extLst>
          </p:cNvPr>
          <p:cNvSpPr>
            <a:spLocks noGrp="1"/>
          </p:cNvSpPr>
          <p:nvPr/>
        </p:nvSpPr>
        <p:spPr>
          <a:xfrm>
            <a:off x="514350" y="4400550"/>
            <a:ext cx="4095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2,008 false alarms · 25.9% precision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447406-7DE8-428E-B774-4758E30C7C07}"/>
              </a:ext>
            </a:extLst>
          </p:cNvPr>
          <p:cNvSpPr>
            <a:spLocks noGrp="1"/>
          </p:cNvSpPr>
          <p:nvPr/>
        </p:nvSpPr>
        <p:spPr>
          <a:xfrm>
            <a:off x="5619750" y="1924050"/>
            <a:ext cx="2381250" cy="1381125"/>
          </a:xfrm>
          <a:prstGeom prst="rect">
            <a:avLst/>
          </a:prstGeom>
          <a:solidFill>
            <a:srgbClr val="DDF3EB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DC9393-684F-49F3-B3CC-21323B7171DB}"/>
              </a:ext>
            </a:extLst>
          </p:cNvPr>
          <p:cNvSpPr>
            <a:spLocks noGrp="1"/>
          </p:cNvSpPr>
          <p:nvPr/>
        </p:nvSpPr>
        <p:spPr>
          <a:xfrm>
            <a:off x="5619750" y="1924050"/>
            <a:ext cx="66675" cy="1381125"/>
          </a:xfrm>
          <a:prstGeom prst="rect">
            <a:avLst/>
          </a:prstGeom>
          <a:solidFill>
            <a:srgbClr val="178A63"/>
          </a:solidFill>
          <a:ln w="0">
            <a:solidFill>
              <a:srgbClr val="178A63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40E36E-2513-4E97-892D-436126384E38}"/>
              </a:ext>
            </a:extLst>
          </p:cNvPr>
          <p:cNvSpPr>
            <a:spLocks noGrp="1"/>
          </p:cNvSpPr>
          <p:nvPr/>
        </p:nvSpPr>
        <p:spPr>
          <a:xfrm>
            <a:off x="5810250" y="2066925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rPr>
              <a:t>ACTUALLY FRAUD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9C40AD-A86F-4B84-BEE0-ABE5E741589C}"/>
              </a:ext>
            </a:extLst>
          </p:cNvPr>
          <p:cNvSpPr>
            <a:spLocks noGrp="1"/>
          </p:cNvSpPr>
          <p:nvPr/>
        </p:nvSpPr>
        <p:spPr>
          <a:xfrm>
            <a:off x="5810250" y="2371725"/>
            <a:ext cx="20383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702</a:t>
            </a:r>
          </a:p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Caught · 46.4% recall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C4FB0E6-C80E-434F-97BD-D15EB89641B9}"/>
              </a:ext>
            </a:extLst>
          </p:cNvPr>
          <p:cNvSpPr>
            <a:spLocks noGrp="1"/>
          </p:cNvSpPr>
          <p:nvPr/>
        </p:nvSpPr>
        <p:spPr>
          <a:xfrm>
            <a:off x="8334375" y="1924050"/>
            <a:ext cx="2381250" cy="1381125"/>
          </a:xfrm>
          <a:prstGeom prst="rect">
            <a:avLst/>
          </a:prstGeom>
          <a:solidFill>
            <a:srgbClr val="F9DFDF"/>
          </a:solidFill>
          <a:ln w="0">
            <a:noFill/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6D1E44-665F-4922-937E-13516A770D00}"/>
              </a:ext>
            </a:extLst>
          </p:cNvPr>
          <p:cNvSpPr>
            <a:spLocks noGrp="1"/>
          </p:cNvSpPr>
          <p:nvPr/>
        </p:nvSpPr>
        <p:spPr>
          <a:xfrm>
            <a:off x="8334375" y="1924050"/>
            <a:ext cx="66675" cy="1381125"/>
          </a:xfrm>
          <a:prstGeom prst="rect">
            <a:avLst/>
          </a:prstGeom>
          <a:solidFill>
            <a:srgbClr val="D62828"/>
          </a:solidFill>
          <a:ln w="0">
            <a:solidFill>
              <a:srgbClr val="D62828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D5FAFCD-ECDD-47CD-845A-576367A43757}"/>
              </a:ext>
            </a:extLst>
          </p:cNvPr>
          <p:cNvSpPr>
            <a:spLocks noGrp="1"/>
          </p:cNvSpPr>
          <p:nvPr/>
        </p:nvSpPr>
        <p:spPr>
          <a:xfrm>
            <a:off x="8524875" y="2066925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rPr>
              <a:t>ACTUALLY NOT FRAUD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B85AC57-9136-4AF8-9CE6-4FD0BD80BF9D}"/>
              </a:ext>
            </a:extLst>
          </p:cNvPr>
          <p:cNvSpPr>
            <a:spLocks noGrp="1"/>
          </p:cNvSpPr>
          <p:nvPr/>
        </p:nvSpPr>
        <p:spPr>
          <a:xfrm>
            <a:off x="8524875" y="2371725"/>
            <a:ext cx="20383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2,008</a:t>
            </a:r>
          </a:p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False alarms · 74.1% of flags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B56B59-29CA-4191-A2FB-E5C3E21FEA05}"/>
              </a:ext>
            </a:extLst>
          </p:cNvPr>
          <p:cNvSpPr>
            <a:spLocks noGrp="1"/>
          </p:cNvSpPr>
          <p:nvPr/>
        </p:nvSpPr>
        <p:spPr>
          <a:xfrm>
            <a:off x="5619750" y="3638550"/>
            <a:ext cx="2381250" cy="1381125"/>
          </a:xfrm>
          <a:prstGeom prst="rect">
            <a:avLst/>
          </a:prstGeom>
          <a:solidFill>
            <a:srgbClr val="F9DFDF"/>
          </a:solidFill>
          <a:ln w="0">
            <a:noFill/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67B7D2-4579-42AE-90BE-42C2146F55EF}"/>
              </a:ext>
            </a:extLst>
          </p:cNvPr>
          <p:cNvSpPr>
            <a:spLocks noGrp="1"/>
          </p:cNvSpPr>
          <p:nvPr/>
        </p:nvSpPr>
        <p:spPr>
          <a:xfrm>
            <a:off x="5619750" y="3638550"/>
            <a:ext cx="66675" cy="1381125"/>
          </a:xfrm>
          <a:prstGeom prst="rect">
            <a:avLst/>
          </a:prstGeom>
          <a:solidFill>
            <a:srgbClr val="D62828"/>
          </a:solidFill>
          <a:ln w="0">
            <a:solidFill>
              <a:srgbClr val="D62828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468E58B-7BA3-4AF0-8D44-80A09263B471}"/>
              </a:ext>
            </a:extLst>
          </p:cNvPr>
          <p:cNvSpPr>
            <a:spLocks noGrp="1"/>
          </p:cNvSpPr>
          <p:nvPr/>
        </p:nvSpPr>
        <p:spPr>
          <a:xfrm>
            <a:off x="5810250" y="3781425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rPr>
              <a:t>ACTUALLY FRAUD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A014273-DBBD-4C23-8DDB-07B0B6BA48E7}"/>
              </a:ext>
            </a:extLst>
          </p:cNvPr>
          <p:cNvSpPr>
            <a:spLocks noGrp="1"/>
          </p:cNvSpPr>
          <p:nvPr/>
        </p:nvSpPr>
        <p:spPr>
          <a:xfrm>
            <a:off x="5810250" y="4086225"/>
            <a:ext cx="20383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811</a:t>
            </a:r>
          </a:p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Missed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257576-1512-464B-A4A1-9BDC5041A9AC}"/>
              </a:ext>
            </a:extLst>
          </p:cNvPr>
          <p:cNvSpPr>
            <a:spLocks noGrp="1"/>
          </p:cNvSpPr>
          <p:nvPr/>
        </p:nvSpPr>
        <p:spPr>
          <a:xfrm>
            <a:off x="8334375" y="3638550"/>
            <a:ext cx="2381250" cy="1381125"/>
          </a:xfrm>
          <a:prstGeom prst="rect">
            <a:avLst/>
          </a:prstGeom>
          <a:solidFill>
            <a:srgbClr val="F0F7FD"/>
          </a:solidFill>
          <a:ln w="0">
            <a:noFill/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0827264-D097-4F1E-88D8-F20FE5A10324}"/>
              </a:ext>
            </a:extLst>
          </p:cNvPr>
          <p:cNvSpPr>
            <a:spLocks noGrp="1"/>
          </p:cNvSpPr>
          <p:nvPr/>
        </p:nvSpPr>
        <p:spPr>
          <a:xfrm>
            <a:off x="8334375" y="3638550"/>
            <a:ext cx="66675" cy="1381125"/>
          </a:xfrm>
          <a:prstGeom prst="rect">
            <a:avLst/>
          </a:prstGeom>
          <a:solidFill>
            <a:srgbClr val="1877D2"/>
          </a:solidFill>
          <a:ln w="0">
            <a:solidFill>
              <a:srgbClr val="1877D2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06BFAB-6FC4-4B2A-AC65-169A80B37491}"/>
              </a:ext>
            </a:extLst>
          </p:cNvPr>
          <p:cNvSpPr>
            <a:spLocks noGrp="1"/>
          </p:cNvSpPr>
          <p:nvPr/>
        </p:nvSpPr>
        <p:spPr>
          <a:xfrm>
            <a:off x="8524875" y="3781425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ACTUALLY NOT FRAUD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F856CBB-D80A-416C-A838-59418D3A2F39}"/>
              </a:ext>
            </a:extLst>
          </p:cNvPr>
          <p:cNvSpPr>
            <a:spLocks noGrp="1"/>
          </p:cNvSpPr>
          <p:nvPr/>
        </p:nvSpPr>
        <p:spPr>
          <a:xfrm>
            <a:off x="8524875" y="4086225"/>
            <a:ext cx="20383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23,578</a:t>
            </a:r>
          </a:p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Correctly cleared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199B658-A99B-4A26-85B6-52625A011A20}"/>
              </a:ext>
            </a:extLst>
          </p:cNvPr>
          <p:cNvSpPr>
            <a:spLocks noGrp="1"/>
          </p:cNvSpPr>
          <p:nvPr/>
        </p:nvSpPr>
        <p:spPr>
          <a:xfrm>
            <a:off x="5619750" y="5410200"/>
            <a:ext cx="5095875" cy="8191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C9D2FCC-1911-431F-B9A8-309537160322}"/>
              </a:ext>
            </a:extLst>
          </p:cNvPr>
          <p:cNvSpPr>
            <a:spLocks noGrp="1"/>
          </p:cNvSpPr>
          <p:nvPr/>
        </p:nvSpPr>
        <p:spPr>
          <a:xfrm>
            <a:off x="5619750" y="5410200"/>
            <a:ext cx="66675" cy="819150"/>
          </a:xfrm>
          <a:prstGeom prst="rect">
            <a:avLst/>
          </a:prstGeom>
          <a:solidFill>
            <a:srgbClr val="101114"/>
          </a:solidFill>
          <a:ln w="0">
            <a:solidFill>
              <a:srgbClr val="101114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83F5D27-18C2-4150-A032-1D8AA9006B09}"/>
              </a:ext>
            </a:extLst>
          </p:cNvPr>
          <p:cNvSpPr>
            <a:spLocks noGrp="1"/>
          </p:cNvSpPr>
          <p:nvPr/>
        </p:nvSpPr>
        <p:spPr>
          <a:xfrm>
            <a:off x="5810250" y="5553075"/>
            <a:ext cx="47529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ILLUSTRATIVE THRESHOLD ONLY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F73BDF-E23C-408D-8BF4-8513E6062344}"/>
              </a:ext>
            </a:extLst>
          </p:cNvPr>
          <p:cNvSpPr>
            <a:spLocks noGrp="1"/>
          </p:cNvSpPr>
          <p:nvPr/>
        </p:nvSpPr>
        <p:spPr>
          <a:xfrm>
            <a:off x="5810250" y="5857875"/>
            <a:ext cx="47529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6162" lnSpcReduction="20000"/>
          </a:bodyPr>
          <a:lstStyle/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A real cut-off depends on inspection capacity and the cost of false alarms versus missed fraud.</a:t>
            </a:r>
          </a:p>
        </p:txBody>
      </p:sp>
    </p:spTree>
    <p:extLst>
      <p:ext uri="{BB962C8B-B14F-4D97-AF65-F5344CB8AC3E}">
        <p14:creationId xmlns:p14="http://schemas.microsoft.com/office/powerpoint/2010/main" val="10166308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CAAE9C21-5808-41D4-BF0B-8E4EE5239F73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EXTERNAL CHECK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7F3271-8015-4545-BEB0-DFE1B7C9A72A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1096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de-DE" sz="2850" b="1" i="0" dirty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Zindi</a:t>
            </a:r>
            <a:r>
              <a:rPr sz="2850" b="1" i="0" dirty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 submission: a credible first result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F38AF4-1AC2-49D3-86B4-1D322AD3BD44}"/>
              </a:ext>
            </a:extLst>
          </p:cNvPr>
          <p:cNvSpPr>
            <a:spLocks noGrp="1"/>
          </p:cNvSpPr>
          <p:nvPr/>
        </p:nvSpPr>
        <p:spPr>
          <a:xfrm>
            <a:off x="514350" y="1181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E0A3606-50AA-483C-9DD2-1EC554502153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04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The public leaderboard supports the ranking quality without replacing local error analysis.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C67054-4953-486C-9008-E61B085F353B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D49DA9-D071-44EB-8679-29ECB95CCC90}"/>
              </a:ext>
            </a:extLst>
          </p:cNvPr>
          <p:cNvSpPr>
            <a:spLocks noGrp="1"/>
          </p:cNvSpPr>
          <p:nvPr/>
        </p:nvSpPr>
        <p:spPr>
          <a:xfrm>
            <a:off x="514350" y="6591300"/>
            <a:ext cx="3714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ROY + SEAN · FRAUD DETECTION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B4803D-0B63-4AB5-BED4-EEA561D29CEB}"/>
              </a:ext>
            </a:extLst>
          </p:cNvPr>
          <p:cNvSpPr>
            <a:spLocks noGrp="1"/>
          </p:cNvSpPr>
          <p:nvPr/>
        </p:nvSpPr>
        <p:spPr>
          <a:xfrm>
            <a:off x="1112520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604E8EC-6D11-4695-B853-A6C51807A9E9}"/>
              </a:ext>
            </a:extLst>
          </p:cNvPr>
          <p:cNvSpPr>
            <a:spLocks noGrp="1"/>
          </p:cNvSpPr>
          <p:nvPr/>
        </p:nvSpPr>
        <p:spPr>
          <a:xfrm>
            <a:off x="514350" y="2095500"/>
            <a:ext cx="3143250" cy="1066800"/>
          </a:xfrm>
          <a:prstGeom prst="rect">
            <a:avLst/>
          </a:prstGeom>
          <a:solidFill>
            <a:srgbClr val="DDEEFF"/>
          </a:solidFill>
          <a:ln w="0">
            <a:noFill/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735D4E-995A-4433-AED0-360C393C5801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2800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PUBLIC RANK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EC7136-4344-48A3-A8E9-79D54AF8BDDF}"/>
              </a:ext>
            </a:extLst>
          </p:cNvPr>
          <p:cNvSpPr>
            <a:spLocks noGrp="1"/>
          </p:cNvSpPr>
          <p:nvPr/>
        </p:nvSpPr>
        <p:spPr>
          <a:xfrm>
            <a:off x="685800" y="249555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2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275 / 710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D03286-B9E6-4BCB-A15E-8DCC290BAF13}"/>
              </a:ext>
            </a:extLst>
          </p:cNvPr>
          <p:cNvSpPr>
            <a:spLocks noGrp="1"/>
          </p:cNvSpPr>
          <p:nvPr/>
        </p:nvSpPr>
        <p:spPr>
          <a:xfrm>
            <a:off x="514350" y="3371850"/>
            <a:ext cx="3143250" cy="1066800"/>
          </a:xfrm>
          <a:prstGeom prst="rect">
            <a:avLst/>
          </a:prstGeom>
          <a:solidFill>
            <a:srgbClr val="DDF3EB"/>
          </a:solidFill>
          <a:ln w="0">
            <a:noFill/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A07CC7-6C48-47C0-B163-F1371B8B5030}"/>
              </a:ext>
            </a:extLst>
          </p:cNvPr>
          <p:cNvSpPr>
            <a:spLocks noGrp="1"/>
          </p:cNvSpPr>
          <p:nvPr/>
        </p:nvSpPr>
        <p:spPr>
          <a:xfrm>
            <a:off x="685800" y="3505200"/>
            <a:ext cx="2800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PUBLIC SCORE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08726F-E82F-49B3-A304-98C1E2729344}"/>
              </a:ext>
            </a:extLst>
          </p:cNvPr>
          <p:cNvSpPr>
            <a:spLocks noGrp="1"/>
          </p:cNvSpPr>
          <p:nvPr/>
        </p:nvSpPr>
        <p:spPr>
          <a:xfrm>
            <a:off x="685800" y="377190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250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rPr>
              <a:t>0.826022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D99D8-06C6-4A66-8A35-521F7C5B701B}"/>
              </a:ext>
            </a:extLst>
          </p:cNvPr>
          <p:cNvSpPr>
            <a:spLocks noGrp="1"/>
          </p:cNvSpPr>
          <p:nvPr/>
        </p:nvSpPr>
        <p:spPr>
          <a:xfrm>
            <a:off x="514350" y="4648200"/>
            <a:ext cx="3143250" cy="106680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B64602-6E9D-472E-A20B-E075B8CCD41E}"/>
              </a:ext>
            </a:extLst>
          </p:cNvPr>
          <p:cNvSpPr>
            <a:spLocks noGrp="1"/>
          </p:cNvSpPr>
          <p:nvPr/>
        </p:nvSpPr>
        <p:spPr>
          <a:xfrm>
            <a:off x="685800" y="4781550"/>
            <a:ext cx="2800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SUBMISSIONS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F6292D-5D75-4847-8712-59F3CA87CE71}"/>
              </a:ext>
            </a:extLst>
          </p:cNvPr>
          <p:cNvSpPr>
            <a:spLocks noGrp="1"/>
          </p:cNvSpPr>
          <p:nvPr/>
        </p:nvSpPr>
        <p:spPr>
          <a:xfrm>
            <a:off x="685800" y="5048250"/>
            <a:ext cx="28003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defRPr sz="22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BFB5DA-96B9-4FFB-9EA1-5D00110D78CB}"/>
              </a:ext>
            </a:extLst>
          </p:cNvPr>
          <p:cNvSpPr>
            <a:spLocks noGrp="1"/>
          </p:cNvSpPr>
          <p:nvPr/>
        </p:nvSpPr>
        <p:spPr>
          <a:xfrm>
            <a:off x="4095750" y="1905000"/>
            <a:ext cx="6819900" cy="4095750"/>
          </a:xfrm>
          <a:prstGeom prst="rect">
            <a:avLst/>
          </a:prstGeom>
          <a:solidFill>
            <a:srgbClr val="F1F2F4"/>
          </a:solidFill>
          <a:ln w="9525">
            <a:solidFill>
              <a:srgbClr val="C9CDD3"/>
            </a:solidFill>
            <a:prstDash val="solid"/>
          </a:ln>
        </p:spPr>
      </p:sp>
      <p:pic>
        <p:nvPicPr>
          <p:cNvPr id="37" name="Picture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979825" y="2057400"/>
            <a:ext cx="5051751" cy="379095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F17DAFB-085F-4C57-A8D3-15320F0AA916}"/>
              </a:ext>
            </a:extLst>
          </p:cNvPr>
          <p:cNvSpPr>
            <a:spLocks noGrp="1"/>
          </p:cNvSpPr>
          <p:nvPr/>
        </p:nvSpPr>
        <p:spPr>
          <a:xfrm>
            <a:off x="4095750" y="6115050"/>
            <a:ext cx="68199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866"/>
          </a:bodyPr>
          <a:lstStyle/>
          <a:p>
            <a:pPr algn="ctr">
              <a:defRPr sz="12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 dirty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Public score ≠ local PR-AUC. The leaderboard is provisional and uses </a:t>
            </a:r>
            <a:r>
              <a:rPr lang="de-DE" sz="1200" b="0" i="0" dirty="0" err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Zindi‘s</a:t>
            </a:r>
            <a:r>
              <a:rPr sz="1200" b="0" i="0" dirty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 competition evaluation.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7B3500-60C8-2A9D-1DE2-94ADCAEA2A5F}"/>
              </a:ext>
            </a:extLst>
          </p:cNvPr>
          <p:cNvSpPr/>
          <p:nvPr/>
        </p:nvSpPr>
        <p:spPr>
          <a:xfrm>
            <a:off x="4979825" y="2743200"/>
            <a:ext cx="5051751" cy="4191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87031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88979B2A-B49D-4CA5-BC67-66C54436C532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DECISION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ADE741-65CE-408B-8E18-C58EB0C9B6AC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1096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Recommendation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89B759-2BBF-40B3-8140-EDEFF378C153}"/>
              </a:ext>
            </a:extLst>
          </p:cNvPr>
          <p:cNvSpPr>
            <a:spLocks noGrp="1"/>
          </p:cNvSpPr>
          <p:nvPr/>
        </p:nvSpPr>
        <p:spPr>
          <a:xfrm>
            <a:off x="514350" y="1181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A12AE7-EBFD-4644-B5DA-8A234A9DB850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04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Adopt the ranking workflow only with operating and monitoring controls.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C70A33-B317-4A50-9E99-0B5A4ED34A23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0AAF1F-8951-4FEC-8E60-A993B24368AB}"/>
              </a:ext>
            </a:extLst>
          </p:cNvPr>
          <p:cNvSpPr>
            <a:spLocks noGrp="1"/>
          </p:cNvSpPr>
          <p:nvPr/>
        </p:nvSpPr>
        <p:spPr>
          <a:xfrm>
            <a:off x="514350" y="6591300"/>
            <a:ext cx="3714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ROY + SEAN · FRAUD DETECTION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6EDE27-6C72-478B-AD4C-0D56946D760A}"/>
              </a:ext>
            </a:extLst>
          </p:cNvPr>
          <p:cNvSpPr>
            <a:spLocks noGrp="1"/>
          </p:cNvSpPr>
          <p:nvPr/>
        </p:nvSpPr>
        <p:spPr>
          <a:xfrm>
            <a:off x="1112520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59457F8-5261-4477-8A2B-49B75D6E4549}"/>
              </a:ext>
            </a:extLst>
          </p:cNvPr>
          <p:cNvSpPr>
            <a:spLocks noGrp="1"/>
          </p:cNvSpPr>
          <p:nvPr/>
        </p:nvSpPr>
        <p:spPr>
          <a:xfrm>
            <a:off x="514350" y="196215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78A63"/>
                </a:solidFill>
                <a:latin typeface="Helvetica Neue"/>
                <a:ea typeface="Helvetica Neue"/>
                <a:cs typeface="Helvetica Neue"/>
              </a:rPr>
              <a:t>USE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4B3406-F7B5-4C55-8DBB-5B999DE6F9EF}"/>
              </a:ext>
            </a:extLst>
          </p:cNvPr>
          <p:cNvSpPr>
            <a:spLocks noGrp="1"/>
          </p:cNvSpPr>
          <p:nvPr/>
        </p:nvSpPr>
        <p:spPr>
          <a:xfrm>
            <a:off x="514350" y="2362200"/>
            <a:ext cx="4095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Tuned LightGBM</a:t>
            </a:r>
          </a:p>
          <a:p>
            <a:pPr algn="l">
              <a:defRPr sz="22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for inspection prioritisation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911C4-681E-4220-A22E-4F89FFE16039}"/>
              </a:ext>
            </a:extLst>
          </p:cNvPr>
          <p:cNvSpPr>
            <a:spLocks noGrp="1"/>
          </p:cNvSpPr>
          <p:nvPr/>
        </p:nvSpPr>
        <p:spPr>
          <a:xfrm>
            <a:off x="514350" y="3857625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rPr>
              <a:t>DO NOT USE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04EAFD-31D3-47E4-8B30-3977FF7C44B1}"/>
              </a:ext>
            </a:extLst>
          </p:cNvPr>
          <p:cNvSpPr>
            <a:spLocks noGrp="1"/>
          </p:cNvSpPr>
          <p:nvPr/>
        </p:nvSpPr>
        <p:spPr>
          <a:xfrm>
            <a:off x="514350" y="4257675"/>
            <a:ext cx="4095750" cy="819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2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Automatic fraud verdicts</a:t>
            </a:r>
          </a:p>
          <a:p>
            <a:pPr algn="l">
              <a:defRPr sz="22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or causal interpretations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C21D21A-20AB-4B89-922B-E83D0D531B7A}"/>
              </a:ext>
            </a:extLst>
          </p:cNvPr>
          <p:cNvSpPr>
            <a:spLocks noGrp="1"/>
          </p:cNvSpPr>
          <p:nvPr/>
        </p:nvSpPr>
        <p:spPr>
          <a:xfrm>
            <a:off x="5619750" y="2000250"/>
            <a:ext cx="2381250" cy="1381125"/>
          </a:xfrm>
          <a:prstGeom prst="rect">
            <a:avLst/>
          </a:prstGeom>
          <a:solidFill>
            <a:srgbClr val="F0F7FD"/>
          </a:solidFill>
          <a:ln w="0">
            <a:noFill/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311F893-B9FC-448A-9838-091C7BAEA849}"/>
              </a:ext>
            </a:extLst>
          </p:cNvPr>
          <p:cNvSpPr>
            <a:spLocks noGrp="1"/>
          </p:cNvSpPr>
          <p:nvPr/>
        </p:nvSpPr>
        <p:spPr>
          <a:xfrm>
            <a:off x="5619750" y="2000250"/>
            <a:ext cx="66675" cy="1381125"/>
          </a:xfrm>
          <a:prstGeom prst="rect">
            <a:avLst/>
          </a:prstGeom>
          <a:solidFill>
            <a:srgbClr val="1877D2"/>
          </a:solidFill>
          <a:ln w="0">
            <a:solidFill>
              <a:srgbClr val="1877D2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CDB820-B74B-4D54-A7B1-A6CA1592438A}"/>
              </a:ext>
            </a:extLst>
          </p:cNvPr>
          <p:cNvSpPr>
            <a:spLocks noGrp="1"/>
          </p:cNvSpPr>
          <p:nvPr/>
        </p:nvSpPr>
        <p:spPr>
          <a:xfrm>
            <a:off x="5810250" y="2143125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CAPACITY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3EA87B-67ED-48B4-9748-BC4A56B1124D}"/>
              </a:ext>
            </a:extLst>
          </p:cNvPr>
          <p:cNvSpPr>
            <a:spLocks noGrp="1"/>
          </p:cNvSpPr>
          <p:nvPr/>
        </p:nvSpPr>
        <p:spPr>
          <a:xfrm>
            <a:off x="5810250" y="2447925"/>
            <a:ext cx="20383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Choose the top-k cut-off from available inspections.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91C95F-F7DA-45C2-A78F-121D3CDEA953}"/>
              </a:ext>
            </a:extLst>
          </p:cNvPr>
          <p:cNvSpPr>
            <a:spLocks noGrp="1"/>
          </p:cNvSpPr>
          <p:nvPr/>
        </p:nvSpPr>
        <p:spPr>
          <a:xfrm>
            <a:off x="8334375" y="2000250"/>
            <a:ext cx="2381250" cy="1381125"/>
          </a:xfrm>
          <a:prstGeom prst="rect">
            <a:avLst/>
          </a:prstGeom>
          <a:solidFill>
            <a:srgbClr val="F0F7FD"/>
          </a:solidFill>
          <a:ln w="0">
            <a:noFill/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3765FDC-E2C2-4823-AA67-DFF2C53344A9}"/>
              </a:ext>
            </a:extLst>
          </p:cNvPr>
          <p:cNvSpPr>
            <a:spLocks noGrp="1"/>
          </p:cNvSpPr>
          <p:nvPr/>
        </p:nvSpPr>
        <p:spPr>
          <a:xfrm>
            <a:off x="8334375" y="2000250"/>
            <a:ext cx="66675" cy="1381125"/>
          </a:xfrm>
          <a:prstGeom prst="rect">
            <a:avLst/>
          </a:prstGeom>
          <a:solidFill>
            <a:srgbClr val="1877D2"/>
          </a:solidFill>
          <a:ln w="0">
            <a:solidFill>
              <a:srgbClr val="1877D2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B785DD4-9CE9-46F2-B3F2-C36382CFBFF5}"/>
              </a:ext>
            </a:extLst>
          </p:cNvPr>
          <p:cNvSpPr>
            <a:spLocks noGrp="1"/>
          </p:cNvSpPr>
          <p:nvPr/>
        </p:nvSpPr>
        <p:spPr>
          <a:xfrm>
            <a:off x="8524875" y="2143125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HUMAN REVIEW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6BB906-2878-467A-BFBF-999F775791C0}"/>
              </a:ext>
            </a:extLst>
          </p:cNvPr>
          <p:cNvSpPr>
            <a:spLocks noGrp="1"/>
          </p:cNvSpPr>
          <p:nvPr/>
        </p:nvSpPr>
        <p:spPr>
          <a:xfrm>
            <a:off x="8524875" y="2447925"/>
            <a:ext cx="20383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Keep an investigator between score and action.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4D33E21-0C70-4A5B-A851-4BEE0C474C88}"/>
              </a:ext>
            </a:extLst>
          </p:cNvPr>
          <p:cNvSpPr>
            <a:spLocks noGrp="1"/>
          </p:cNvSpPr>
          <p:nvPr/>
        </p:nvSpPr>
        <p:spPr>
          <a:xfrm>
            <a:off x="5619750" y="3810000"/>
            <a:ext cx="2381250" cy="1381125"/>
          </a:xfrm>
          <a:prstGeom prst="rect">
            <a:avLst/>
          </a:prstGeom>
          <a:solidFill>
            <a:srgbClr val="F9DFDF"/>
          </a:solidFill>
          <a:ln w="0">
            <a:noFill/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3448B7-BCCB-4947-BCCF-1A1AA5C63071}"/>
              </a:ext>
            </a:extLst>
          </p:cNvPr>
          <p:cNvSpPr>
            <a:spLocks noGrp="1"/>
          </p:cNvSpPr>
          <p:nvPr/>
        </p:nvSpPr>
        <p:spPr>
          <a:xfrm>
            <a:off x="5619750" y="3810000"/>
            <a:ext cx="66675" cy="1381125"/>
          </a:xfrm>
          <a:prstGeom prst="rect">
            <a:avLst/>
          </a:prstGeom>
          <a:solidFill>
            <a:srgbClr val="D62828"/>
          </a:solidFill>
          <a:ln w="0">
            <a:solidFill>
              <a:srgbClr val="D62828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F992A9-D150-4E8B-B1F4-E1F795653D1E}"/>
              </a:ext>
            </a:extLst>
          </p:cNvPr>
          <p:cNvSpPr>
            <a:spLocks noGrp="1"/>
          </p:cNvSpPr>
          <p:nvPr/>
        </p:nvSpPr>
        <p:spPr>
          <a:xfrm>
            <a:off x="5810250" y="3952875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D62828"/>
                </a:solidFill>
                <a:latin typeface="Helvetica Neue"/>
                <a:ea typeface="Helvetica Neue"/>
                <a:cs typeface="Helvetica Neue"/>
              </a:rPr>
              <a:t>SEGMENTS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EAC6E7C-2FD0-495E-B770-4BE5C51E1821}"/>
              </a:ext>
            </a:extLst>
          </p:cNvPr>
          <p:cNvSpPr>
            <a:spLocks noGrp="1"/>
          </p:cNvSpPr>
          <p:nvPr/>
        </p:nvSpPr>
        <p:spPr>
          <a:xfrm>
            <a:off x="5810250" y="4257675"/>
            <a:ext cx="20383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Monitor history length, region, district, and category.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17260EF-BC76-4C03-9534-84AC5F216FF8}"/>
              </a:ext>
            </a:extLst>
          </p:cNvPr>
          <p:cNvSpPr>
            <a:spLocks noGrp="1"/>
          </p:cNvSpPr>
          <p:nvPr/>
        </p:nvSpPr>
        <p:spPr>
          <a:xfrm>
            <a:off x="8334375" y="3810000"/>
            <a:ext cx="2381250" cy="1381125"/>
          </a:xfrm>
          <a:prstGeom prst="rect">
            <a:avLst/>
          </a:prstGeom>
          <a:solidFill>
            <a:srgbClr val="F0F7FD"/>
          </a:solidFill>
          <a:ln w="0">
            <a:noFill/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E7C977-3736-452E-85CF-91394A77A3CD}"/>
              </a:ext>
            </a:extLst>
          </p:cNvPr>
          <p:cNvSpPr>
            <a:spLocks noGrp="1"/>
          </p:cNvSpPr>
          <p:nvPr/>
        </p:nvSpPr>
        <p:spPr>
          <a:xfrm>
            <a:off x="8334375" y="3810000"/>
            <a:ext cx="66675" cy="1381125"/>
          </a:xfrm>
          <a:prstGeom prst="rect">
            <a:avLst/>
          </a:prstGeom>
          <a:solidFill>
            <a:srgbClr val="1877D2"/>
          </a:solidFill>
          <a:ln w="0">
            <a:solidFill>
              <a:srgbClr val="1877D2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EF99003-1EE9-4A48-A03B-80518F4B5111}"/>
              </a:ext>
            </a:extLst>
          </p:cNvPr>
          <p:cNvSpPr>
            <a:spLocks noGrp="1"/>
          </p:cNvSpPr>
          <p:nvPr/>
        </p:nvSpPr>
        <p:spPr>
          <a:xfrm>
            <a:off x="8524875" y="3952875"/>
            <a:ext cx="20383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FEEDBACK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FBC2D37-7221-401D-88D3-5DF54B7282A4}"/>
              </a:ext>
            </a:extLst>
          </p:cNvPr>
          <p:cNvSpPr>
            <a:spLocks noGrp="1"/>
          </p:cNvSpPr>
          <p:nvPr/>
        </p:nvSpPr>
        <p:spPr>
          <a:xfrm>
            <a:off x="8524875" y="4257675"/>
            <a:ext cx="2038350" cy="828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Capture inspection outcomes for calibration and retraining.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5E13B1-D34E-48D7-980E-7BCA5B93275B}"/>
              </a:ext>
            </a:extLst>
          </p:cNvPr>
          <p:cNvSpPr>
            <a:spLocks noGrp="1"/>
          </p:cNvSpPr>
          <p:nvPr/>
        </p:nvSpPr>
        <p:spPr>
          <a:xfrm>
            <a:off x="5619750" y="5410200"/>
            <a:ext cx="5095875" cy="819150"/>
          </a:xfrm>
          <a:prstGeom prst="rect">
            <a:avLst/>
          </a:prstGeom>
          <a:solidFill>
            <a:srgbClr val="F1F2F4"/>
          </a:solidFill>
          <a:ln w="0">
            <a:noFill/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358AC50-BF18-4BDB-B336-5D86CBB94C73}"/>
              </a:ext>
            </a:extLst>
          </p:cNvPr>
          <p:cNvSpPr>
            <a:spLocks noGrp="1"/>
          </p:cNvSpPr>
          <p:nvPr/>
        </p:nvSpPr>
        <p:spPr>
          <a:xfrm>
            <a:off x="5619750" y="5410200"/>
            <a:ext cx="66675" cy="819150"/>
          </a:xfrm>
          <a:prstGeom prst="rect">
            <a:avLst/>
          </a:prstGeom>
          <a:solidFill>
            <a:srgbClr val="101114"/>
          </a:solidFill>
          <a:ln w="0">
            <a:solidFill>
              <a:srgbClr val="101114"/>
            </a:solidFill>
            <a:prstDash val="solid"/>
          </a:ln>
        </p:spPr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46D1E0F-830D-4CB4-B36D-52C32708852B}"/>
              </a:ext>
            </a:extLst>
          </p:cNvPr>
          <p:cNvSpPr>
            <a:spLocks noGrp="1"/>
          </p:cNvSpPr>
          <p:nvPr/>
        </p:nvSpPr>
        <p:spPr>
          <a:xfrm>
            <a:off x="5810250" y="5553075"/>
            <a:ext cx="47529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12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ACCEPTANCE CONDITION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A8F5D3F-3397-4DD8-BD16-AE3DF23B636A}"/>
              </a:ext>
            </a:extLst>
          </p:cNvPr>
          <p:cNvSpPr>
            <a:spLocks noGrp="1"/>
          </p:cNvSpPr>
          <p:nvPr/>
        </p:nvSpPr>
        <p:spPr>
          <a:xfrm>
            <a:off x="5810250" y="5857875"/>
            <a:ext cx="47529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979"/>
          </a:bodyPr>
          <a:lstStyle/>
          <a:p>
            <a:pPr algn="l">
              <a:def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Define error costs and minimum segment performance before deployment.</a:t>
            </a:r>
          </a:p>
        </p:txBody>
      </p:sp>
    </p:spTree>
    <p:extLst>
      <p:ext uri="{BB962C8B-B14F-4D97-AF65-F5344CB8AC3E}">
        <p14:creationId xmlns:p14="http://schemas.microsoft.com/office/powerpoint/2010/main" val="19223176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101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2CE53E3-6EE2-41AD-BB8E-F094F523A548}"/>
              </a:ext>
            </a:extLst>
          </p:cNvPr>
          <p:cNvSpPr>
            <a:spLocks noGrp="1"/>
          </p:cNvSpPr>
          <p:nvPr/>
        </p:nvSpPr>
        <p:spPr>
          <a:xfrm>
            <a:off x="514350" y="7429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53B6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 dirty="0">
                <a:solidFill>
                  <a:srgbClr val="53B6FF"/>
                </a:solidFill>
                <a:latin typeface="Helvetica Neue"/>
                <a:ea typeface="Helvetica Neue"/>
                <a:cs typeface="Helvetica Neue"/>
              </a:rPr>
              <a:t>DISCUSSION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A95959-18DB-4132-A3C6-4900721EC556}"/>
              </a:ext>
            </a:extLst>
          </p:cNvPr>
          <p:cNvSpPr>
            <a:spLocks noGrp="1"/>
          </p:cNvSpPr>
          <p:nvPr/>
        </p:nvSpPr>
        <p:spPr>
          <a:xfrm>
            <a:off x="514350" y="1409700"/>
            <a:ext cx="4762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 i="0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Questions?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373287E-89C6-4352-9417-C5ADAA385664}"/>
              </a:ext>
            </a:extLst>
          </p:cNvPr>
          <p:cNvSpPr>
            <a:spLocks noGrp="1"/>
          </p:cNvSpPr>
          <p:nvPr/>
        </p:nvSpPr>
        <p:spPr>
          <a:xfrm>
            <a:off x="514350" y="2457450"/>
            <a:ext cx="44767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0" i="0">
                <a:solidFill>
                  <a:srgbClr val="D9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 i="0">
                <a:solidFill>
                  <a:srgbClr val="D9E6F3"/>
                </a:solidFill>
                <a:latin typeface="Helvetica Neue"/>
                <a:ea typeface="Helvetica Neue"/>
                <a:cs typeface="Helvetica Neue"/>
              </a:rPr>
              <a:t>What would you challenge,</a:t>
            </a:r>
          </a:p>
          <a:p>
            <a:pPr algn="l">
              <a:defRPr sz="1950" b="0" i="0">
                <a:solidFill>
                  <a:srgbClr val="D9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 i="0">
                <a:solidFill>
                  <a:srgbClr val="D9E6F3"/>
                </a:solidFill>
                <a:latin typeface="Helvetica Neue"/>
                <a:ea typeface="Helvetica Neue"/>
                <a:cs typeface="Helvetica Neue"/>
              </a:rPr>
              <a:t>test, or improve next?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75A90A3-7D08-460B-BBD8-AE442484C0FA}"/>
              </a:ext>
            </a:extLst>
          </p:cNvPr>
          <p:cNvSpPr>
            <a:spLocks noGrp="1"/>
          </p:cNvSpPr>
          <p:nvPr/>
        </p:nvSpPr>
        <p:spPr>
          <a:xfrm>
            <a:off x="514350" y="5772150"/>
            <a:ext cx="4000500" cy="9525"/>
          </a:xfrm>
          <a:prstGeom prst="rect">
            <a:avLst/>
          </a:prstGeom>
          <a:solidFill>
            <a:srgbClr val="4B6985"/>
          </a:solidFill>
          <a:ln w="0">
            <a:solidFill>
              <a:srgbClr val="4B6985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8D1D426-F4BD-4156-B597-CCEED67073C1}"/>
              </a:ext>
            </a:extLst>
          </p:cNvPr>
          <p:cNvSpPr>
            <a:spLocks noGrp="1"/>
          </p:cNvSpPr>
          <p:nvPr/>
        </p:nvSpPr>
        <p:spPr>
          <a:xfrm>
            <a:off x="514350" y="594360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 i="0">
                <a:solidFill>
                  <a:srgbClr val="AF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AFC5D8"/>
                </a:solidFill>
                <a:latin typeface="Helvetica Neue"/>
                <a:ea typeface="Helvetica Neue"/>
                <a:cs typeface="Helvetica Neue"/>
              </a:rPr>
              <a:t>ROY + SEAN · FRAUD DETECTION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EC7F2B-6FB6-4305-8F9F-792E9E6C447F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 i="0">
                <a:solidFill>
                  <a:srgbClr val="AF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AFC5D8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6495655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3B4DFCD-15D7-4CE8-9D7E-D6759BC5047D}"/>
              </a:ext>
            </a:extLst>
          </p:cNvPr>
          <p:cNvSpPr>
            <a:spLocks noGrp="1"/>
          </p:cNvSpPr>
          <p:nvPr/>
        </p:nvSpPr>
        <p:spPr>
          <a:xfrm>
            <a:off x="514350" y="723900"/>
            <a:ext cx="4095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050" b="1" i="0">
                <a:solidFill>
                  <a:srgbClr val="53B6F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GB" sz="1000" b="1" dirty="0">
                <a:solidFill>
                  <a:srgbClr val="53B6FF"/>
                </a:solidFill>
                <a:latin typeface="Helvetica Neue"/>
                <a:ea typeface="Helvetica Neue"/>
                <a:cs typeface="Helvetica Neue"/>
              </a:rPr>
              <a:t>DISCUSSION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68CEEF-6006-4019-8E45-D301F2A055A1}"/>
              </a:ext>
            </a:extLst>
          </p:cNvPr>
          <p:cNvSpPr>
            <a:spLocks noGrp="1"/>
          </p:cNvSpPr>
          <p:nvPr/>
        </p:nvSpPr>
        <p:spPr>
          <a:xfrm>
            <a:off x="514350" y="1428750"/>
            <a:ext cx="4762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>
              <a:defRPr sz="43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lang="en-GB" sz="4000" b="1" dirty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Questions?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DB793F-668B-49D0-9B09-1BAD9F6C7677}"/>
              </a:ext>
            </a:extLst>
          </p:cNvPr>
          <p:cNvSpPr>
            <a:spLocks noGrp="1"/>
          </p:cNvSpPr>
          <p:nvPr/>
        </p:nvSpPr>
        <p:spPr>
          <a:xfrm>
            <a:off x="514350" y="3276600"/>
            <a:ext cx="4667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75" b="0" i="0">
                <a:solidFill>
                  <a:srgbClr val="D9E6F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 i="0">
                <a:solidFill>
                  <a:srgbClr val="D9E6F3"/>
                </a:solidFill>
                <a:latin typeface="Helvetica Neue"/>
                <a:ea typeface="Helvetica Neue"/>
                <a:cs typeface="Helvetica Neue"/>
              </a:rPr>
              <a:t>Data · Features · Models · Limitations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045CC0-1179-48B1-BD32-B4763FA589E4}"/>
              </a:ext>
            </a:extLst>
          </p:cNvPr>
          <p:cNvSpPr>
            <a:spLocks noGrp="1"/>
          </p:cNvSpPr>
          <p:nvPr/>
        </p:nvSpPr>
        <p:spPr>
          <a:xfrm>
            <a:off x="514350" y="5772150"/>
            <a:ext cx="4000500" cy="9525"/>
          </a:xfrm>
          <a:prstGeom prst="rect">
            <a:avLst/>
          </a:prstGeom>
          <a:solidFill>
            <a:srgbClr val="4B6985"/>
          </a:solidFill>
          <a:ln w="0">
            <a:solidFill>
              <a:srgbClr val="4B6985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7F106C-F154-4A2E-9F9E-7EA8BF1A50D6}"/>
              </a:ext>
            </a:extLst>
          </p:cNvPr>
          <p:cNvSpPr>
            <a:spLocks noGrp="1"/>
          </p:cNvSpPr>
          <p:nvPr/>
        </p:nvSpPr>
        <p:spPr>
          <a:xfrm>
            <a:off x="514350" y="5943600"/>
            <a:ext cx="3714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 i="0">
                <a:solidFill>
                  <a:srgbClr val="AF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AFC5D8"/>
                </a:solidFill>
                <a:latin typeface="Helvetica Neue"/>
                <a:ea typeface="Helvetica Neue"/>
                <a:cs typeface="Helvetica Neue"/>
              </a:rPr>
              <a:t>ROY + SEAN · FRAUD DETECTION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3E2612F-BD0B-4016-88F3-F386A984A020}"/>
              </a:ext>
            </a:extLst>
          </p:cNvPr>
          <p:cNvSpPr>
            <a:spLocks noGrp="1"/>
          </p:cNvSpPr>
          <p:nvPr/>
        </p:nvSpPr>
        <p:spPr>
          <a:xfrm>
            <a:off x="11125200" y="6419850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 i="0">
                <a:solidFill>
                  <a:srgbClr val="AFC5D8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AFC5D8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479634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A17913D3-B4DB-4B94-AF49-32FA6775CE99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ENGINEERING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B63046-6D15-4E93-8C98-D0277EAB859C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1096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Extra / bonus: reproducibility and CI/CD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6F1C5F-C4F6-4C5F-9AC0-5AEB2EFE5A69}"/>
              </a:ext>
            </a:extLst>
          </p:cNvPr>
          <p:cNvSpPr>
            <a:spLocks noGrp="1"/>
          </p:cNvSpPr>
          <p:nvPr/>
        </p:nvSpPr>
        <p:spPr>
          <a:xfrm>
            <a:off x="514350" y="1181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D9DA0D6-C31F-4E1C-8CC0-8EE6A463C035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04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The project is a repeatable workflow, not a single successful notebook run.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B1F33D-3726-495C-B5D0-E567FF361F2B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47B850-968E-4834-BCBE-DFA99221A58B}"/>
              </a:ext>
            </a:extLst>
          </p:cNvPr>
          <p:cNvSpPr>
            <a:spLocks noGrp="1"/>
          </p:cNvSpPr>
          <p:nvPr/>
        </p:nvSpPr>
        <p:spPr>
          <a:xfrm>
            <a:off x="514350" y="6591300"/>
            <a:ext cx="3714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ROY + SEAN · FRAUD DETECTION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615AC22-6771-43C0-A9C3-CD246CDED444}"/>
              </a:ext>
            </a:extLst>
          </p:cNvPr>
          <p:cNvSpPr>
            <a:spLocks noGrp="1"/>
          </p:cNvSpPr>
          <p:nvPr/>
        </p:nvSpPr>
        <p:spPr>
          <a:xfrm>
            <a:off x="1112520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7275B21-A74D-495E-8D57-439D2477618C}"/>
              </a:ext>
            </a:extLst>
          </p:cNvPr>
          <p:cNvSpPr>
            <a:spLocks noGrp="1"/>
          </p:cNvSpPr>
          <p:nvPr/>
        </p:nvSpPr>
        <p:spPr>
          <a:xfrm>
            <a:off x="514350" y="19240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01–05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79CA77-7BFE-42E4-9343-03FE675B40B0}"/>
              </a:ext>
            </a:extLst>
          </p:cNvPr>
          <p:cNvSpPr>
            <a:spLocks noGrp="1"/>
          </p:cNvSpPr>
          <p:nvPr/>
        </p:nvSpPr>
        <p:spPr>
          <a:xfrm>
            <a:off x="514350" y="23622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Lifecycle notebooks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F16AFB-05FB-4029-B44E-D5D899FE2E22}"/>
              </a:ext>
            </a:extLst>
          </p:cNvPr>
          <p:cNvSpPr>
            <a:spLocks noGrp="1"/>
          </p:cNvSpPr>
          <p:nvPr/>
        </p:nvSpPr>
        <p:spPr>
          <a:xfrm>
            <a:off x="514350" y="27051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EDA → baseline → models → errors → final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3C0716-2F85-4615-AD6D-C9FBE353D8F6}"/>
              </a:ext>
            </a:extLst>
          </p:cNvPr>
          <p:cNvSpPr>
            <a:spLocks noGrp="1"/>
          </p:cNvSpPr>
          <p:nvPr/>
        </p:nvSpPr>
        <p:spPr>
          <a:xfrm>
            <a:off x="514350" y="3257550"/>
            <a:ext cx="314325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F21DA3-3005-4661-A99D-E9B3BE12CC2A}"/>
              </a:ext>
            </a:extLst>
          </p:cNvPr>
          <p:cNvSpPr>
            <a:spLocks noGrp="1"/>
          </p:cNvSpPr>
          <p:nvPr/>
        </p:nvSpPr>
        <p:spPr>
          <a:xfrm>
            <a:off x="4133850" y="19240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PARQUET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AD0E52-3F82-473C-B5A0-8B92CC872352}"/>
              </a:ext>
            </a:extLst>
          </p:cNvPr>
          <p:cNvSpPr>
            <a:spLocks noGrp="1"/>
          </p:cNvSpPr>
          <p:nvPr/>
        </p:nvSpPr>
        <p:spPr>
          <a:xfrm>
            <a:off x="4133850" y="23622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Memory-aware data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02294F6-B485-4CAE-824B-2B02ACE8D3B3}"/>
              </a:ext>
            </a:extLst>
          </p:cNvPr>
          <p:cNvSpPr>
            <a:spLocks noGrp="1"/>
          </p:cNvSpPr>
          <p:nvPr/>
        </p:nvSpPr>
        <p:spPr>
          <a:xfrm>
            <a:off x="4133850" y="27051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Headless conversion + chunked aggregation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6F2BD8-4EAC-4188-89A7-73D00845C277}"/>
              </a:ext>
            </a:extLst>
          </p:cNvPr>
          <p:cNvSpPr>
            <a:spLocks noGrp="1"/>
          </p:cNvSpPr>
          <p:nvPr/>
        </p:nvSpPr>
        <p:spPr>
          <a:xfrm>
            <a:off x="4133850" y="3257550"/>
            <a:ext cx="314325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0BACBB-4EF2-4F43-8F3D-62F5EACB8028}"/>
              </a:ext>
            </a:extLst>
          </p:cNvPr>
          <p:cNvSpPr>
            <a:spLocks noGrp="1"/>
          </p:cNvSpPr>
          <p:nvPr/>
        </p:nvSpPr>
        <p:spPr>
          <a:xfrm>
            <a:off x="7753350" y="19240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DB97A3A-23FD-4CF1-8271-89706C25CDEC}"/>
              </a:ext>
            </a:extLst>
          </p:cNvPr>
          <p:cNvSpPr>
            <a:spLocks noGrp="1"/>
          </p:cNvSpPr>
          <p:nvPr/>
        </p:nvSpPr>
        <p:spPr>
          <a:xfrm>
            <a:off x="7753350" y="23622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Feature contract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1275C5-7091-4B3A-822F-CC71220072BC}"/>
              </a:ext>
            </a:extLst>
          </p:cNvPr>
          <p:cNvSpPr>
            <a:spLocks noGrp="1"/>
          </p:cNvSpPr>
          <p:nvPr/>
        </p:nvSpPr>
        <p:spPr>
          <a:xfrm>
            <a:off x="7753350" y="27051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Explicit inputs + reusable transformer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B0C81B-3059-4B62-9166-08B94C5461CE}"/>
              </a:ext>
            </a:extLst>
          </p:cNvPr>
          <p:cNvSpPr>
            <a:spLocks noGrp="1"/>
          </p:cNvSpPr>
          <p:nvPr/>
        </p:nvSpPr>
        <p:spPr>
          <a:xfrm>
            <a:off x="7753350" y="3257550"/>
            <a:ext cx="314325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D7D8E2-194C-4BC6-8E2B-78B30E24F35E}"/>
              </a:ext>
            </a:extLst>
          </p:cNvPr>
          <p:cNvSpPr>
            <a:spLocks noGrp="1"/>
          </p:cNvSpPr>
          <p:nvPr/>
        </p:nvSpPr>
        <p:spPr>
          <a:xfrm>
            <a:off x="514350" y="36385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UV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70D2B2-D7D9-464B-B7C3-4D8837268AD8}"/>
              </a:ext>
            </a:extLst>
          </p:cNvPr>
          <p:cNvSpPr>
            <a:spLocks noGrp="1"/>
          </p:cNvSpPr>
          <p:nvPr/>
        </p:nvSpPr>
        <p:spPr>
          <a:xfrm>
            <a:off x="514350" y="40767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Locked environment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B87D13-B0A6-4630-8EEF-AAE94D6F2A4E}"/>
              </a:ext>
            </a:extLst>
          </p:cNvPr>
          <p:cNvSpPr>
            <a:spLocks noGrp="1"/>
          </p:cNvSpPr>
          <p:nvPr/>
        </p:nvSpPr>
        <p:spPr>
          <a:xfrm>
            <a:off x="514350" y="44196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pyproject.toml + uv.lock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60198CC-FBB4-4C33-916F-9FA97CA96034}"/>
              </a:ext>
            </a:extLst>
          </p:cNvPr>
          <p:cNvSpPr>
            <a:spLocks noGrp="1"/>
          </p:cNvSpPr>
          <p:nvPr/>
        </p:nvSpPr>
        <p:spPr>
          <a:xfrm>
            <a:off x="514350" y="4972050"/>
            <a:ext cx="314325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A3A188-D84B-4DB4-9117-85BF6011717B}"/>
              </a:ext>
            </a:extLst>
          </p:cNvPr>
          <p:cNvSpPr>
            <a:spLocks noGrp="1"/>
          </p:cNvSpPr>
          <p:nvPr/>
        </p:nvSpPr>
        <p:spPr>
          <a:xfrm>
            <a:off x="4133850" y="36385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DOCKER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FA55D8B-4517-46C4-AD20-8CABB2059516}"/>
              </a:ext>
            </a:extLst>
          </p:cNvPr>
          <p:cNvSpPr>
            <a:spLocks noGrp="1"/>
          </p:cNvSpPr>
          <p:nvPr/>
        </p:nvSpPr>
        <p:spPr>
          <a:xfrm>
            <a:off x="4133850" y="40767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Runtime parity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8C657D-56EF-4889-804C-443D5DD98A9B}"/>
              </a:ext>
            </a:extLst>
          </p:cNvPr>
          <p:cNvSpPr>
            <a:spLocks noGrp="1"/>
          </p:cNvSpPr>
          <p:nvPr/>
        </p:nvSpPr>
        <p:spPr>
          <a:xfrm>
            <a:off x="4133850" y="44196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Pinned Jupyter image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6C4DEA7-78BF-4051-9138-BA01E45920D0}"/>
              </a:ext>
            </a:extLst>
          </p:cNvPr>
          <p:cNvSpPr>
            <a:spLocks noGrp="1"/>
          </p:cNvSpPr>
          <p:nvPr/>
        </p:nvSpPr>
        <p:spPr>
          <a:xfrm>
            <a:off x="4133850" y="4972050"/>
            <a:ext cx="314325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7F4C43-8D45-4E9C-9ED9-1F7AD6D00480}"/>
              </a:ext>
            </a:extLst>
          </p:cNvPr>
          <p:cNvSpPr>
            <a:spLocks noGrp="1"/>
          </p:cNvSpPr>
          <p:nvPr/>
        </p:nvSpPr>
        <p:spPr>
          <a:xfrm>
            <a:off x="7753350" y="3638550"/>
            <a:ext cx="31432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10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CI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392F138-E254-42F3-ADEB-56C9613F8E29}"/>
              </a:ext>
            </a:extLst>
          </p:cNvPr>
          <p:cNvSpPr>
            <a:spLocks noGrp="1"/>
          </p:cNvSpPr>
          <p:nvPr/>
        </p:nvSpPr>
        <p:spPr>
          <a:xfrm>
            <a:off x="7753350" y="4076700"/>
            <a:ext cx="3143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42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Notebook checks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B1700984-2F6B-4AA2-9D9E-47CAB9881C9E}"/>
              </a:ext>
            </a:extLst>
          </p:cNvPr>
          <p:cNvSpPr>
            <a:spLocks noGrp="1"/>
          </p:cNvSpPr>
          <p:nvPr/>
        </p:nvSpPr>
        <p:spPr>
          <a:xfrm>
            <a:off x="7753350" y="4419600"/>
            <a:ext cx="3143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EDA + baseline execute on PRs and main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D240BD7-D3BA-4405-89E0-7FD94B1DD50B}"/>
              </a:ext>
            </a:extLst>
          </p:cNvPr>
          <p:cNvSpPr>
            <a:spLocks noGrp="1"/>
          </p:cNvSpPr>
          <p:nvPr/>
        </p:nvSpPr>
        <p:spPr>
          <a:xfrm>
            <a:off x="7753350" y="4972050"/>
            <a:ext cx="314325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890460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1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5CE7B74-20D8-4F01-962A-CE1A787A42E1}"/>
              </a:ext>
            </a:extLst>
          </p:cNvPr>
          <p:cNvSpPr>
            <a:spLocks noGrp="1"/>
          </p:cNvSpPr>
          <p:nvPr/>
        </p:nvSpPr>
        <p:spPr>
          <a:xfrm>
            <a:off x="609600" y="666750"/>
            <a:ext cx="342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050" b="1" i="0">
                <a:solidFill>
                  <a:srgbClr val="8FC6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8FC6F5"/>
                </a:solidFill>
                <a:latin typeface="Helvetica Neue"/>
                <a:ea typeface="Helvetica Neue"/>
                <a:cs typeface="Helvetica Neue"/>
              </a:rPr>
              <a:t>THANK YOU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0D0C7D-4CFB-496B-8C04-A8DDF25699F4}"/>
              </a:ext>
            </a:extLst>
          </p:cNvPr>
          <p:cNvSpPr>
            <a:spLocks noGrp="1"/>
          </p:cNvSpPr>
          <p:nvPr/>
        </p:nvSpPr>
        <p:spPr>
          <a:xfrm>
            <a:off x="609600" y="1676400"/>
            <a:ext cx="66675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4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Thank you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96B321-BEE6-47D1-9E9F-E313B937DD4F}"/>
              </a:ext>
            </a:extLst>
          </p:cNvPr>
          <p:cNvSpPr>
            <a:spLocks noGrp="1"/>
          </p:cNvSpPr>
          <p:nvPr/>
        </p:nvSpPr>
        <p:spPr>
          <a:xfrm>
            <a:off x="647700" y="2800350"/>
            <a:ext cx="6096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 i="0">
                <a:solidFill>
                  <a:srgbClr val="D8DDE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D8DDE4"/>
                </a:solidFill>
                <a:latin typeface="Helvetica Neue"/>
                <a:ea typeface="Helvetica Neue"/>
                <a:cs typeface="Helvetica Neue"/>
              </a:rPr>
              <a:t>Roy Grossman · Sean Kress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7D55A4-47FC-4401-BB3E-E00E4B2CCE66}"/>
              </a:ext>
            </a:extLst>
          </p:cNvPr>
          <p:cNvSpPr>
            <a:spLocks noGrp="1"/>
          </p:cNvSpPr>
          <p:nvPr/>
        </p:nvSpPr>
        <p:spPr>
          <a:xfrm>
            <a:off x="647700" y="3333750"/>
            <a:ext cx="7239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650" b="0" i="0">
                <a:solidFill>
                  <a:srgbClr val="A8AE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A8AEB7"/>
                </a:solidFill>
                <a:latin typeface="Helvetica Neue"/>
                <a:ea typeface="Helvetica Neue"/>
                <a:cs typeface="Helvetica Neue"/>
              </a:rPr>
              <a:t>Fraud detection in electricity and gas consumption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E220E8-79FA-42EA-8965-0C3365C8997C}"/>
              </a:ext>
            </a:extLst>
          </p:cNvPr>
          <p:cNvSpPr>
            <a:spLocks noGrp="1"/>
          </p:cNvSpPr>
          <p:nvPr/>
        </p:nvSpPr>
        <p:spPr>
          <a:xfrm>
            <a:off x="647700" y="4191000"/>
            <a:ext cx="7239000" cy="9525"/>
          </a:xfrm>
          <a:prstGeom prst="rect">
            <a:avLst/>
          </a:prstGeom>
          <a:solidFill>
            <a:srgbClr val="474B52"/>
          </a:solidFill>
          <a:ln w="0">
            <a:solidFill>
              <a:srgbClr val="474B52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78B617-58F1-4F06-A16A-8E7F1C7A5E51}"/>
              </a:ext>
            </a:extLst>
          </p:cNvPr>
          <p:cNvSpPr>
            <a:spLocks noGrp="1"/>
          </p:cNvSpPr>
          <p:nvPr/>
        </p:nvSpPr>
        <p:spPr>
          <a:xfrm>
            <a:off x="9372600" y="876300"/>
            <a:ext cx="47625" cy="4648200"/>
          </a:xfrm>
          <a:prstGeom prst="rect">
            <a:avLst/>
          </a:prstGeom>
          <a:solidFill>
            <a:srgbClr val="1877D2"/>
          </a:solidFill>
          <a:ln w="0">
            <a:solidFill>
              <a:srgbClr val="1877D2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3D4207-904B-4BDC-991E-2391D3B8F3EE}"/>
              </a:ext>
            </a:extLst>
          </p:cNvPr>
          <p:cNvSpPr>
            <a:spLocks noGrp="1"/>
          </p:cNvSpPr>
          <p:nvPr/>
        </p:nvSpPr>
        <p:spPr>
          <a:xfrm>
            <a:off x="10972800" y="6419850"/>
            <a:ext cx="571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 i="0">
                <a:solidFill>
                  <a:srgbClr val="A8AEB7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A8AEB7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1C9F59-F9B5-FA8C-98E0-259F40AF6D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3475" y="1565275"/>
            <a:ext cx="1235075" cy="12350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E8E1EB8-8CFB-F824-5E6D-131CBB8A2E4F}"/>
              </a:ext>
            </a:extLst>
          </p:cNvPr>
          <p:cNvSpPr txBox="1"/>
          <p:nvPr/>
        </p:nvSpPr>
        <p:spPr>
          <a:xfrm>
            <a:off x="9675343" y="3050832"/>
            <a:ext cx="23737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https://</a:t>
            </a:r>
            <a:r>
              <a:rPr lang="en-GB" dirty="0" err="1">
                <a:solidFill>
                  <a:schemeClr val="bg1"/>
                </a:solidFill>
              </a:rPr>
              <a:t>github.com</a:t>
            </a:r>
            <a:r>
              <a:rPr lang="en-GB" dirty="0">
                <a:solidFill>
                  <a:schemeClr val="bg1"/>
                </a:solidFill>
              </a:rPr>
              <a:t>/</a:t>
            </a:r>
            <a:r>
              <a:rPr lang="en-GB" dirty="0" err="1">
                <a:solidFill>
                  <a:schemeClr val="bg1"/>
                </a:solidFill>
              </a:rPr>
              <a:t>roy-nfisch</a:t>
            </a:r>
            <a:r>
              <a:rPr lang="en-GB" dirty="0">
                <a:solidFill>
                  <a:schemeClr val="bg1"/>
                </a:solidFill>
              </a:rPr>
              <a:t>/ds-fraud-in-electricity-and-gas</a:t>
            </a:r>
            <a:endParaRPr lang="en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3743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940645D-6B13-415B-BCD2-73BD66F04BD2}"/>
              </a:ext>
            </a:extLst>
          </p:cNvPr>
          <p:cNvSpPr>
            <a:spLocks noGrp="1"/>
          </p:cNvSpPr>
          <p:nvPr/>
        </p:nvSpPr>
        <p:spPr>
          <a:xfrm>
            <a:off x="514350" y="285750"/>
            <a:ext cx="38100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ROADMAP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C936E6-B768-4190-BAFD-51F73A6A0706}"/>
              </a:ext>
            </a:extLst>
          </p:cNvPr>
          <p:cNvSpPr>
            <a:spLocks noGrp="1"/>
          </p:cNvSpPr>
          <p:nvPr/>
        </p:nvSpPr>
        <p:spPr>
          <a:xfrm>
            <a:off x="514350" y="571500"/>
            <a:ext cx="1109662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Next steps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131AD6-5CB8-4BE0-9BD6-57D4D1DB28FA}"/>
              </a:ext>
            </a:extLst>
          </p:cNvPr>
          <p:cNvSpPr>
            <a:spLocks noGrp="1"/>
          </p:cNvSpPr>
          <p:nvPr/>
        </p:nvSpPr>
        <p:spPr>
          <a:xfrm>
            <a:off x="514350" y="1181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04D8D4-325A-4258-A448-7D59D8FBF896}"/>
              </a:ext>
            </a:extLst>
          </p:cNvPr>
          <p:cNvSpPr>
            <a:spLocks noGrp="1"/>
          </p:cNvSpPr>
          <p:nvPr/>
        </p:nvSpPr>
        <p:spPr>
          <a:xfrm>
            <a:off x="514350" y="1314450"/>
            <a:ext cx="1104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The next iteration should target missing information and validation realism.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9E5BA1C-1828-4442-BC45-A7DB7D669AAA}"/>
              </a:ext>
            </a:extLst>
          </p:cNvPr>
          <p:cNvSpPr>
            <a:spLocks noGrp="1"/>
          </p:cNvSpPr>
          <p:nvPr/>
        </p:nvSpPr>
        <p:spPr>
          <a:xfrm>
            <a:off x="514350" y="6515100"/>
            <a:ext cx="111633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116B25-1958-4E16-AA95-D4263831618D}"/>
              </a:ext>
            </a:extLst>
          </p:cNvPr>
          <p:cNvSpPr>
            <a:spLocks noGrp="1"/>
          </p:cNvSpPr>
          <p:nvPr/>
        </p:nvSpPr>
        <p:spPr>
          <a:xfrm>
            <a:off x="514350" y="6591300"/>
            <a:ext cx="3714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ROY + SEAN · FRAUD DETECTION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DC60DA-C9D5-4268-B93C-076C9154C267}"/>
              </a:ext>
            </a:extLst>
          </p:cNvPr>
          <p:cNvSpPr>
            <a:spLocks noGrp="1"/>
          </p:cNvSpPr>
          <p:nvPr/>
        </p:nvSpPr>
        <p:spPr>
          <a:xfrm>
            <a:off x="11125200" y="6581775"/>
            <a:ext cx="5524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def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CD29D1-F0FC-461C-B99B-4E4A086648C7}"/>
              </a:ext>
            </a:extLst>
          </p:cNvPr>
          <p:cNvSpPr>
            <a:spLocks noGrp="1"/>
          </p:cNvSpPr>
          <p:nvPr/>
        </p:nvSpPr>
        <p:spPr>
          <a:xfrm>
            <a:off x="514350" y="1866900"/>
            <a:ext cx="51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B01D5A-9547-4D72-9247-5B4CD04270E7}"/>
              </a:ext>
            </a:extLst>
          </p:cNvPr>
          <p:cNvSpPr>
            <a:spLocks noGrp="1"/>
          </p:cNvSpPr>
          <p:nvPr/>
        </p:nvSpPr>
        <p:spPr>
          <a:xfrm>
            <a:off x="1200150" y="186690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Temporal validation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53C39C-C31F-4BBC-ADD1-4601B4B0E0A9}"/>
              </a:ext>
            </a:extLst>
          </p:cNvPr>
          <p:cNvSpPr>
            <a:spLocks noGrp="1"/>
          </p:cNvSpPr>
          <p:nvPr/>
        </p:nvSpPr>
        <p:spPr>
          <a:xfrm>
            <a:off x="1200150" y="2228850"/>
            <a:ext cx="457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Train earlier, test later with a defensible fraud-event timestamp.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0003B63-A158-4288-AAF8-B342167ED934}"/>
              </a:ext>
            </a:extLst>
          </p:cNvPr>
          <p:cNvSpPr>
            <a:spLocks noGrp="1"/>
          </p:cNvSpPr>
          <p:nvPr/>
        </p:nvSpPr>
        <p:spPr>
          <a:xfrm>
            <a:off x="1200150" y="2867025"/>
            <a:ext cx="45720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490625C-07E3-4870-862C-26209A572215}"/>
              </a:ext>
            </a:extLst>
          </p:cNvPr>
          <p:cNvSpPr>
            <a:spLocks noGrp="1"/>
          </p:cNvSpPr>
          <p:nvPr/>
        </p:nvSpPr>
        <p:spPr>
          <a:xfrm>
            <a:off x="5943600" y="1866900"/>
            <a:ext cx="51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D6D6E6-12E9-46E6-8C29-308CE6E82F31}"/>
              </a:ext>
            </a:extLst>
          </p:cNvPr>
          <p:cNvSpPr>
            <a:spLocks noGrp="1"/>
          </p:cNvSpPr>
          <p:nvPr/>
        </p:nvSpPr>
        <p:spPr>
          <a:xfrm>
            <a:off x="6629400" y="186690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Short-history features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9D8196-4D13-4428-A2CA-C9EA3709A68D}"/>
              </a:ext>
            </a:extLst>
          </p:cNvPr>
          <p:cNvSpPr>
            <a:spLocks noGrp="1"/>
          </p:cNvSpPr>
          <p:nvPr/>
        </p:nvSpPr>
        <p:spPr>
          <a:xfrm>
            <a:off x="6629400" y="2228850"/>
            <a:ext cx="457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Ratios, recency, and early-life sequence features.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9F80ED7-E986-4D6C-8F48-037D3A8C60F1}"/>
              </a:ext>
            </a:extLst>
          </p:cNvPr>
          <p:cNvSpPr>
            <a:spLocks noGrp="1"/>
          </p:cNvSpPr>
          <p:nvPr/>
        </p:nvSpPr>
        <p:spPr>
          <a:xfrm>
            <a:off x="6629400" y="2867025"/>
            <a:ext cx="45720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019D30-EA25-4985-866A-E3B95B715C2F}"/>
              </a:ext>
            </a:extLst>
          </p:cNvPr>
          <p:cNvSpPr>
            <a:spLocks noGrp="1"/>
          </p:cNvSpPr>
          <p:nvPr/>
        </p:nvSpPr>
        <p:spPr>
          <a:xfrm>
            <a:off x="514350" y="3248025"/>
            <a:ext cx="51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F2990A-EC5D-4DC3-A704-FBE71B9F8C59}"/>
              </a:ext>
            </a:extLst>
          </p:cNvPr>
          <p:cNvSpPr>
            <a:spLocks noGrp="1"/>
          </p:cNvSpPr>
          <p:nvPr/>
        </p:nvSpPr>
        <p:spPr>
          <a:xfrm>
            <a:off x="1200150" y="3248025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Domain validation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04F61FC-2333-4D8C-8922-5067C9A790AA}"/>
              </a:ext>
            </a:extLst>
          </p:cNvPr>
          <p:cNvSpPr>
            <a:spLocks noGrp="1"/>
          </p:cNvSpPr>
          <p:nvPr/>
        </p:nvSpPr>
        <p:spPr>
          <a:xfrm>
            <a:off x="1200150" y="3609975"/>
            <a:ext cx="457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Confirm meter/consumption gap definitions and thresholds.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046B0F-283E-491B-A713-5E65C8BEEA21}"/>
              </a:ext>
            </a:extLst>
          </p:cNvPr>
          <p:cNvSpPr>
            <a:spLocks noGrp="1"/>
          </p:cNvSpPr>
          <p:nvPr/>
        </p:nvSpPr>
        <p:spPr>
          <a:xfrm>
            <a:off x="1200150" y="4248150"/>
            <a:ext cx="45720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A1AA986-2CC6-4ACB-8343-7B24E610E330}"/>
              </a:ext>
            </a:extLst>
          </p:cNvPr>
          <p:cNvSpPr>
            <a:spLocks noGrp="1"/>
          </p:cNvSpPr>
          <p:nvPr/>
        </p:nvSpPr>
        <p:spPr>
          <a:xfrm>
            <a:off x="5943600" y="3248025"/>
            <a:ext cx="51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8B5BAC-8B89-4252-B407-D7764DAC943E}"/>
              </a:ext>
            </a:extLst>
          </p:cNvPr>
          <p:cNvSpPr>
            <a:spLocks noGrp="1"/>
          </p:cNvSpPr>
          <p:nvPr/>
        </p:nvSpPr>
        <p:spPr>
          <a:xfrm>
            <a:off x="6629400" y="3248025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Operating point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52D657-B164-42CD-8584-BCC6401A6016}"/>
              </a:ext>
            </a:extLst>
          </p:cNvPr>
          <p:cNvSpPr>
            <a:spLocks noGrp="1"/>
          </p:cNvSpPr>
          <p:nvPr/>
        </p:nvSpPr>
        <p:spPr>
          <a:xfrm>
            <a:off x="6629400" y="3609975"/>
            <a:ext cx="457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Estimate costs, capacity, and probability calibration.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5ECF5AE-378A-4D54-AD42-46803FABDB79}"/>
              </a:ext>
            </a:extLst>
          </p:cNvPr>
          <p:cNvSpPr>
            <a:spLocks noGrp="1"/>
          </p:cNvSpPr>
          <p:nvPr/>
        </p:nvSpPr>
        <p:spPr>
          <a:xfrm>
            <a:off x="6629400" y="4248150"/>
            <a:ext cx="45720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B1CBE16-9551-4475-8683-E3072FC436EF}"/>
              </a:ext>
            </a:extLst>
          </p:cNvPr>
          <p:cNvSpPr>
            <a:spLocks noGrp="1"/>
          </p:cNvSpPr>
          <p:nvPr/>
        </p:nvSpPr>
        <p:spPr>
          <a:xfrm>
            <a:off x="514350" y="4629150"/>
            <a:ext cx="51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063308-0B17-4DC8-B7AC-E46DA98D563E}"/>
              </a:ext>
            </a:extLst>
          </p:cNvPr>
          <p:cNvSpPr>
            <a:spLocks noGrp="1"/>
          </p:cNvSpPr>
          <p:nvPr/>
        </p:nvSpPr>
        <p:spPr>
          <a:xfrm>
            <a:off x="1200150" y="462915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Segment robustness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5C5797-79B0-47F1-B660-A83A70ED210A}"/>
              </a:ext>
            </a:extLst>
          </p:cNvPr>
          <p:cNvSpPr>
            <a:spLocks noGrp="1"/>
          </p:cNvSpPr>
          <p:nvPr/>
        </p:nvSpPr>
        <p:spPr>
          <a:xfrm>
            <a:off x="1200150" y="4991100"/>
            <a:ext cx="457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Define minimum performance and sample-size rules.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ECEDC4C-0680-4E4F-BFDA-DC7AF96E01F8}"/>
              </a:ext>
            </a:extLst>
          </p:cNvPr>
          <p:cNvSpPr>
            <a:spLocks noGrp="1"/>
          </p:cNvSpPr>
          <p:nvPr/>
        </p:nvSpPr>
        <p:spPr>
          <a:xfrm>
            <a:off x="1200150" y="5629275"/>
            <a:ext cx="45720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1EAB85-8E08-4FA2-B65F-71199024D5C7}"/>
              </a:ext>
            </a:extLst>
          </p:cNvPr>
          <p:cNvSpPr>
            <a:spLocks noGrp="1"/>
          </p:cNvSpPr>
          <p:nvPr/>
        </p:nvSpPr>
        <p:spPr>
          <a:xfrm>
            <a:off x="5943600" y="4629150"/>
            <a:ext cx="514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9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 i="0">
                <a:solidFill>
                  <a:srgbClr val="1877D2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FD19580-435B-497E-804C-B73A1B1DD279}"/>
              </a:ext>
            </a:extLst>
          </p:cNvPr>
          <p:cNvSpPr>
            <a:spLocks noGrp="1"/>
          </p:cNvSpPr>
          <p:nvPr/>
        </p:nvSpPr>
        <p:spPr>
          <a:xfrm>
            <a:off x="6629400" y="4629150"/>
            <a:ext cx="457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5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 i="0">
                <a:solidFill>
                  <a:srgbClr val="101114"/>
                </a:solidFill>
                <a:latin typeface="Helvetica Neue"/>
                <a:ea typeface="Helvetica Neue"/>
                <a:cs typeface="Helvetica Neue"/>
              </a:rPr>
              <a:t>Production contract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4B464F3-05C9-4B1B-95F7-16D97F509C78}"/>
              </a:ext>
            </a:extLst>
          </p:cNvPr>
          <p:cNvSpPr>
            <a:spLocks noGrp="1"/>
          </p:cNvSpPr>
          <p:nvPr/>
        </p:nvSpPr>
        <p:spPr>
          <a:xfrm>
            <a:off x="6629400" y="4991100"/>
            <a:ext cx="4572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def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 i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Version transformer, schema, model, and monitoring together.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DB55EDE-83F0-47C7-8F31-5771DBF02F2F}"/>
              </a:ext>
            </a:extLst>
          </p:cNvPr>
          <p:cNvSpPr>
            <a:spLocks noGrp="1"/>
          </p:cNvSpPr>
          <p:nvPr/>
        </p:nvSpPr>
        <p:spPr>
          <a:xfrm>
            <a:off x="6629400" y="5629275"/>
            <a:ext cx="4572000" cy="9525"/>
          </a:xfrm>
          <a:prstGeom prst="rect">
            <a:avLst/>
          </a:prstGeom>
          <a:solidFill>
            <a:srgbClr val="C9CDD3"/>
          </a:solidFill>
          <a:ln w="0">
            <a:solidFill>
              <a:srgbClr val="C9CDD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2608490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1845</Words>
  <Application>Microsoft Macintosh PowerPoint</Application>
  <DocSecurity>0</DocSecurity>
  <PresentationFormat>Widescreen</PresentationFormat>
  <Paragraphs>382</Paragraphs>
  <Slides>23</Slides>
  <Notes>23</Notes>
  <HiddenSlides>4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Calibri</vt:lpstr>
      <vt:lpstr>Helvetica Neue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Roy</cp:lastModifiedBy>
  <cp:revision>8</cp:revision>
  <dcterms:created xsi:type="dcterms:W3CDTF">2026-08-21T09:59:51Z</dcterms:created>
  <dcterms:modified xsi:type="dcterms:W3CDTF">2026-08-21T10:14:48Z</dcterms:modified>
</cp:coreProperties>
</file>