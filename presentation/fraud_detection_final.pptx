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dc63ea138046d9" /><Relationship Type="http://schemas.openxmlformats.org/officeDocument/2006/relationships/extended-properties" Target="/docProps/app.xml" Id="Rec8329568f134f4c" /><Relationship Type="http://schemas.openxmlformats.org/officeDocument/2006/relationships/officeDocument" Target="/ppt/presentation.xml" Id="R92126224609649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56b3a0aaaf4e75"/>
  </p:sldMasterIdLst>
  <p:notesMasterIdLst>
    <p:notesMasterId xmlns:r="http://schemas.openxmlformats.org/officeDocument/2006/relationships" r:id="R46dc6cef6d864638"/>
  </p:notesMasterIdLst>
  <p:sldIdLst>
    <p:sldId xmlns:r="http://schemas.openxmlformats.org/officeDocument/2006/relationships" id="256" r:id="Rd24ccd47dfcb44a3"/>
    <p:sldId xmlns:r="http://schemas.openxmlformats.org/officeDocument/2006/relationships" id="257" r:id="Rd7c9a23932b048e7"/>
    <p:sldId xmlns:r="http://schemas.openxmlformats.org/officeDocument/2006/relationships" id="258" r:id="Rb8a6fa5dfa9e41fd"/>
    <p:sldId xmlns:r="http://schemas.openxmlformats.org/officeDocument/2006/relationships" id="259" r:id="R145ff301f36c4d4f"/>
    <p:sldId xmlns:r="http://schemas.openxmlformats.org/officeDocument/2006/relationships" id="260" r:id="Rbd25ea2218684838"/>
    <p:sldId xmlns:r="http://schemas.openxmlformats.org/officeDocument/2006/relationships" id="261" r:id="R1c7d38f15b9a45df"/>
    <p:sldId xmlns:r="http://schemas.openxmlformats.org/officeDocument/2006/relationships" id="262" r:id="R66032d100d244cde"/>
    <p:sldId xmlns:r="http://schemas.openxmlformats.org/officeDocument/2006/relationships" id="263" r:id="Rf53edd1f3f9b45de"/>
    <p:sldId xmlns:r="http://schemas.openxmlformats.org/officeDocument/2006/relationships" id="264" r:id="R7a5998f33fd74d58"/>
    <p:sldId xmlns:r="http://schemas.openxmlformats.org/officeDocument/2006/relationships" id="265" r:id="R68193678fa3c4201"/>
    <p:sldId xmlns:r="http://schemas.openxmlformats.org/officeDocument/2006/relationships" id="266" r:id="Ra6daf29220bb443d"/>
    <p:sldId xmlns:r="http://schemas.openxmlformats.org/officeDocument/2006/relationships" id="267" r:id="Re4a5bad0e4b649d8"/>
    <p:sldId xmlns:r="http://schemas.openxmlformats.org/officeDocument/2006/relationships" id="268" r:id="Rbe1ffce7831d4680"/>
    <p:sldId xmlns:r="http://schemas.openxmlformats.org/officeDocument/2006/relationships" id="269" r:id="Rbaf6505ae60e464f"/>
    <p:sldId xmlns:r="http://schemas.openxmlformats.org/officeDocument/2006/relationships" id="270" r:id="R089b2a98cd6b4dce"/>
    <p:sldId xmlns:r="http://schemas.openxmlformats.org/officeDocument/2006/relationships" id="271" r:id="R6720e811b16b407c"/>
    <p:sldId xmlns:r="http://schemas.openxmlformats.org/officeDocument/2006/relationships" id="272" r:id="Ra7f0d12132a646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adb838c90f4dc3" /><Relationship Type="http://schemas.openxmlformats.org/officeDocument/2006/relationships/slideMaster" Target="/ppt/slideMasters/slideMaster1.xml" Id="R8c56b3a0aaaf4e75" /><Relationship Type="http://schemas.openxmlformats.org/officeDocument/2006/relationships/notesMaster" Target="/ppt/notesMasters/notesMaster1.xml" Id="R46dc6cef6d864638" /><Relationship Type="http://schemas.openxmlformats.org/officeDocument/2006/relationships/presProps" Target="/ppt/presProps.xml" Id="Rbac0f4ab89d545ae" /><Relationship Type="http://schemas.openxmlformats.org/officeDocument/2006/relationships/tableStyles" Target="/ppt/tableStyles.xml" Id="R627062cfdb354d3a" /><Relationship Type="http://schemas.openxmlformats.org/officeDocument/2006/relationships/slide" Target="/ppt/slides/slide1.xml" Id="Rd24ccd47dfcb44a3" /><Relationship Type="http://schemas.openxmlformats.org/officeDocument/2006/relationships/slide" Target="/ppt/slides/slide2.xml" Id="Rd7c9a23932b048e7" /><Relationship Type="http://schemas.openxmlformats.org/officeDocument/2006/relationships/slide" Target="/ppt/slides/slide3.xml" Id="Rb8a6fa5dfa9e41fd" /><Relationship Type="http://schemas.openxmlformats.org/officeDocument/2006/relationships/slide" Target="/ppt/slides/slide4.xml" Id="R145ff301f36c4d4f" /><Relationship Type="http://schemas.openxmlformats.org/officeDocument/2006/relationships/slide" Target="/ppt/slides/slide5.xml" Id="Rbd25ea2218684838" /><Relationship Type="http://schemas.openxmlformats.org/officeDocument/2006/relationships/slide" Target="/ppt/slides/slide6.xml" Id="R1c7d38f15b9a45df" /><Relationship Type="http://schemas.openxmlformats.org/officeDocument/2006/relationships/slide" Target="/ppt/slides/slide7.xml" Id="R66032d100d244cde" /><Relationship Type="http://schemas.openxmlformats.org/officeDocument/2006/relationships/slide" Target="/ppt/slides/slide8.xml" Id="Rf53edd1f3f9b45de" /><Relationship Type="http://schemas.openxmlformats.org/officeDocument/2006/relationships/slide" Target="/ppt/slides/slide9.xml" Id="R7a5998f33fd74d58" /><Relationship Type="http://schemas.openxmlformats.org/officeDocument/2006/relationships/slide" Target="/ppt/slides/slide10.xml" Id="R68193678fa3c4201" /><Relationship Type="http://schemas.openxmlformats.org/officeDocument/2006/relationships/slide" Target="/ppt/slides/slide11.xml" Id="Ra6daf29220bb443d" /><Relationship Type="http://schemas.openxmlformats.org/officeDocument/2006/relationships/slide" Target="/ppt/slides/slide12.xml" Id="Re4a5bad0e4b649d8" /><Relationship Type="http://schemas.openxmlformats.org/officeDocument/2006/relationships/slide" Target="/ppt/slides/slide13.xml" Id="Rbe1ffce7831d4680" /><Relationship Type="http://schemas.openxmlformats.org/officeDocument/2006/relationships/slide" Target="/ppt/slides/slide14.xml" Id="Rbaf6505ae60e464f" /><Relationship Type="http://schemas.openxmlformats.org/officeDocument/2006/relationships/slide" Target="/ppt/slides/slide15.xml" Id="R089b2a98cd6b4dce" /><Relationship Type="http://schemas.openxmlformats.org/officeDocument/2006/relationships/slide" Target="/ppt/slides/slide16.xml" Id="R6720e811b16b407c" /><Relationship Type="http://schemas.openxmlformats.org/officeDocument/2006/relationships/slide" Target="/ppt/slides/slide17.xml" Id="Ra7f0d12132a646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7aa6dc13484e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606de78a6d49aa" /><Relationship Type="http://schemas.openxmlformats.org/officeDocument/2006/relationships/notesMaster" Target="/ppt/notesMasters/notesMaster1.xml" Id="Rfa5ebd66795f47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d48a408d034f6d" /><Relationship Type="http://schemas.openxmlformats.org/officeDocument/2006/relationships/notesMaster" Target="/ppt/notesMasters/notesMaster1.xml" Id="Rb3667d2c09f44d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ffa6de3d174a35" /><Relationship Type="http://schemas.openxmlformats.org/officeDocument/2006/relationships/notesMaster" Target="/ppt/notesMasters/notesMaster1.xml" Id="Rb7b52978df5542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85a3680b684092" /><Relationship Type="http://schemas.openxmlformats.org/officeDocument/2006/relationships/notesMaster" Target="/ppt/notesMasters/notesMaster1.xml" Id="R98a8f8ed739842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995e334c854a4d" /><Relationship Type="http://schemas.openxmlformats.org/officeDocument/2006/relationships/notesMaster" Target="/ppt/notesMasters/notesMaster1.xml" Id="R1b794db5853340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f836c816624078" /><Relationship Type="http://schemas.openxmlformats.org/officeDocument/2006/relationships/notesMaster" Target="/ppt/notesMasters/notesMaster1.xml" Id="Rcf430876787d4d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ffaa89605a4cef" /><Relationship Type="http://schemas.openxmlformats.org/officeDocument/2006/relationships/notesMaster" Target="/ppt/notesMasters/notesMaster1.xml" Id="Rea4f2c2a883549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745d2eab4f4754" /><Relationship Type="http://schemas.openxmlformats.org/officeDocument/2006/relationships/notesMaster" Target="/ppt/notesMasters/notesMaster1.xml" Id="R7ec01479a66243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935f4e27c64a8b" /><Relationship Type="http://schemas.openxmlformats.org/officeDocument/2006/relationships/notesMaster" Target="/ppt/notesMasters/notesMaster1.xml" Id="R128b632dd54946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696818072e451c" /><Relationship Type="http://schemas.openxmlformats.org/officeDocument/2006/relationships/notesMaster" Target="/ppt/notesMasters/notesMaster1.xml" Id="R8a02f696273f4b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0bca473f824a8d" /><Relationship Type="http://schemas.openxmlformats.org/officeDocument/2006/relationships/notesMaster" Target="/ppt/notesMasters/notesMaster1.xml" Id="R775024fc95a644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6daddf310c4ccf" /><Relationship Type="http://schemas.openxmlformats.org/officeDocument/2006/relationships/notesMaster" Target="/ppt/notesMasters/notesMaster1.xml" Id="R2365034b768045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aeb7dc08c5422b" /><Relationship Type="http://schemas.openxmlformats.org/officeDocument/2006/relationships/notesMaster" Target="/ppt/notesMasters/notesMaster1.xml" Id="Rffe7ea270ea449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e655a7b75b4dc2" /><Relationship Type="http://schemas.openxmlformats.org/officeDocument/2006/relationships/notesMaster" Target="/ppt/notesMasters/notesMaster1.xml" Id="R27e8ed3e23d746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c400a5094c457a" /><Relationship Type="http://schemas.openxmlformats.org/officeDocument/2006/relationships/notesMaster" Target="/ppt/notesMasters/notesMaster1.xml" Id="R9c9b3f22643e40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addfab169949f9" /><Relationship Type="http://schemas.openxmlformats.org/officeDocument/2006/relationships/notesMaster" Target="/ppt/notesMasters/notesMaster1.xml" Id="R15380da9a855424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67e72352424c76" /><Relationship Type="http://schemas.openxmlformats.org/officeDocument/2006/relationships/notesMaster" Target="/ppt/notesMasters/notesMaster1.xml" Id="R28cf0bd3f4a14c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operational question: a utility team cannot inspect everybody, so we rank who to inspect first.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slides.md and executed notebook outputs.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prioritisation, not proof.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- 01_eda.ipynb: labelled client counts and target balance.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PR-AUC in plain language: of the clients we put near the top, how many are actually fraud, across the ranking.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- 01_eda.ipynb: target balance.</a:t>
            </a:r>
          </a:p>
          <a:p xmlns:a="http://schemas.openxmlformats.org/drawingml/2006/main">
            <a:r>
              <a:t>- 02_baseline_model.ipynb: dummy PR-AUC and logistic regression comparison.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the conclusion before the technical walk-through, then promise the evidence trail.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- 05_final_model.ipynb: one-time holdout PR-AUC 0.2647 and ROC-AUC 0.8354.</a:t>
            </a:r>
          </a:p>
          <a:p xmlns:a="http://schemas.openxmlformats.org/drawingml/2006/main">
            <a:r>
              <a:t>- 04_error_analysis.ipynb: shared blind spot and segment findings.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one-to-many relationship is the key modelling constraint. Splitting invoice rows would put the same client in both sets.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- 01_eda.ipynb: client/invoice counts, chunked aggregation, target balance.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EDA design decision: a small, documented contract rather than every available aggregate.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- 01_eda.ipynb: selected feature table and feature-contract decision.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visuals to distinguish a candidate signal from a safe causal interpretation.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- 01_eda.ipynb: categorical fraud-rate charts and meter/consumption reconciliation output.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that correlation alone does not tell us which variable to drop; model performance and explainability complete the decision.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- 01_eda.ipynb: feature correlation heatmap and keep/exclude/postpone decisions.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reproducibility story: the model is not a single cell; it is a sequence of explicit decisions.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- 01_eda.ipynb through 05_final_model.ipynb: notebook sequence and preprocessing decisions.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baseline is deliberately modest; its job is to prove the setup and create a fair reference.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- 02_baseline_model.ipynb: five-fold CV dummy and logistic regression results.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family comparison earns the next experiment; it does not end the analysis.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- 03_model_extension.ipynb: out-of-fold PR curves and comparison table.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bar chart carefully: 0 means all three caught the fraud client; 3 means all three missed it. The shared miss is a feature/data problem as much as a model problem.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- 04_error_analysis.ipynb: model agreement counts and missed-history split.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selected model is the best measured candidate, but the holdout segment chart keeps the recommendation honest.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- 05_final_model.ipynb: tuning comparison and one-time holdout results.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Acknowledge the submission as an external check, while being precise that the public leaderboard is provisional and not the same as a final competition result.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Kaggle leaderboard screenshot: presentation/assets/kaggle_leaderboard_rank_275.png.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practical boundary between a model demo and a safe operational experiment.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- 04_error_analysis.ipynb and 05_final_model.ipynb: segment limits and holdout caveats.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analytical story by showing that the next iteration follows directly from observed errors.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- 04_error_analysis.ipynb and 05_final_model.ipynb: next-step recommendations.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bonus is evidence of engineering maturity: the next run should reproduce the table, preprocessing, and evaluation.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.github/workflows/notebooks.yml: GitHub Actions workflow.</a:t>
            </a:r>
          </a:p>
          <a:p xmlns:a="http://schemas.openxmlformats.org/drawingml/2006/main">
            <a:r>
              <a:t>- README.md and scripts/csv_to_parquet.py: reproducibility and data setup.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18c7e4df9f42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c2e7ac873d440a" /><Relationship Type="http://schemas.openxmlformats.org/officeDocument/2006/relationships/slideLayout" Target="/ppt/slideLayouts/slideLayout1.xml" Id="Red25ab02329747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25ab02329747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3d9b1e6f04533" /><Relationship Type="http://schemas.openxmlformats.org/officeDocument/2006/relationships/notesSlide" Target="/ppt/notesSlides/notesSlide1.xml" Id="Rad4f9722498042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42c4c8072400a" /><Relationship Type="http://schemas.openxmlformats.org/officeDocument/2006/relationships/notesSlide" Target="/ppt/notesSlides/notesSlide2.xml" Id="R68468057809846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eff2d684d4947" /><Relationship Type="http://schemas.openxmlformats.org/officeDocument/2006/relationships/notesSlide" Target="/ppt/notesSlides/notesSlide3.xml" Id="R7b4515d38bf84b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03d8ab74c48ba" /><Relationship Type="http://schemas.openxmlformats.org/officeDocument/2006/relationships/notesSlide" Target="/ppt/notesSlides/notesSlide4.xml" Id="Rf02a265733dc41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1033169d240af" /><Relationship Type="http://schemas.openxmlformats.org/officeDocument/2006/relationships/notesSlide" Target="/ppt/notesSlides/notesSlide5.xml" Id="R78dcf1d2736a42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971086a334a44" /><Relationship Type="http://schemas.openxmlformats.org/officeDocument/2006/relationships/notesSlide" Target="/ppt/notesSlides/notesSlide6.xml" Id="R8688a2f8a14e41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a6cf25da446e2" /><Relationship Type="http://schemas.openxmlformats.org/officeDocument/2006/relationships/image" Target="/ppt/media/image.png" Id="R1aeda432829148a6" /><Relationship Type="http://schemas.openxmlformats.org/officeDocument/2006/relationships/image" Target="/ppt/media/image2.png" Id="R9b8d88ba6a6349ad" /><Relationship Type="http://schemas.openxmlformats.org/officeDocument/2006/relationships/notesSlide" Target="/ppt/notesSlides/notesSlide7.xml" Id="Ra2c2b57a833d46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bf31944804069" /><Relationship Type="http://schemas.openxmlformats.org/officeDocument/2006/relationships/image" Target="/ppt/media/image3.png" Id="Rd9767e9df0ca49e7" /><Relationship Type="http://schemas.openxmlformats.org/officeDocument/2006/relationships/notesSlide" Target="/ppt/notesSlides/notesSlide8.xml" Id="R2c558d91512c4a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f9cc725c94474" /><Relationship Type="http://schemas.openxmlformats.org/officeDocument/2006/relationships/notesSlide" Target="/ppt/notesSlides/notesSlide9.xml" Id="R4a67c7a04c664e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bec40eb594d1f" /><Relationship Type="http://schemas.openxmlformats.org/officeDocument/2006/relationships/notesSlide" Target="/ppt/notesSlides/notesSlide10.xml" Id="Rcec2f6f640884f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0104ad740437f" /><Relationship Type="http://schemas.openxmlformats.org/officeDocument/2006/relationships/image" Target="/ppt/media/image4.png" Id="R19754a7d0d6e4845" /><Relationship Type="http://schemas.openxmlformats.org/officeDocument/2006/relationships/notesSlide" Target="/ppt/notesSlides/notesSlide11.xml" Id="Re39c4433349e41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09ed2db7b4f7d" /><Relationship Type="http://schemas.openxmlformats.org/officeDocument/2006/relationships/image" Target="/ppt/media/image5.png" Id="R869b5a1cce20444a" /><Relationship Type="http://schemas.openxmlformats.org/officeDocument/2006/relationships/image" Target="/ppt/media/image6.png" Id="R394235ebbdcd4b8c" /><Relationship Type="http://schemas.openxmlformats.org/officeDocument/2006/relationships/notesSlide" Target="/ppt/notesSlides/notesSlide12.xml" Id="R240ca76d2f064c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dfbd913e2442e" /><Relationship Type="http://schemas.openxmlformats.org/officeDocument/2006/relationships/image" Target="/ppt/media/image7.png" Id="R2a14469aba964a9d" /><Relationship Type="http://schemas.openxmlformats.org/officeDocument/2006/relationships/notesSlide" Target="/ppt/notesSlides/notesSlide13.xml" Id="Rd14f3d00d42248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1e2dca49e4c91" /><Relationship Type="http://schemas.openxmlformats.org/officeDocument/2006/relationships/image" Target="/ppt/media/image8.png" Id="Rde07263087754afd" /><Relationship Type="http://schemas.openxmlformats.org/officeDocument/2006/relationships/notesSlide" Target="/ppt/notesSlides/notesSlide14.xml" Id="R26179f5c6cb844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a08cee15840c7" /><Relationship Type="http://schemas.openxmlformats.org/officeDocument/2006/relationships/notesSlide" Target="/ppt/notesSlides/notesSlide15.xml" Id="Re605d8c3d46440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48795744f4f39" /><Relationship Type="http://schemas.openxmlformats.org/officeDocument/2006/relationships/notesSlide" Target="/ppt/notesSlides/notesSlide16.xml" Id="Raa1497e1417140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1a447fae54886" /><Relationship Type="http://schemas.openxmlformats.org/officeDocument/2006/relationships/notesSlide" Target="/ppt/notesSlides/notesSlide17.xml" Id="R6347f44f082d4b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34282-12B3-4982-A474-BDBC1B6A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DADC"/>
                </a:solidFill>
                <a:latin typeface="Aptos"/>
                <a:ea typeface="Aptos"/>
                <a:cs typeface="Aptos"/>
              </a:rPr>
              <a:t>FRAUD DETECTION  /  ML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FE683-F31C-4A12-9797-E7367C8B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clients</a:t>
            </a:r>
          </a:p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should we inspect first?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D8070-8304-4B41-9C5A-F4183BE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D8E3EA"/>
                </a:solidFill>
                <a:latin typeface="Aptos"/>
                <a:ea typeface="Aptos"/>
                <a:cs typeface="Aptos"/>
              </a:rPr>
              <a:t>Turning 4.48 million invoice rows into a useful, capacity-aware fraud ranking.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36F2B-A161-46DD-8A18-C4A8E89C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095375"/>
            <a:ext cx="2762250" cy="34290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D4256"/>
          </a:solidFill>
          <a:ln xmlns:a="http://schemas.openxmlformats.org/drawingml/2006/main" w="9525">
            <a:solidFill>
              <a:srgbClr val="3565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775E2-C067-43E0-9F5F-E8990599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8DADC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E6972-6C1E-4A5B-A9B7-D4BF27B4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many invoices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89D9B-A68F-4690-B3A3-7C385C03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E9A23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E9A23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E80A4-84D1-4E31-9514-7F194E8C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client-level</a:t>
            </a:r>
          </a:p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 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2F060-CD56-4904-A6BC-8A511B43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C7D2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B9C7D2"/>
                </a:solidFill>
                <a:latin typeface="Aptos"/>
                <a:ea typeface="Aptos"/>
                <a:cs typeface="Aptos"/>
              </a:rPr>
              <a:t>Roy + Sean  ·  Electricity &amp; gas fraud challenge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B324D-54A3-4F11-AA4D-0C2AC0F0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4"/>
          </a:solidFill>
          <a:ln xmlns:a="http://schemas.openxmlformats.org/drawingml/2006/main" w="0">
            <a:solidFill>
              <a:srgbClr val="3550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1BA3E-701E-40CD-A526-90ABC019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9C7D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9C7D2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90DAF-5344-4726-B4D4-8A20B515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B9C7D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9C7D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2943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1C9EF-15B5-400B-BCAE-7F96F129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AF57C-0466-4245-9E36-5C65F395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model must improve a real inspection queue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40368-537C-4991-BEDC-3AA8AACB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6D30E-C8A4-4488-9ED5-08E68319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stakeholder does not need an automatic verdict; they need a better order of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A16CF-E568-48FB-ABB3-4D62D27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3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If inspectors can review only a limited number of clients, the useful output is a ranked shortlist.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9601F-F330-4A04-8256-28C16C07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22383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9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D24A8-101E-4C90-ABAF-EBC99216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ALL LABELLED CLIENTS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3A746-14AD-4426-BF90-BF96741B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1857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135,493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2B277-4D68-453F-942D-066DA625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38500"/>
            <a:ext cx="22383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DAAA1-3E1B-4CFB-9F88-22D496DF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909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LABELLED FRAUD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D8896-6710-45A0-99FB-DD47D216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48075"/>
            <a:ext cx="1857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D95D5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D95D53"/>
                </a:solidFill>
                <a:latin typeface="Aptos"/>
                <a:ea typeface="Aptos"/>
                <a:cs typeface="Aptos"/>
              </a:rPr>
              <a:t>7,566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7290F-3CCC-4BA3-BEAA-97445807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38500"/>
            <a:ext cx="22383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3E479-2BDA-4867-BFC4-B259D191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909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FRAUD PREVALENCE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D7334-FCDE-4C3C-B075-8B381A54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48075"/>
            <a:ext cx="1857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5.58%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DF932-8EFA-45C2-88E1-90BEE37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428750" cy="723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4755D-BDE3-4660-9082-31882A46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81375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inspection</a:t>
            </a:r>
          </a:p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D1339-AFCB-489C-87DE-5AACE337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Value means finding more genuine fraud within the team’s fixed capacity — while making false inspections visible.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EEDF3-FB43-4A0F-8C31-8D62D004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417E9-1866-4744-8302-8814CD94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A7442-9417-4D2E-B518-794DA29A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7443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6A74BB-44C4-4FBE-9D79-3D0E24CE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19317-0FA3-4BF3-84AF-FDCE56AE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Accuracy would let the hard part disappear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7ACB2-CF57-4421-80DC-7703408A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E2639-9C74-4D05-870F-813DD10A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Fraud is rare, so we evaluate the ranking where the positive class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A6D1F-3ECA-47F6-8739-F0FBC6ED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AC2D0-B72D-4DB5-B15E-46A062C9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FRAUD PREVALENCE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4483A-AEF3-4E3E-A4B6-40FCD6C4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D95D5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D95D53"/>
                </a:solidFill>
                <a:latin typeface="Aptos"/>
                <a:ea typeface="Aptos"/>
                <a:cs typeface="Aptos"/>
              </a:rPr>
              <a:t>5.58%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23828-466F-48C7-BA70-34AC7F85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383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3BBB3-816C-415E-8119-A340C021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DUMMY PR-AUC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59F21-3870-4C4B-BC22-14D0857A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479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0.056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80C22-D428-4BA7-BFB3-A7A4C795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383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94F1F-5DAD-4B6F-9FDA-B5DB083F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PRIMARY 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29981-B9E0-4F93-BA16-B742627F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479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PR-AUC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3A3AC-FB14-47FD-881E-29617095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Why not accuracy?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4C5A9-DA3D-4F6A-B29B-680271A9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BA597-9CC3-439E-81E3-97D870BE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Predicting ‘not fraud’ for everybody is about 94% accurate.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A90C8-4AC0-47B5-B0E0-396CBF44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6742E-EE7C-400F-9BA8-10309F65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That strategy finds zero fraud cases.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4C791-0768-48C4-828A-A991063E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1B08E-65E8-46D0-B1CF-0BB6E482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Average precision rewards a useful ordering of rare positives.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19206-AA06-48B9-809A-3AD7BDCC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67F5E-4BA2-40F2-AD4F-6B4F510D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Precision@k and recall@k translate the score into inspection capacity.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5CECDE-F02D-46C7-97D6-95B27C38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E6B96-E88E-49D2-9C37-FB6FFC19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D37EA-29AF-401D-A865-AA487B80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85779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8C936-ED2C-4D9E-980C-6B2C9615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8DADC"/>
                </a:solidFill>
                <a:latin typeface="Aptos"/>
                <a:ea typeface="Aptos"/>
                <a:cs typeface="Aptos"/>
              </a:rPr>
              <a:t>RECOMMENDATION  /  THE CONCLUSION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19990-4B08-4B11-AFD9-0C59C982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tuned LightGBM</a:t>
            </a:r>
          </a:p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 a ranking aid.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E10E9-F56E-4C5F-BE50-91DA0219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9A23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E9A23B"/>
                </a:solidFill>
                <a:latin typeface="Aptos"/>
                <a:ea typeface="Aptos"/>
                <a:cs typeface="Aptos"/>
              </a:rPr>
              <a:t>Not an automatic fraud verdict.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A9D08-8378-4530-A1C1-240A25D2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4300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D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6E37D-40C3-49F1-8684-4949C6FA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95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FINAL HOLDOUT PR-AUC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EA004-8E20-4540-B4BD-BD438670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52575"/>
            <a:ext cx="247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0.2647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9EB1C-C696-4BEA-A45A-7C4BE97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D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97161-F14E-4527-B8D6-CEF06569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95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FINAL HOLDOUT ROC-AUC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65CB8-91D4-4F5C-BD68-52F678AF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52725"/>
            <a:ext cx="247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0.8354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400CB-E6C9-4F9C-A4C2-773794D8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A8DADC"/>
                </a:solidFill>
                <a:latin typeface="Aptos"/>
                <a:ea typeface="Aptos"/>
                <a:cs typeface="Aptos"/>
              </a:rPr>
              <a:t>The evidence behind this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16614-D15A-4C1E-933E-CDF3B445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2DDBA-DF2B-487D-9B97-C8446D7C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Client-level features contain signal beyond the dummy ranking.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67197-3613-4031-BB67-E20844C8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07103-F4F5-4B20-AE26-BD35CB91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Tree models improve the linear baseline, but do not separate fraud perfectly.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0DD61-2A31-4D4C-8885-0DAB08FA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AD424-D9F0-4683-BB30-35357055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 analysis finds a shared short-history blind spot and regional variation.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9F6B3-B15F-4B8C-837A-11BF4456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438ED-2625-4789-8DE6-42EFD6EA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72075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review and a capacity-based threshold remain necessary.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1AB82-AF79-483B-B42A-E164EC33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8E3EA"/>
                </a:solidFill>
                <a:latin typeface="Aptos"/>
                <a:ea typeface="Aptos"/>
                <a:cs typeface="Aptos"/>
              </a:rPr>
              <a:t>Next: how the EDA, feature contract, models, and error analysis led here.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E824F-AF8D-4504-8E87-311C1EFE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4"/>
          </a:solidFill>
          <a:ln xmlns:a="http://schemas.openxmlformats.org/drawingml/2006/main" w="0">
            <a:solidFill>
              <a:srgbClr val="35506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D6FF7-A2CF-40EA-9601-42ACD767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9C7D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9C7D2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CC806-099E-4819-927B-FBDABB7B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B9C7D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9C7D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354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F7547-460F-4C43-8646-0669A211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C40AE-E3E1-4F75-B6AC-C852895A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We changed the grain before we changed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98FDF-723A-4209-9965-CE606595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BCE24-2F37-4526-8B4E-0803434B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target is at client level; invoices are a repeated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75F1D-FCD2-464A-8922-5720AAC3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133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9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A0D4B-E3AD-4623-B1C3-4635ACED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CLIENT 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22DAB-8C3D-4618-98C0-FE89EAD2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622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135,493 rows</a:t>
            </a:r>
          </a:p>
          <a:p xmlns:a="http://schemas.openxmlformats.org/drawingml/2006/main">
            <a:pPr algn="ctr"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 target / 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7647D-BC25-4265-9BE2-C9C71332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479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2A9D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309F1-5B62-4458-A389-A3E6FF12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133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EC324-7135-4E9A-9889-0F3CEC22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INVOICE 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ADB25-4E70-4BAC-BE2C-15ED6D62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622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4,476,749 rows</a:t>
            </a:r>
          </a:p>
          <a:p xmlns:a="http://schemas.openxmlformats.org/drawingml/2006/main">
            <a:pPr algn="ctr"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many /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C8A8D-C3CC-4A51-9C07-12AE394A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479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2A9D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807AC-2A36-4BD2-9ADE-83EE8D63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133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2B8E7-5DCB-4FDA-96E3-C851D379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FEATURE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62234-C292-4E9D-954C-1FCF0F4A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622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135,493 rows</a:t>
            </a:r>
          </a:p>
          <a:p xmlns:a="http://schemas.openxmlformats.org/drawingml/2006/main">
            <a:pPr algn="ctr"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15 inputs +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C5502-6591-4E3F-8183-E38451AC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479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2A9D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8F817-6A6E-4AFD-BEAA-563C08CA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95500"/>
            <a:ext cx="2133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F8C91-623A-4923-9B07-D05595EE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MODEL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4C3F1-D1F5-47A8-BC27-E14DE760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622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ranked</a:t>
            </a:r>
          </a:p>
          <a:p xmlns:a="http://schemas.openxmlformats.org/drawingml/2006/main">
            <a:pPr algn="ctr"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inspection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BB746-6515-4094-A7A1-258B809A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Invoices were read in chunks; the executed EDA completed aggregation in 16.4 seconds.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26A23-03F6-4F95-968B-B68827E1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The raw tables have no missing cells. 5,333 clients lack a valid meter transition; those derived features are imputed only inside modelling.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1FCB7-5CAD-459D-9753-0160A262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95446-9B22-4EE2-8D61-C4CBF163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C96B4-0B84-419C-866B-0BDB1640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142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D0110D-F9A4-444B-B903-7D36B739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832F5-2F4D-4283-9846-BAF49D6D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feature contract made the history comparable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854BF-4F55-418F-BF2D-E1EAAFAA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AAD6A-5C7D-4AB9-9084-E7F265DD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Twelve engineered numeric features plus three original categorical fields.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E6228-6AC4-4FBC-B005-4DCC6B9C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0B05A-AE0A-4D1D-9334-A334015D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B1302-3EB3-4B2B-867E-73731F8A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38350"/>
            <a:ext cx="531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2BBB5-3DDD-4B2A-A897-70AC55D5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33600"/>
            <a:ext cx="510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CE332-8090-4804-A5A5-5E9DE1E5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38350"/>
            <a:ext cx="3219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D6722-2BFA-40EB-B4D3-23FB5DC1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33600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ENTERS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54805-019D-48DE-BD49-EDF930F6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39518-3B1C-4E7D-B802-631181E8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5EC76-DFC1-4792-A751-2433AF79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38400"/>
            <a:ext cx="531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9081F-CD3F-4F26-933A-7F008FB0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336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invoice_count · active_days · mean_invoice_gap_days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C8E4E-238A-404B-AD25-3020F414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38400"/>
            <a:ext cx="3219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D2A5C-8C78-4357-AEBD-B3182109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336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Exposure and regularity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ADF4C-488B-4DB0-9BE2-BC8E1311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2B53A-013D-4E01-B062-9AE75A42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Consumption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4DE5C-3919-4841-9BAD-1A04AB18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86100"/>
            <a:ext cx="531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1EBAC-C0AD-45F2-A6A0-0EAEFF0D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mean_consumption · zero_consumption_rate · elec_share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77642-7268-4D0F-A90D-78079C84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86100"/>
            <a:ext cx="3219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D6DE51-F41F-4AD3-A713-BB76C4E4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Typical use across unequal 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49C4D-2E36-4166-925B-DA988D44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0B6F7-FB18-4B77-826B-D9B8805D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4E420D-41AB-4647-AC91-07F3B078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33800"/>
            <a:ext cx="531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A084A0-E257-47ED-BB27-0C4D4AE0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290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backwards_index_rate · meter_count · mean_monthly_submission_index_delta · backward_submission_rate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62C6F-E026-4DCE-AFF8-9BA16306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33800"/>
            <a:ext cx="3219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D76E7F-38EB-40E3-AEF8-77A90B67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Corrections and sequence behaviour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89654-D4F6-43BD-9DE4-E4ECFF1F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30ED22-B16C-427A-9425-06EF5CCD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Reconciliation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A49C65-F1B2-4D93-BBA5-5ED379CE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531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673C86-288C-4EA0-9CEB-E72EDCA8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767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large_mismatch_count · reconciliation_gap_abs_mean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1CCBDC-1ADB-429F-A288-9C80C1A9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81500"/>
            <a:ext cx="3219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545597-F660-426A-B3EE-239659B4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767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Meter movement versus billed use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775D3B-1C5C-4E08-BB7A-4CCAF92B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7B3B8E-1229-4201-8D56-B7F24BFB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Category / geo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43AAE9-0464-4DC2-A531-69662DC8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29200"/>
            <a:ext cx="531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878BD4-C8A6-449E-8B04-53675C23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244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client_catg · disrict · region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1A0624-EB24-4CD0-A294-6C2BF7BF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29200"/>
            <a:ext cx="3219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E34B2C-2077-47F1-960F-3184EC74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244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Group patterns without fake numeric distance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C3056D-F328-45AD-AEF2-553456F6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EA5B88-A983-464F-9B5D-0E372C87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BASELINE INPUTS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027CA1-9096-4E2F-93BF-ABBC5AD5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19825"/>
            <a:ext cx="13335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22222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9E7276-3C9B-4806-AB7B-5D0AF8AC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86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Postponed ≠ deleted: totals, maxima, duplicate counts, raw dates, and possible investigation-leakage fields stay available for later experiments.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FBFEAE-83ED-447E-A4F8-ACBE4168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BCC962-AE51-4697-9986-214A171B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2B5F3D-0821-4E16-8A97-520522C7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4215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44137-2EAD-45D9-B0D1-786D5952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C4DCA-DCAD-4B8E-A094-4C28BA63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strongest patterns also expose the main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F9702-E8DF-4C9B-8F7F-E5AFB5C7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A5002-7B0D-4E57-912D-EB405728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Associations are useful for feature design, but they are not causal proof.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da432829148a6"/>
          <a:stretch xmlns:a="http://schemas.openxmlformats.org/drawingml/2006/main"/>
        </p:blipFill>
        <p:spPr>
          <a:xfrm xmlns:a="http://schemas.openxmlformats.org/drawingml/2006/main">
            <a:off x="647700" y="2626756"/>
            <a:ext cx="4762500" cy="1223487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d88ba6a6349ad"/>
          <a:stretch xmlns:a="http://schemas.openxmlformats.org/drawingml/2006/main"/>
        </p:blipFill>
        <p:spPr>
          <a:xfrm xmlns:a="http://schemas.openxmlformats.org/drawingml/2006/main">
            <a:off x="7187298" y="1809750"/>
            <a:ext cx="3341905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8B86A-7050-431B-9EC2-5A2D0FCB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95D5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D95D53"/>
                </a:solidFill>
                <a:latin typeface="Aptos"/>
                <a:ea typeface="Aptos"/>
                <a:cs typeface="Aptos"/>
              </a:rPr>
              <a:t>Category 51: 16.87% fraud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E094C-2BE9-4CBC-A09A-35AAE68B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Large mismatch: 8.82% of fraud vs 5.52% of non-fraud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9CBEF-8559-4149-BD89-364DA863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Observation-window bias: fraud rises from 0.94% in the shortest-history group to 9.15% in the longest. Longer histories create more opportunities for a label to appear.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1FF64-2809-4CEB-A8B9-2C1382E3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8D28A-010E-4448-8265-D3C8C3D3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51B5A-8FA7-403C-BB45-4276E304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125058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6187E-8080-48A4-B381-740DADCC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B333A-6806-46A6-8612-776044A6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We kept rows, but made the model inputs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0438D-4706-400B-B441-EED16CDA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20AB4-9290-4DCF-818A-FAAEDD51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correlation table informed the discussion; it did not decide feature deletion by itself.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8F740-1091-4641-857B-6489A581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2E9D3-E203-4BC2-B168-EFC2D8F9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41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KEEP: all raw invoice rows, including the 11 duplicate-looking rows and backward readings.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89B6E-B290-416F-88FA-B057318E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A60F4-8DC0-4B32-83AD-DF3E9F2D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541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KEEP: 15 client inputs — 12 engineered numeric + 3 categorical.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587E4-DC94-485E-8997-961E1DA8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A325E-A1CE-46B2-B4A5-A8F61F38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541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EXCLUDE: IDs, target, raw dates, unreliable tenure, split labels, and possible last-invoice leakage.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2D20A-A299-4075-80DC-AC68F6CE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D57CC-3A99-4A17-8BA3-3CDFCAA3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541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POSTPONE: redundant totals, maxima, count duplicates, and invalid months_number features.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67e9df0ca49e7"/>
          <a:stretch xmlns:a="http://schemas.openxmlformats.org/drawingml/2006/main"/>
        </p:blipFill>
        <p:spPr>
          <a:xfrm xmlns:a="http://schemas.openxmlformats.org/drawingml/2006/main">
            <a:off x="6953250" y="1954637"/>
            <a:ext cx="4095750" cy="3663100"/>
          </a:xfrm>
          <a:prstGeom xmlns:a="http://schemas.openxmlformats.org/drawingml/2006/main" prst="roundRect">
            <a:avLst>
              <a:gd name="adj" fmla="val 311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FEB36-73EC-4CDC-B9B6-1443EA2D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No pair exceeded 0.90. Invoice count and active days correlated at 0.77, so we kept both as explicit history signals and tested the risk in error analysis.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4B069-B873-498A-8EA3-2DC0F8ED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0A1FD-6F22-47D5-88BE-1C167B98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11BFA-8B2D-4374-BE69-E89066D7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887691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86E5A6-B3BC-43E4-AEEE-DC7FD54E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5AB53-B815-4039-ADC3-78AE08F8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notebooks form one reproducible modelling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0D4D4-3017-4F81-A804-6FA0413A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EC02B-FE5B-41C5-8E34-18CAC1E4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Each numbered notebook answers a different question and carries the same feature contract forward.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C75BC-23E9-419E-AF25-6C52B7AE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8478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9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D3FAA-B4DA-4FDE-A58A-F7789169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9695F-76D1-4491-8D30-43698CD1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8AA77-BA04-4048-8E41-F653EEAE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aggregate</a:t>
            </a:r>
          </a:p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and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ABC01-219E-43F3-A383-AD3165E2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0987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2A9D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D13EB-0731-4349-9BE8-B4B07283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478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49C50-55C1-4F30-8600-BBF9FAFA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EC5C0-245A-43A4-B043-298CFF79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146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BD903-6CFE-4B16-B603-BE1C1C13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dummy vs</a:t>
            </a:r>
          </a:p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logistic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9E10A-440F-4C62-993C-DCBD9EE5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987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2A9D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E6854-5622-463E-AC68-71EDCF9A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8478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5E081-9FA3-4F18-9D5D-F2BB6648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898C6-C885-4128-9C3C-C2C00E6B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146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E0086-3C11-4EBC-8F67-1D8E2254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813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six model</a:t>
            </a:r>
          </a:p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families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09D63-D362-42ED-A4FA-69624CC8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987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2A9D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29B94-B4D0-47B5-BCEA-0BFC3B1D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90750"/>
            <a:ext cx="18478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A3396-AD13-4A3C-82C8-789D84C1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531D2C-1574-4F09-B910-31F1F2A1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146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Errors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FB11C-0C9E-4810-A54F-3416E1A1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813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agreement +</a:t>
            </a:r>
          </a:p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segments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3A9F8-50CE-4DB0-A2E6-1924A02F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987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2A9D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0454F-51D8-4CF5-A500-E09C171B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8478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E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B8FC35-9F77-4AD6-993C-38AEE3C4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D64A9B-1189-4CE4-9B78-2B14E295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146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Final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6B45F3-2AB2-49A0-9DF0-952FA8F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813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tune + one-time</a:t>
            </a:r>
          </a:p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holdout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872598-E039-47EC-ABA7-9098DA4F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5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Fold-safe preprocessing: numeric median imputation/scaling and categorical handling are fitted inside training folds.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52B0CE-46CA-4809-AA7F-33F65C6E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97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EDA itself does not fill source-table cells. The final holdout is created in memory and scored once after decisions are frozen.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7C78EF-8565-4D22-9178-40FE58DE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0A07BE-22B2-49C1-B8B5-9AE01F6D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3D429D-3744-4165-B90F-4595EDD0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24045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2C3611-358F-4789-8B08-DD286B80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33E42-FCBB-4200-8549-EE8EE306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simple model proved that the features contain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4A69B-7E08-48B4-8146-EB5A1098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E92AE-7DD5-4A66-936D-D5FEC0A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We started with a dummy reference and regularised logistic regression.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8B5DB-26C2-49DE-9B4A-119F8C57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F7CE8-DF44-48F6-82A6-43286F72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8F85F-81EA-4D27-8233-824258A7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FF6B5-3854-494C-AA29-F6CC51FE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5-FOLD PR-AUC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DFE97-A439-45A8-8774-2C185966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907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DC7D9-A741-485A-9E28-534CA982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15154-D783-43D2-80F1-2452D8B9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D48B2-D176-4A31-8034-C23C710F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65C65-3D41-4D6C-B86A-5067F2E0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2838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89D70-5A38-4928-991E-F4027CDD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Dummy classifier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E23F9-E0E5-46C2-9AEB-E82BA2CA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00325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AD724-2931-4449-AD3C-5BF0ED14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146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0.056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4AF81-E4C4-4BB6-8EAE-9D7709D0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00325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39F0E-DF03-4ED9-8052-5C7575FB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146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0.502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89169-A491-4662-AFE5-A559E41B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0325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3F738-E504-4B28-A843-02588C3D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reference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FAC6E-D7E1-4114-8D80-5E5CAE57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2838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F2319-0814-4C21-B028-D7C2C62B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5F795-6F7B-4037-8896-2C0DAF4F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09925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8A4E8-5FD3-4DE3-B5E3-9513960A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242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0.170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F90FE-6641-4FEE-A88F-1BD1B600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09925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D0513-5071-455F-ADDF-A0AEB5BF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242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0.795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C9389-EEE4-48EA-B242-BC2D9FDC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9925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EBBA5-5FBE-4119-8CB3-12748823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242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explainable floor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024E32-716A-47AE-8391-E42855EC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571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201B63-23CD-4BFB-A9AF-5D62A495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384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IMPROVEMENT OVER DUMMY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FAF78F-CAB2-44B8-B410-2C808E09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95575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D95D5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D95D53"/>
                </a:solidFill>
                <a:latin typeface="Aptos"/>
                <a:ea typeface="Aptos"/>
                <a:cs typeface="Aptos"/>
              </a:rPr>
              <a:t>0.056 → 0.170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B81F47-C695-45D0-BCF4-6DDE02AC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it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09C850-BD58-4D8B-B1E7-D944D11E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C8E624-52E1-4547-86CB-06B147E3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931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The feature contract is learnable, not just a class-prior trick.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BC6907-9D61-40D0-ADB2-3304AEEF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6217F6-16E7-4CC1-84C7-27F5106A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931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PR-AUC remains far below 1.0: the classes overlap substantially.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48E03C-CEDE-45AB-9069-7C11B710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3EDAA4-B901-487D-8055-56E0CFB1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31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The baseline sets an explainable floor for stronger model families.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4727CA-90AF-4D51-B69D-249B5D63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9B74EB-99D5-42E2-B30F-062DD81A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5C7073-8AAC-4177-BE95-9419D83E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22024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F41FDC-5937-41EF-9992-177C4C60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B536B-DB2C-48B7-A8B2-C0EBFF23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Non-linear tree models moved the ranking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C60E3-5B52-44AC-ABD6-436D393D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AAA00-AD85-4092-B818-D6AE7305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Same 15 inputs, same five-fold CV, six candidate families.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54a7d0d6e4845"/>
          <a:stretch xmlns:a="http://schemas.openxmlformats.org/drawingml/2006/main"/>
        </p:blipFill>
        <p:spPr>
          <a:xfrm xmlns:a="http://schemas.openxmlformats.org/drawingml/2006/main">
            <a:off x="1301535" y="1809750"/>
            <a:ext cx="4121581" cy="3524250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04F12-0B65-49F3-AB5F-67AFCF1B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A0832-AD09-43DD-B92B-13BD8035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93357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2FF71-57D5-4857-B3F0-0CECF76A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03130-5542-4887-AF85-17509772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335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PR-AUC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67523-17A7-4511-8E6B-78906462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478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ACA47-39FC-4753-8FC8-8C10D660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9335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97A8C-6EDE-424F-A017-78186B47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478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8FD80-15C2-4B96-AFF2-6C0871BA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9335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74036-24FC-4CB1-BF3F-B49B9B74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19325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C8648-67C5-4D21-BEC6-D7FDC7F8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145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LightGBM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FEE9B-6174-47B9-BB6B-296939DD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933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E766A-DB31-4C0F-8952-436AB5A5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145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0.247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17C75-AFEA-4F30-A8AC-F71D9502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19325"/>
            <a:ext cx="933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2910E-EEF4-49EE-870B-8732F089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145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0.831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E45F3-713C-4113-AF84-9D2251E8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19325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8D7BC-F240-42F1-A26E-177F5D6B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3145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tune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870C5-829E-4A4F-A766-6DCCD291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45901-F537-41B1-BA74-7809D852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098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C100D-D39A-401D-8D74-0C2B87C9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933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0A2019-7BDB-4D80-A466-4AFE36C1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8098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0.232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C56260-D661-4908-992B-ADA44AF6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14625"/>
            <a:ext cx="933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75C625-0D7A-40C0-A749-1F179836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098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0.812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87B215-A5C8-4CAB-8F58-01700614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14625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A1CED2-D1B0-4C66-92D3-100AC8DB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8098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reference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3B4F64-3B2C-4ABE-B3E0-F7607CE9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6FF685-16AD-4470-8CC3-BA16401A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051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EC1CD-10AA-475E-889F-72837B56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933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3C1A63-BE6E-4214-BDB3-1B7B452C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3051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0.227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BB4A58-29A1-403A-92B2-D9D52332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933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270FCB-5F4C-4B86-B039-5CD2348A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051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0.816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975A35-3272-4909-97F3-DDBC2061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09925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1FB142-8217-4B31-801D-35539332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3051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reference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8A438C-D1EB-42ED-B77F-E98831B2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05225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23418B-3879-4BD2-889E-A50FBA80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004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Logistic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73E239-72B7-41B5-A137-A3A67100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05225"/>
            <a:ext cx="933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D25BA8-220E-4604-99BA-A562F87D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8004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0.170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0CF4AB-BD33-4D8F-A274-ABAE1DEA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05225"/>
            <a:ext cx="933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CEF883-456D-463D-821C-97EA7C78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004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0.795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3683A3-842F-4A0E-A8BC-3E8D8A91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05225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3CD591-2CAA-45E8-BCEA-7E88455C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8004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A922B0-9211-46AA-86B1-2105BD7B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00525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B93CE2-C493-461A-8004-38B54D23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957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KNN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9BF699-1A1F-4A20-88A4-C9107AC2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933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423911-E0C8-42CB-BC52-6030FD1D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957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0.139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45E614-E98E-49F3-B093-33F68270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00525"/>
            <a:ext cx="933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2C9E3F-DE8E-4060-87E2-7478934A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2957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0.687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1B1878-3B6F-4297-856C-5CFD2F71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00525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B07497-2AB5-496F-8C48-1C3C7E88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2957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weaker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51116E-2EB8-444B-8AF0-C477150A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95825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950028-4D76-40E6-89F4-BB4E1365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7910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Isolation Forest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E48764-B2E8-4670-9297-0A4CAB6C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95825"/>
            <a:ext cx="933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D67D8F-A82F-4A52-BA6E-554336DE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910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0.072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4F9A72-62A2-4D00-8F71-6D31B6AA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95825"/>
            <a:ext cx="933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614A89-F612-4ADB-97DF-8304BD3F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791075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0.560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BD8B46-8DDD-4C47-8524-35F54EBC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95825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ECD5CC-C53D-4D39-91FE-886EEA74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7910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weaker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A7C040-74E3-4994-9035-C894FDB8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2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Decision: tune LightGBM. The gain is evidence for non-linear combinations, not proof that one feature causes fraud.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60B585-51DC-4194-A695-01CAA1FC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F5E6CA-4E63-4D28-A47F-C6AF298D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D2B046-00C0-4B4E-AD9A-522CF4FF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76654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49EAE-7B57-4A09-A8A5-55BF0802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BA9F4-D58A-42D9-9724-617FAF9C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models share a large blind spot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F4483-CA9D-46F6-BC49-AC04FE6C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85443-0175-4BFA-83E1-0A3BD73C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question changed from ‘which model wins?’ to ‘which fraud cases do all models miss?’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b5a1cce20444a"/>
          <a:stretch xmlns:a="http://schemas.openxmlformats.org/drawingml/2006/main"/>
        </p:blipFill>
        <p:spPr>
          <a:xfrm xmlns:a="http://schemas.openxmlformats.org/drawingml/2006/main">
            <a:off x="647700" y="1792877"/>
            <a:ext cx="6667500" cy="2376897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235ebbdcd4b8c"/>
          <a:stretch xmlns:a="http://schemas.openxmlformats.org/drawingml/2006/main"/>
        </p:blipFill>
        <p:spPr>
          <a:xfrm xmlns:a="http://schemas.openxmlformats.org/drawingml/2006/main">
            <a:off x="7976105" y="1790700"/>
            <a:ext cx="319304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AE044-EC82-454A-96F8-DE2FD720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2,250 caught by all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DF5A6-4B9F-4597-A7CB-8E15581B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33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95D5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D95D53"/>
                </a:solidFill>
                <a:latin typeface="Aptos"/>
                <a:ea typeface="Aptos"/>
                <a:cs typeface="Aptos"/>
              </a:rPr>
              <a:t>3,248 missed by all three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29367-8B8D-4A8B-98C9-F500C40B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70D2C-F61C-4592-941F-CA3D8253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3,248 fraud clients (42.9%) were missed by all three tree models.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54B54-61B0-4B74-9028-2A3BD415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3C31B-5BA5-4A75-B6A5-D885ADC8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Short-history clients are especially difficult: top-10% recall is only 2.3% for LightGBM.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08496-630E-44EA-B34D-D69D6D32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6B24F-FE30-4269-B3F2-AA5EF15C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57825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3,017 long-history fraud clients were still missed — not only a short-history problem.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8AD8D-E648-463D-B9FA-FB7842DE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84D79-E74A-474D-A178-E74CFD31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8B6F0-F513-4CFD-8F30-F4802662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85366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A97CF2-07B2-4445-BC36-7E24CBDB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FINAL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D2608-FF31-42F6-9E21-88FE901B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Tuning helped; it did not erase the blind spot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7ECDA-5248-494B-86D3-63ABB75B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1015F-5DBF-4132-AD0C-DA704B75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LightGBM with native categorical handling was selected after a small, evidence-gated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36A27-82C7-4EF8-A64F-6C07C42E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3409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42A55-3599-4D61-8AC5-228D1DC4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85975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695C0-42F8-40F3-B52E-7D88BB10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D6339-66E6-45E4-B756-8FFA4E56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859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DEV CV PR-AUC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426E1-E9A6-467D-9FC4-173FB81E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0025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7834B-F177-43AB-92AD-7A431D50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859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174AE-02AC-4A64-BB26-0C08305F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340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BF3DC-372E-45F9-97E2-20FBCF9F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765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Untuned LightGBM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BE839-C73E-470A-A24E-58ACA77C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71725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CE492-50DF-4238-84AF-CECA963C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765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0.2379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1655B-F01E-4003-B538-D9208883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71725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D1620-BBD8-44F7-828C-590251A4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4765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18DB4-6452-4DD2-B4F4-33193FE5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340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07485-4044-4A76-9002-AA847B88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908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Tuned, one-hot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72A3B-40AE-4FCA-8776-D6496595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86075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61143-F3E5-4446-8E30-1683D26B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0.2470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AED363-CB92-4405-86E4-BE8DCEDC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86075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374A7-1A2C-4674-A1FF-560FA551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9908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improved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B4EFD-B7E7-48EF-9BED-820C762D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340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269C9-4AFB-48A7-A04F-BB2136BF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052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Tuned, native categorical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552EC-43C7-4102-8131-84B24FC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00425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5980E-14B7-424B-AE03-28723ECA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5052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0.2506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64212C-08F2-4D11-BAC6-6599A97E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00425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571373-F96D-4D22-99F4-76206989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052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selected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FC2F8-3E06-46D2-A4CF-414E46D2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340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2B3F52-C7C3-490F-973F-C75E0E80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195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Tuned + RF ensemble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7951D7-85F9-49B8-99F9-9F4ED616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14775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EC53C3-70D9-46A3-A1CE-BE9DDED9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0195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0.2499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8E657B-6BC6-4851-A2BB-197C8575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14775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F5F1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D731A4-3F92-454D-86D8-1E04F3C6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019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72ED4A-BC1E-42A8-A186-CBF3FFF3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8C1FE4-64B5-43D7-8090-BB9E528D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ONE-TIME HOLDOUT PR-AUC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3B5C83-549E-4F99-BB7A-839C9849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768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D95D5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D95D53"/>
                </a:solidFill>
                <a:latin typeface="Aptos"/>
                <a:ea typeface="Aptos"/>
                <a:cs typeface="Aptos"/>
              </a:rPr>
              <a:t>0.2647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A713F7-F1D2-4076-97E6-36E511BA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67250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1D2E3B-0155-423D-9848-C7DF7865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96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ONE-TIME HOLDOUT ROC-AUC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A033F5-B02E-4C05-9A5A-4571026F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768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0.8354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4469aba964a9d"/>
          <a:stretch xmlns:a="http://schemas.openxmlformats.org/drawingml/2006/main"/>
        </p:blipFill>
        <p:spPr>
          <a:xfrm xmlns:a="http://schemas.openxmlformats.org/drawingml/2006/main">
            <a:off x="7429500" y="2210628"/>
            <a:ext cx="4000500" cy="2551043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30686C-1757-4608-9C96-349F71FE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0.2514 was the best search CV score; 0.2506 is the post-selection OOF comparison used for the final decision.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8C543E-D861-48EF-B9CD-02C57F6B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197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shortest-history holdout group reaches only 5.6% recall at the same top-10% inspection rule.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1FF397-1A57-4873-B7F3-892214D4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99CB5D-84DA-4284-8AB6-186CEA46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E5A8D4-44BC-4EFB-84F0-0BC626BE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26010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CBD1B-BF16-4D86-9802-0C39F2D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EXTERNAL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DD212-8728-4463-AF52-7A87CAB2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first submission landed in a credible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4BF95-CC2A-4D7A-841B-83F58530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0B74B-5CA1-44A1-A234-B35E641D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 local model result became a public leaderboard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277C5-0F41-454A-A8AC-FC3ACDC7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ADA28-EC1C-4B98-AA7A-72AC871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PUBLIC RANK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F3BD5-6037-4958-A308-1AB1B7D8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275 / 710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D57D9-E5E8-47A3-ABC7-4AA49795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9550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6D753-0F39-48D0-A774-E5AEBB30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PUBLIC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54B59-5289-422F-8B81-F325B027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050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D95D5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D95D53"/>
                </a:solidFill>
                <a:latin typeface="Aptos"/>
                <a:ea typeface="Aptos"/>
                <a:cs typeface="Aptos"/>
              </a:rPr>
              <a:t>0.8260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03CFE-7207-4E7A-9ED6-10DB21FE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1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Approximately the top 39% of actually rated participants.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B0729-DAD6-4E43-B4DC-5B2E44F5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FC600-DA63-4BF0-BC60-4261637A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93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One submission at the time of the screenshot.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BA02A-0F57-483C-97C3-5F5DDF97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622D9-D175-4FCD-B905-8969C50F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493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A positive external check beyond our local CV and holdout numbers.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63981-31C2-4646-89A6-34861F9E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7E5E7-1F40-48EB-B86D-2D35BE79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93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Kaggle’s public leaderboard is provisional until the competition closes.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7263087754afd"/>
          <a:stretch xmlns:a="http://schemas.openxmlformats.org/drawingml/2006/main"/>
        </p:blipFill>
        <p:spPr>
          <a:xfrm xmlns:a="http://schemas.openxmlformats.org/drawingml/2006/main">
            <a:off x="6572250" y="2027818"/>
            <a:ext cx="4762500" cy="3573890"/>
          </a:xfrm>
          <a:prstGeom xmlns:a="http://schemas.openxmlformats.org/drawingml/2006/main" prst="roundRect">
            <a:avLst>
              <a:gd name="adj" fmla="val 282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F6CAA-34BB-4C0F-9ADC-1C495F2B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5D5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D95D53"/>
                </a:solidFill>
                <a:latin typeface="Aptos"/>
                <a:ea typeface="Aptos"/>
                <a:cs typeface="Aptos"/>
              </a:rPr>
              <a:t>Not a winning claim — a credible first result that makes feature quality and temporal validation the next priorities.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7847A-A0B5-4AAF-994A-4D971583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00642-7790-470A-B6C7-65D9BE3A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C02F4-C078-4662-A894-F435AF1A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858776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E154D2-393A-49F0-9663-C01B9FFE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332C1-0536-4388-A193-67C52362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Useful ranking, bounded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B9470-63CB-4F15-BD49-A8ED8ACD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1EA75-91AC-4280-A589-E43914EC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model is ready for a controlled prioritisation experiment — not an unattended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6046E-3ABF-4CA5-AC06-4CF1F814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What we can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F82AC-B9C3-4874-9496-4854C333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59FB5-0CE5-4E5D-B7D2-4DF6AF86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743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It ranks better than the dummy and logistic baseline.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C73E1-F341-4170-9EEA-6C81DF78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086B4-0C1E-46DD-9290-4BCC2038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743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It captures useful signal in a one-time holdout check.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7FD4F-962B-43BB-93DD-76795C24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A84B2-C562-4A0C-BDB8-887F95BC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4743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It gives inspectors a consistent shortlist to evaluate.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A5678-79F0-4FB1-AD95-5334DA6D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95D5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D95D53"/>
                </a:solidFill>
                <a:latin typeface="Aptos"/>
                <a:ea typeface="Aptos"/>
                <a:cs typeface="Aptos"/>
              </a:rPr>
              <a:t>What we cannot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3814B-993B-4B34-899B-CD4C84CA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53"/>
          </a:solidFill>
          <a:ln xmlns:a="http://schemas.openxmlformats.org/drawingml/2006/main" w="0">
            <a:solidFill>
              <a:srgbClr val="D95D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3ECF7-06A0-4968-8FBA-C2EB196E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4743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It does not prove that a client is committing fraud.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0A958-20F6-49FA-9489-AF22C1D5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53"/>
          </a:solidFill>
          <a:ln xmlns:a="http://schemas.openxmlformats.org/drawingml/2006/main" w="0">
            <a:solidFill>
              <a:srgbClr val="D95D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B7B4D-D829-46F8-9799-1BFF626E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4743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It is not equally reliable across regions or history lengths.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618D7-E4CD-48F0-B204-C401BD67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53"/>
          </a:solidFill>
          <a:ln xmlns:a="http://schemas.openxmlformats.org/drawingml/2006/main" w="0">
            <a:solidFill>
              <a:srgbClr val="D95D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2F6CE-217F-45AE-8261-8AEF2B59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4743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32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232C"/>
                </a:solidFill>
                <a:latin typeface="Aptos"/>
                <a:ea typeface="Aptos"/>
                <a:cs typeface="Aptos"/>
              </a:rPr>
              <a:t>A random split does not prove future-time performance.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09ECC-949E-46EE-8F45-1F662BC6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801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FA42E-EEB2-49D3-8BA7-F75E791E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Deployment guardrail: choose the inspection capacity first, then set the score threshold and monitor precision/recall by segment.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FCD98-3FA5-48CA-9554-D26ECAC8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8B7FB-FB11-4E3E-9B4A-A88175B2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6D479-8C86-41E6-B23C-382130A7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805453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C5A709-026F-417F-89B3-9F385661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NEXT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EC7F7-372F-4558-B144-3E01D461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next lift is more likely to come from data than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DAC3C-64F1-4F2A-A723-D08F9EAF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0E0FF-B893-4FC7-BF5C-73C7ADB2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The error analysis tells us where to invest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39EEC-3653-4B5C-AC9E-E34B0A21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9CF9D-D1C3-44A9-96D4-C7485806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Define the operating 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0ED18-45F6-4120-A108-FA82B899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inspection capacity and cost of false positives vs missed fraud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50C2D-9390-4758-ADA0-191DB4EF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C7FAA-2871-4A0E-B9A6-EDAF6022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EF8EC-0897-4DDC-9FA1-47572DB6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Add short-history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FE225-0CC5-4231-B252-DDE77733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relative or sequence features that work with only a few invoices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F998D-D76E-423A-B646-7928F1BC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3E449-565E-4F5C-AC47-4818FEB2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8BE15-C4A0-45AF-9CEB-CB8AA96D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Validate semantics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4F0FD-C9C2-41B1-9564-38F42580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671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meter identifiers and the reconciliation threshold with experts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FBF3E-70FE-4685-9172-93B04702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ED2B8-3679-45F0-820F-A434CBB2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A237C-8566-4A5B-B929-901B1752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Test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64B61-1A2D-41F0-B3BF-B7F1CE22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8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as-of cutoff and temporal backtesting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9E3D1-65AB-4056-B5DB-3F16F989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6E007-F8C3-4037-A666-297D1A49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776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F77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47AD2-FAE1-4C8A-9BE6-10052693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Check segments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FCEE4-5F96-4855-A614-C24D7A46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292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region, category, history length, and meter availability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5B451-E61A-4282-84F0-769B30C9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6AA3B-3991-4335-A848-77683BEC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24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95D5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D95D53"/>
                </a:solidFill>
                <a:latin typeface="Aptos"/>
                <a:ea typeface="Aptos"/>
                <a:cs typeface="Aptos"/>
              </a:rPr>
              <a:t>Protect the final holdout until the feature contract and threshold are frozen.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49276F-3C65-4523-A163-1D2D36A6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EC1"/>
          </a:solidFill>
          <a:ln xmlns:a="http://schemas.openxmlformats.org/drawingml/2006/main" w="0">
            <a:solidFill>
              <a:srgbClr val="D5CE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02323-402A-4C9B-9002-2E55CAE0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6A8BF-C4D8-42F4-B2C6-345050C2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2606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070289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66607-CEAE-414C-87DD-FB2C4B05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8DADC"/>
                </a:solidFill>
                <a:latin typeface="Aptos"/>
                <a:ea typeface="Aptos"/>
                <a:cs typeface="Aptos"/>
              </a:rPr>
              <a:t>BONUS  /  ENGINEERING FOR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8E180-6B92-4172-B996-0B63E646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ML deliverable is</a:t>
            </a:r>
          </a:p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more than a score.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23225-520A-4F04-9B1E-40E1E29C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1D707-AA1E-46A9-99AC-77497576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GitHub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82828-C02F-4FD8-8A3C-91B64182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8E3EA"/>
                </a:solidFill>
                <a:latin typeface="Aptos"/>
                <a:ea typeface="Aptos"/>
                <a:cs typeface="Aptos"/>
              </a:rPr>
              <a:t>PRs and pushes to main execute the EDA and baseline notebooks headlessly.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0D59F-EDCD-4672-8732-3A23B20B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2575E-54DB-415E-AABA-17C09F59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Parquet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46CA3-45C5-433B-A8CF-B9D3645C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71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8E3EA"/>
                </a:solidFill>
                <a:latin typeface="Aptos"/>
                <a:ea typeface="Aptos"/>
                <a:cs typeface="Aptos"/>
              </a:rPr>
              <a:t>Committed Parquet inputs make large-table reads repeatable and memory-aware.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7867F-A736-467C-A5DA-6C7BBD9E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1E2AA-8819-4E9A-A4F9-C1131507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Saved 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4A0C7-8074-4FA4-ACBB-0351D3BA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8E3EA"/>
                </a:solidFill>
                <a:latin typeface="Aptos"/>
                <a:ea typeface="Aptos"/>
                <a:cs typeface="Aptos"/>
              </a:rPr>
              <a:t>The saved feature and preprocessing contract can be reused consistently for future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0CE3C-4A5C-4972-8EC9-D326F1BB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520FC-95A1-4924-8325-A6D69E85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Explicit contract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D9B88-7951-483C-A792-E4F1BB2F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76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8E3EA"/>
                </a:solidFill>
                <a:latin typeface="Aptos"/>
                <a:ea typeface="Aptos"/>
                <a:cs typeface="Aptos"/>
              </a:rPr>
              <a:t>The 15 inputs and excluded leakage-prone fields are documented across notebooks.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3BDE1-F9C2-48C1-9B84-88559A6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9A23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9A23B"/>
                </a:solidFill>
                <a:latin typeface="Aptos"/>
                <a:ea typeface="Aptos"/>
                <a:cs typeface="Aptos"/>
              </a:rPr>
              <a:t>Reproducibility is part of the model’s credibility.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F6B56-1C62-4563-BC62-4D85F7FB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4"/>
          </a:solidFill>
          <a:ln xmlns:a="http://schemas.openxmlformats.org/drawingml/2006/main" w="0">
            <a:solidFill>
              <a:srgbClr val="3550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D5343-30E6-4819-BD81-27BC5FC3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9C7D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9C7D2"/>
                </a:solidFill>
                <a:latin typeface="Aptos"/>
                <a:ea typeface="Aptos"/>
                <a:cs typeface="Aptos"/>
              </a:rPr>
              <a:t>ROY + SEAN  ·  FRAUD DETECTION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04905-4BDE-452D-8030-EB277FFF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91300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B9C7D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9C7D2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92786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2026-08-21T07:05:58.9990000Z</dcterms:created>
  <dcterms:modified xsi:type="dcterms:W3CDTF">2026-08-21T07:05:58.9990000Z</dcterms:modified>
</coreProperties>
</file>