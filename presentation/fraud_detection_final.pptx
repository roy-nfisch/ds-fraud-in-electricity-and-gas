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04b23c1f38e4989" /><Relationship Type="http://schemas.openxmlformats.org/officeDocument/2006/relationships/extended-properties" Target="/docProps/app.xml" Id="R3dcd0461a90f423d" /><Relationship Type="http://schemas.openxmlformats.org/officeDocument/2006/relationships/officeDocument" Target="/ppt/presentation.xml" Id="R5e70b2624e394be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d4d5fc32b5e4fe4"/>
  </p:sldMasterIdLst>
  <p:notesMasterIdLst>
    <p:notesMasterId xmlns:r="http://schemas.openxmlformats.org/officeDocument/2006/relationships" r:id="R9612bc45680a4cdd"/>
  </p:notesMasterIdLst>
  <p:sldIdLst>
    <p:sldId xmlns:r="http://schemas.openxmlformats.org/officeDocument/2006/relationships" id="256" r:id="R10769e93a0ef4aa6"/>
    <p:sldId xmlns:r="http://schemas.openxmlformats.org/officeDocument/2006/relationships" id="257" r:id="R15e27ce327934462"/>
    <p:sldId xmlns:r="http://schemas.openxmlformats.org/officeDocument/2006/relationships" id="258" r:id="R87130368e07a4c1f"/>
    <p:sldId xmlns:r="http://schemas.openxmlformats.org/officeDocument/2006/relationships" id="259" r:id="R812ee234c9094210"/>
    <p:sldId xmlns:r="http://schemas.openxmlformats.org/officeDocument/2006/relationships" id="260" r:id="R6e83e120b7eb4233"/>
    <p:sldId xmlns:r="http://schemas.openxmlformats.org/officeDocument/2006/relationships" id="261" r:id="R05d72abd54d6436c"/>
    <p:sldId xmlns:r="http://schemas.openxmlformats.org/officeDocument/2006/relationships" id="262" r:id="R33caf82abb154a3b"/>
    <p:sldId xmlns:r="http://schemas.openxmlformats.org/officeDocument/2006/relationships" id="263" r:id="Re7aa7cb6c23c495b"/>
    <p:sldId xmlns:r="http://schemas.openxmlformats.org/officeDocument/2006/relationships" id="264" r:id="R7407c23d89c74bd6"/>
    <p:sldId xmlns:r="http://schemas.openxmlformats.org/officeDocument/2006/relationships" id="265" r:id="R3332d187bb39452a"/>
    <p:sldId xmlns:r="http://schemas.openxmlformats.org/officeDocument/2006/relationships" id="266" r:id="Rf8d790f6c9d74948"/>
    <p:sldId xmlns:r="http://schemas.openxmlformats.org/officeDocument/2006/relationships" id="267" r:id="R890db35eee954804"/>
    <p:sldId xmlns:r="http://schemas.openxmlformats.org/officeDocument/2006/relationships" id="268" r:id="Rb79b808e5a314040"/>
    <p:sldId xmlns:r="http://schemas.openxmlformats.org/officeDocument/2006/relationships" id="269" r:id="Rff97cdc962da469b"/>
    <p:sldId xmlns:r="http://schemas.openxmlformats.org/officeDocument/2006/relationships" id="270" r:id="Rd0713b35c3c94bf4"/>
    <p:sldId xmlns:r="http://schemas.openxmlformats.org/officeDocument/2006/relationships" id="271" r:id="Rba037bac52054a7f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51515029d0449bb" /><Relationship Type="http://schemas.openxmlformats.org/officeDocument/2006/relationships/slideMaster" Target="/ppt/slideMasters/slideMaster1.xml" Id="R5d4d5fc32b5e4fe4" /><Relationship Type="http://schemas.openxmlformats.org/officeDocument/2006/relationships/notesMaster" Target="/ppt/notesMasters/notesMaster1.xml" Id="R9612bc45680a4cdd" /><Relationship Type="http://schemas.openxmlformats.org/officeDocument/2006/relationships/presProps" Target="/ppt/presProps.xml" Id="R67940edb6ef8483f" /><Relationship Type="http://schemas.openxmlformats.org/officeDocument/2006/relationships/tableStyles" Target="/ppt/tableStyles.xml" Id="Rea8f87a29be0456a" /><Relationship Type="http://schemas.openxmlformats.org/officeDocument/2006/relationships/slide" Target="/ppt/slides/slide1.xml" Id="R10769e93a0ef4aa6" /><Relationship Type="http://schemas.openxmlformats.org/officeDocument/2006/relationships/slide" Target="/ppt/slides/slide2.xml" Id="R15e27ce327934462" /><Relationship Type="http://schemas.openxmlformats.org/officeDocument/2006/relationships/slide" Target="/ppt/slides/slide3.xml" Id="R87130368e07a4c1f" /><Relationship Type="http://schemas.openxmlformats.org/officeDocument/2006/relationships/slide" Target="/ppt/slides/slide4.xml" Id="R812ee234c9094210" /><Relationship Type="http://schemas.openxmlformats.org/officeDocument/2006/relationships/slide" Target="/ppt/slides/slide5.xml" Id="R6e83e120b7eb4233" /><Relationship Type="http://schemas.openxmlformats.org/officeDocument/2006/relationships/slide" Target="/ppt/slides/slide6.xml" Id="R05d72abd54d6436c" /><Relationship Type="http://schemas.openxmlformats.org/officeDocument/2006/relationships/slide" Target="/ppt/slides/slide7.xml" Id="R33caf82abb154a3b" /><Relationship Type="http://schemas.openxmlformats.org/officeDocument/2006/relationships/slide" Target="/ppt/slides/slide8.xml" Id="Re7aa7cb6c23c495b" /><Relationship Type="http://schemas.openxmlformats.org/officeDocument/2006/relationships/slide" Target="/ppt/slides/slide9.xml" Id="R7407c23d89c74bd6" /><Relationship Type="http://schemas.openxmlformats.org/officeDocument/2006/relationships/slide" Target="/ppt/slides/slide10.xml" Id="R3332d187bb39452a" /><Relationship Type="http://schemas.openxmlformats.org/officeDocument/2006/relationships/slide" Target="/ppt/slides/slide11.xml" Id="Rf8d790f6c9d74948" /><Relationship Type="http://schemas.openxmlformats.org/officeDocument/2006/relationships/slide" Target="/ppt/slides/slide12.xml" Id="R890db35eee954804" /><Relationship Type="http://schemas.openxmlformats.org/officeDocument/2006/relationships/slide" Target="/ppt/slides/slide13.xml" Id="Rb79b808e5a314040" /><Relationship Type="http://schemas.openxmlformats.org/officeDocument/2006/relationships/slide" Target="/ppt/slides/slide14.xml" Id="Rff97cdc962da469b" /><Relationship Type="http://schemas.openxmlformats.org/officeDocument/2006/relationships/slide" Target="/ppt/slides/slide15.xml" Id="Rd0713b35c3c94bf4" /><Relationship Type="http://schemas.openxmlformats.org/officeDocument/2006/relationships/slide" Target="/ppt/slides/slide16.xml" Id="Rba037bac52054a7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8550de39c7a485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2c0a40bd1114f0b" /><Relationship Type="http://schemas.openxmlformats.org/officeDocument/2006/relationships/notesMaster" Target="/ppt/notesMasters/notesMaster1.xml" Id="R8e9ab20dbff8405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0d9ce7cc50b4120" /><Relationship Type="http://schemas.openxmlformats.org/officeDocument/2006/relationships/notesMaster" Target="/ppt/notesMasters/notesMaster1.xml" Id="R30f0699d4493472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e2b7fb52bba4738" /><Relationship Type="http://schemas.openxmlformats.org/officeDocument/2006/relationships/notesMaster" Target="/ppt/notesMasters/notesMaster1.xml" Id="Rf2997563eb7343b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61fa5d3a68e4eeb" /><Relationship Type="http://schemas.openxmlformats.org/officeDocument/2006/relationships/notesMaster" Target="/ppt/notesMasters/notesMaster1.xml" Id="Ra7cd6cd4b48849f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274181b10424486" /><Relationship Type="http://schemas.openxmlformats.org/officeDocument/2006/relationships/notesMaster" Target="/ppt/notesMasters/notesMaster1.xml" Id="R92dc26380863495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960024d97b84989" /><Relationship Type="http://schemas.openxmlformats.org/officeDocument/2006/relationships/notesMaster" Target="/ppt/notesMasters/notesMaster1.xml" Id="R48ff9f3c44e44fb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81876a2e1e04976" /><Relationship Type="http://schemas.openxmlformats.org/officeDocument/2006/relationships/notesMaster" Target="/ppt/notesMasters/notesMaster1.xml" Id="R535f1e60f6eb4d1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d23317ddae0462c" /><Relationship Type="http://schemas.openxmlformats.org/officeDocument/2006/relationships/notesMaster" Target="/ppt/notesMasters/notesMaster1.xml" Id="Rc59fd936c1fb464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142879778084c66" /><Relationship Type="http://schemas.openxmlformats.org/officeDocument/2006/relationships/notesMaster" Target="/ppt/notesMasters/notesMaster1.xml" Id="Ra79090b748a147b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3fcb27d6c6547ec" /><Relationship Type="http://schemas.openxmlformats.org/officeDocument/2006/relationships/notesMaster" Target="/ppt/notesMasters/notesMaster1.xml" Id="R508f45024ef740fc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b529f972b75d4b38" /><Relationship Type="http://schemas.openxmlformats.org/officeDocument/2006/relationships/notesMaster" Target="/ppt/notesMasters/notesMaster1.xml" Id="Rdad557721c4a4637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35c40da8109e4378" /><Relationship Type="http://schemas.openxmlformats.org/officeDocument/2006/relationships/notesMaster" Target="/ppt/notesMasters/notesMaster1.xml" Id="R9c5938c7782b4c2a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2cb734007ef8486e" /><Relationship Type="http://schemas.openxmlformats.org/officeDocument/2006/relationships/notesMaster" Target="/ppt/notesMasters/notesMaster1.xml" Id="R2c46a966a25a4cf9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e7d5a84ea9ca4a77" /><Relationship Type="http://schemas.openxmlformats.org/officeDocument/2006/relationships/notesMaster" Target="/ppt/notesMasters/notesMaster1.xml" Id="Rac1aba15a81f49c0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da6b2c8349dd483d" /><Relationship Type="http://schemas.openxmlformats.org/officeDocument/2006/relationships/notesMaster" Target="/ppt/notesMasters/notesMaster1.xml" Id="Rcf2d6a2d7d9c4c81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9541183be20744ff" /><Relationship Type="http://schemas.openxmlformats.org/officeDocument/2006/relationships/notesMaster" Target="/ppt/notesMasters/notesMaster1.xml" Id="R056169a6f84c44b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with the operational question: a utility team cannot inspect everybody, so we rank who to inspect first.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Project repository: slides.md and executed notebook outputs.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Frame this as prioritisation, not proof.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- 01_eda.ipynb: labelled client counts and target balance.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PR-AUC in plain language: of the clients we put near the top, how many are actually fraud, across the ranking.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- 01_eda.ipynb: target balance.</a:t>
            </a:r>
          </a:p>
          <a:p xmlns:a="http://schemas.openxmlformats.org/drawingml/2006/main">
            <a:r>
              <a:t>- 02_baseline_model.ipynb: dummy PR-AUC and logistic regression comparison.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Give the conclusion before the technical walk-through, then promise the evidence trail.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- 05_final_model.ipynb: one-time holdout PR-AUC 0.2647 and ROC-AUC 0.8354.</a:t>
            </a:r>
          </a:p>
          <a:p xmlns:a="http://schemas.openxmlformats.org/drawingml/2006/main">
            <a:r>
              <a:t>- 04_error_analysis.ipynb: shared blind spot and segment findings.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one-to-many relationship is the key modelling constraint. Splitting invoice rows would put the same client in both sets.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- 01_eda.ipynb: client/invoice counts, chunked aggregation, target balance.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the main EDA design decision: a small, documented contract rather than every available aggregate.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- 01_eda.ipynb: selected feature table and feature-contract decision.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these visuals to distinguish a candidate signal from a safe causal interpretation.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- 01_eda.ipynb: categorical fraud-rate charts and meter/consumption reconciliation output.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Emphasise that correlation alone does not tell us which variable to drop; model performance and explainability complete the decision.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- 01_eda.ipynb: feature correlation heatmap and keep/exclude/postpone decisions.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the reproducibility story: the model is not a single cell; it is a sequence of explicit decisions.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- 01_eda.ipynb through 05_final_model.ipynb: notebook sequence and preprocessing decisions.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baseline is deliberately modest; its job is to prove the setup and create a fair reference.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- 02_baseline_model.ipynb: five-fold CV dummy and logistic regression results.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model family comparison earns the next experiment; it does not end the analysis.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- 03_model_extension.ipynb: out-of-fold PR curves and comparison table.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the bar chart carefully: 0 means all three caught the fraud client; 3 means all three missed it. The shared miss is a feature/data problem as much as a model problem.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- 04_error_analysis.ipynb: model agreement counts and missed-history split.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selected model is the best measured candidate, but the holdout segment chart keeps the recommendation honest.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- 05_final_model.ipynb: tuning comparison and one-time holdout results.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the practical boundary between a model demo and a safe operational experiment.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- 04_error_analysis.ipynb and 05_final_model.ipynb: segment limits and holdout caveats.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the analytical story by showing that the next iteration follows directly from observed errors.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- 04_error_analysis.ipynb and 05_final_model.ipynb: next-step recommendations.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bonus is evidence of engineering maturity: the next run should reproduce the table, preprocessing, and evaluation.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.github/workflows/notebooks.yml: GitHub Actions workflow.</a:t>
            </a:r>
          </a:p>
          <a:p xmlns:a="http://schemas.openxmlformats.org/drawingml/2006/main">
            <a:r>
              <a:t>- README.md and scripts/csv_to_parquet.py: reproducibility and data setup.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969d28febb34e4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7ac13c01bf94ada" /><Relationship Type="http://schemas.openxmlformats.org/officeDocument/2006/relationships/slideLayout" Target="/ppt/slideLayouts/slideLayout1.xml" Id="Rfaa7b2c11f38497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aa7b2c11f38497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1bffa2badb48cc" /><Relationship Type="http://schemas.openxmlformats.org/officeDocument/2006/relationships/notesSlide" Target="/ppt/notesSlides/notesSlide1.xml" Id="R7cd0d09e92d3461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e5ba33c9c54573" /><Relationship Type="http://schemas.openxmlformats.org/officeDocument/2006/relationships/notesSlide" Target="/ppt/notesSlides/notesSlide2.xml" Id="R2892ad172fe24e1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575dbb53a84e63" /><Relationship Type="http://schemas.openxmlformats.org/officeDocument/2006/relationships/notesSlide" Target="/ppt/notesSlides/notesSlide3.xml" Id="R5eca3b28548c433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230fc9d90d4006" /><Relationship Type="http://schemas.openxmlformats.org/officeDocument/2006/relationships/notesSlide" Target="/ppt/notesSlides/notesSlide4.xml" Id="Rfac4a80e92654c7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92d798f76f4e38" /><Relationship Type="http://schemas.openxmlformats.org/officeDocument/2006/relationships/notesSlide" Target="/ppt/notesSlides/notesSlide5.xml" Id="R1bdcd5297df8436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ba684f8e504e01" /><Relationship Type="http://schemas.openxmlformats.org/officeDocument/2006/relationships/notesSlide" Target="/ppt/notesSlides/notesSlide6.xml" Id="R74852ca692824f6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44464d9cce4ac3" /><Relationship Type="http://schemas.openxmlformats.org/officeDocument/2006/relationships/image" Target="/ppt/media/image.png" Id="R6f0b961bacd94172" /><Relationship Type="http://schemas.openxmlformats.org/officeDocument/2006/relationships/image" Target="/ppt/media/image2.png" Id="R2c7e3262abe64519" /><Relationship Type="http://schemas.openxmlformats.org/officeDocument/2006/relationships/notesSlide" Target="/ppt/notesSlides/notesSlide7.xml" Id="Rdb8c6696c06d4c7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2ad57a4056492f" /><Relationship Type="http://schemas.openxmlformats.org/officeDocument/2006/relationships/image" Target="/ppt/media/image3.png" Id="Re0b86b3954904111" /><Relationship Type="http://schemas.openxmlformats.org/officeDocument/2006/relationships/notesSlide" Target="/ppt/notesSlides/notesSlide8.xml" Id="Rfeb7dc9d43074aa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1955626b2a4849" /><Relationship Type="http://schemas.openxmlformats.org/officeDocument/2006/relationships/notesSlide" Target="/ppt/notesSlides/notesSlide9.xml" Id="R8c26d7c8f1c343c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e67a953c6347ec" /><Relationship Type="http://schemas.openxmlformats.org/officeDocument/2006/relationships/notesSlide" Target="/ppt/notesSlides/notesSlide10.xml" Id="Rdb644c0a731b499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c4cf1cc50a4680" /><Relationship Type="http://schemas.openxmlformats.org/officeDocument/2006/relationships/image" Target="/ppt/media/image4.png" Id="R224e25be4be84215" /><Relationship Type="http://schemas.openxmlformats.org/officeDocument/2006/relationships/notesSlide" Target="/ppt/notesSlides/notesSlide11.xml" Id="R6f84fba1810f4653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56e79ac6a84088" /><Relationship Type="http://schemas.openxmlformats.org/officeDocument/2006/relationships/image" Target="/ppt/media/image5.png" Id="R61d777150adb45e1" /><Relationship Type="http://schemas.openxmlformats.org/officeDocument/2006/relationships/image" Target="/ppt/media/image6.png" Id="R0526418bd7e948a1" /><Relationship Type="http://schemas.openxmlformats.org/officeDocument/2006/relationships/notesSlide" Target="/ppt/notesSlides/notesSlide12.xml" Id="R4dd22d1a70824ee7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c2068c8d29436a" /><Relationship Type="http://schemas.openxmlformats.org/officeDocument/2006/relationships/image" Target="/ppt/media/image7.png" Id="R5ac26753a05f4b6f" /><Relationship Type="http://schemas.openxmlformats.org/officeDocument/2006/relationships/notesSlide" Target="/ppt/notesSlides/notesSlide13.xml" Id="Rcebd52f0486242dd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7912d221c14a79" /><Relationship Type="http://schemas.openxmlformats.org/officeDocument/2006/relationships/notesSlide" Target="/ppt/notesSlides/notesSlide14.xml" Id="R7bd2fcc77dce4b47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eba51947cf4869" /><Relationship Type="http://schemas.openxmlformats.org/officeDocument/2006/relationships/notesSlide" Target="/ppt/notesSlides/notesSlide15.xml" Id="R7e649d5961464c72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0ed8943dc84095" /><Relationship Type="http://schemas.openxmlformats.org/officeDocument/2006/relationships/notesSlide" Target="/ppt/notesSlides/notesSlide16.xml" Id="Rf286e0e72b684b4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02A4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261245D-D378-4228-BF9C-CDD295138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A8DADC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A8DADC"/>
                </a:solidFill>
                <a:latin typeface="Aptos"/>
                <a:ea typeface="Aptos"/>
                <a:cs typeface="Aptos"/>
              </a:rPr>
              <a:t>FRAUD DETECTION  /  ML WEEK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5A043B6-DC0A-43D6-B7D3-53A41E3A4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47800"/>
            <a:ext cx="68580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0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40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Which clients</a:t>
            </a:r>
          </a:p>
          <a:p xmlns:a="http://schemas.openxmlformats.org/drawingml/2006/main">
            <a:pPr algn="l">
              <a:defRPr sz="40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40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should we inspect first?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9703830-3929-43E2-A413-6A39E248C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29000"/>
            <a:ext cx="5810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 i="0">
                <a:solidFill>
                  <a:srgbClr val="D8E3EA"/>
                </a:solidFill>
                <a:latin typeface="Aptos"/>
                <a:ea typeface="Aptos"/>
                <a:cs typeface="Aptos"/>
              </a:defRPr>
            </a:pPr>
            <a:r>
              <a:rPr sz="1725" b="0" i="0">
                <a:solidFill>
                  <a:srgbClr val="D8E3EA"/>
                </a:solidFill>
                <a:latin typeface="Aptos"/>
                <a:ea typeface="Aptos"/>
                <a:cs typeface="Aptos"/>
              </a:rPr>
              <a:t>Turning 4.48 million invoice rows into a useful, capacity-aware fraud ranking.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E4D7C4-BB61-4F74-9418-907435880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1095375"/>
            <a:ext cx="2762250" cy="3429000"/>
          </a:xfrm>
          <a:prstGeom xmlns:a="http://schemas.openxmlformats.org/drawingml/2006/main" prst="roundRect">
            <a:avLst>
              <a:gd name="adj" fmla="val 2759"/>
            </a:avLst>
          </a:prstGeom>
          <a:solidFill xmlns:a="http://schemas.openxmlformats.org/drawingml/2006/main">
            <a:srgbClr val="1D4256"/>
          </a:solidFill>
          <a:ln xmlns:a="http://schemas.openxmlformats.org/drawingml/2006/main" w="9525">
            <a:solidFill>
              <a:srgbClr val="356579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DB07B42-019A-46E8-804D-68E974F30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571625"/>
            <a:ext cx="2000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A8DADC"/>
                </a:solidFill>
                <a:latin typeface="Aptos"/>
                <a:ea typeface="Aptos"/>
                <a:cs typeface="Aptos"/>
              </a:defRPr>
            </a:pPr>
            <a:r>
              <a:rPr sz="1125" b="1" i="0">
                <a:solidFill>
                  <a:srgbClr val="A8DADC"/>
                </a:solidFill>
                <a:latin typeface="Aptos"/>
                <a:ea typeface="Aptos"/>
                <a:cs typeface="Aptos"/>
              </a:rPr>
              <a:t>CLIENT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4E7B7AE-F8FE-49E7-A101-3754A6ADB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28600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333"/>
          </a:bodyPr>
          <a:lstStyle xmlns:a="http://schemas.openxmlformats.org/drawingml/2006/main"/>
          <a:p xmlns:a="http://schemas.openxmlformats.org/drawingml/2006/main">
            <a:pPr algn="ctr">
              <a:defRPr sz="187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many invoices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D64F61-1927-476F-BBB2-2E4562B9B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705100"/>
            <a:ext cx="1047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 i="0">
                <a:solidFill>
                  <a:srgbClr val="E9A23B"/>
                </a:solidFill>
                <a:latin typeface="Aptos"/>
                <a:ea typeface="Aptos"/>
                <a:cs typeface="Aptos"/>
              </a:defRPr>
            </a:pPr>
            <a:r>
              <a:rPr sz="2550" b="1" i="0">
                <a:solidFill>
                  <a:srgbClr val="E9A23B"/>
                </a:solidFill>
                <a:latin typeface="Aptos"/>
                <a:ea typeface="Aptos"/>
                <a:cs typeface="Aptos"/>
              </a:rPr>
              <a:t>↓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49209B2-BE9F-4785-92AB-B965C9893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3276600"/>
            <a:ext cx="2190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one client-level</a:t>
            </a:r>
          </a:p>
          <a:p xmlns:a="http://schemas.openxmlformats.org/drawingml/2006/main">
            <a:pPr algn="ctr">
              <a:defRPr sz="18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feature row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AE1C647-D519-4D95-99E2-7F71F35E8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102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B9C7D2"/>
                </a:solidFill>
                <a:latin typeface="Aptos"/>
                <a:ea typeface="Aptos"/>
                <a:cs typeface="Aptos"/>
              </a:defRPr>
            </a:pPr>
            <a:r>
              <a:rPr sz="1200" b="0" i="0">
                <a:solidFill>
                  <a:srgbClr val="B9C7D2"/>
                </a:solidFill>
                <a:latin typeface="Aptos"/>
                <a:ea typeface="Aptos"/>
                <a:cs typeface="Aptos"/>
              </a:rPr>
              <a:t>Roy + Sean  ·  Electricity &amp; gas fraud challenge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7FFDBE3-BB23-4C7C-AB6C-A91D1A4F8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5064"/>
          </a:solidFill>
          <a:ln xmlns:a="http://schemas.openxmlformats.org/drawingml/2006/main" w="0">
            <a:solidFill>
              <a:srgbClr val="35506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043AC40-8A18-4035-AE2F-295B2E791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10350"/>
            <a:ext cx="3429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B9C7D2"/>
                </a:solidFill>
                <a:latin typeface="Aptos"/>
                <a:ea typeface="Aptos"/>
                <a:cs typeface="Aptos"/>
              </a:defRPr>
            </a:pPr>
            <a:r>
              <a:rPr sz="825" b="1" i="0">
                <a:solidFill>
                  <a:srgbClr val="B9C7D2"/>
                </a:solidFill>
                <a:latin typeface="Aptos"/>
                <a:ea typeface="Aptos"/>
                <a:cs typeface="Aptos"/>
              </a:rPr>
              <a:t>ROY + SEAN  ·  FRAUD DETECTION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DBCD7C7-0163-4105-B3D4-51D44796F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6591300"/>
            <a:ext cx="733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 i="0">
                <a:solidFill>
                  <a:srgbClr val="B9C7D2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B9C7D2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91505295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5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9AF1463-D910-4E78-AFE1-1E1EB4B17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385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1F776D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1F776D"/>
                </a:solidFill>
                <a:latin typeface="Aptos"/>
                <a:ea typeface="Aptos"/>
                <a:cs typeface="Aptos"/>
              </a:rPr>
              <a:t>CONTEXT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158D7B7-2C99-4F06-8D03-F304001AB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5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The model must improve a real inspection queue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1CDE692-05AF-4374-9BA1-C42A8B6B4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57300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EC1"/>
          </a:solidFill>
          <a:ln xmlns:a="http://schemas.openxmlformats.org/drawingml/2006/main" w="0">
            <a:solidFill>
              <a:srgbClr val="D5CEC1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6A5E3FE-B3C2-4787-A71B-DA8358EBD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390650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The stakeholder does not need an automatic verdict; they need a better order of work.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160D9E8-F6ED-4ADE-8CE9-D23DB02B9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19300"/>
            <a:ext cx="5334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7434"/>
          </a:bodyPr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If inspectors can review only a limited number of clients, the useful output is a ranked shortlist.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67CE37B-522A-4216-8E85-5714866AE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38500"/>
            <a:ext cx="2238375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D9E8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B39BF9C-55AB-4008-8DF3-3C8508C05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390900"/>
            <a:ext cx="18573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ALL LABELLED CLIENTS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D96DFC6-E4C9-47CB-85EA-5398E621A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648075"/>
            <a:ext cx="18573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2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135,493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E6A1681-91ED-47AA-980C-A928614DD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238500"/>
            <a:ext cx="2238375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2D3C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7722964-FF54-4423-B1E9-CDEEEAC27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3390900"/>
            <a:ext cx="18573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LABELLED FRAUD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A8EBACE-D7FC-49CB-8C3C-F197220A6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3648075"/>
            <a:ext cx="18573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D95D53"/>
                </a:solidFill>
                <a:latin typeface="Aptos"/>
                <a:ea typeface="Aptos"/>
                <a:cs typeface="Aptos"/>
              </a:defRPr>
            </a:pPr>
            <a:r>
              <a:rPr sz="2250" b="1" i="0">
                <a:solidFill>
                  <a:srgbClr val="D95D53"/>
                </a:solidFill>
                <a:latin typeface="Aptos"/>
                <a:ea typeface="Aptos"/>
                <a:cs typeface="Aptos"/>
              </a:rPr>
              <a:t>7,566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B255B0B-EB98-482A-865F-346F3D039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3238500"/>
            <a:ext cx="2238375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DCEF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4C59247-0DDA-40FC-9549-CCF762702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3390900"/>
            <a:ext cx="18573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FRAUD PREVALENCE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0344BE5-EFFC-40CF-8525-31AB2CF01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3648075"/>
            <a:ext cx="18573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1F776D"/>
                </a:solidFill>
                <a:latin typeface="Aptos"/>
                <a:ea typeface="Aptos"/>
                <a:cs typeface="Aptos"/>
              </a:defRPr>
            </a:pPr>
            <a:r>
              <a:rPr sz="2250" b="1" i="0">
                <a:solidFill>
                  <a:srgbClr val="1F776D"/>
                </a:solidFill>
                <a:latin typeface="Aptos"/>
                <a:ea typeface="Aptos"/>
                <a:cs typeface="Aptos"/>
              </a:rPr>
              <a:t>5.58%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999ABA4-566A-4454-85F0-BD4715172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400425"/>
            <a:ext cx="1428750" cy="7239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2A9D8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939B3E8-0525-4C3D-959D-F482B8822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3381375"/>
            <a:ext cx="1428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inspection</a:t>
            </a:r>
          </a:p>
          <a:p xmlns:a="http://schemas.openxmlformats.org/drawingml/2006/main">
            <a:pPr algn="ctr">
              <a:defRPr sz="16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queue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DB96B24-AF1F-4008-B027-DB500367F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953000"/>
            <a:ext cx="8953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575" b="0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Value means finding more genuine fraud within the team’s fixed capacity — while making false inspections visible.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40AF04A-3520-440D-A8A5-BB1C63E23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EC1"/>
          </a:solidFill>
          <a:ln xmlns:a="http://schemas.openxmlformats.org/drawingml/2006/main" w="0">
            <a:solidFill>
              <a:srgbClr val="D5CEC1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18A9B12-432B-40B4-8D76-94F7335E0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10350"/>
            <a:ext cx="3429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825" b="1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ROY + SEAN  ·  FRAUD DETECTION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44A08CA-4CE2-4496-B080-4691869EC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6591300"/>
            <a:ext cx="733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69096330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5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8EBBDBE-B564-430E-92D5-E6BE8D49F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385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1F776D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1F776D"/>
                </a:solidFill>
                <a:latin typeface="Aptos"/>
                <a:ea typeface="Aptos"/>
                <a:cs typeface="Aptos"/>
              </a:rPr>
              <a:t>EVALUATION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48B89EB-FDD3-41E0-A8A7-27E464924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5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Accuracy would let the hard part disappear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348F950-8519-4381-9626-639C579E4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57300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EC1"/>
          </a:solidFill>
          <a:ln xmlns:a="http://schemas.openxmlformats.org/drawingml/2006/main" w="0">
            <a:solidFill>
              <a:srgbClr val="D5CEC1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FF89978-327B-46F6-B82A-B79F0A357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390650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Fraud is rare, so we evaluate the ranking where the positive class matters.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2859D1F-281E-4FA4-BCE9-94D87D5CB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38350"/>
            <a:ext cx="2381250" cy="118110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F2D3C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38CA0C8-5FEE-4569-A8EB-894EFA196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190750"/>
            <a:ext cx="2000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FRAUD PREVALENCE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7E2E2E5-133E-4377-B85E-FB3890B55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447925"/>
            <a:ext cx="2000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D95D53"/>
                </a:solidFill>
                <a:latin typeface="Aptos"/>
                <a:ea typeface="Aptos"/>
                <a:cs typeface="Aptos"/>
              </a:defRPr>
            </a:pPr>
            <a:r>
              <a:rPr sz="2250" b="1" i="0">
                <a:solidFill>
                  <a:srgbClr val="D95D53"/>
                </a:solidFill>
                <a:latin typeface="Aptos"/>
                <a:ea typeface="Aptos"/>
                <a:cs typeface="Aptos"/>
              </a:rPr>
              <a:t>5.58%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2626AE4-21ED-411B-A0C1-A9A72F69B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038350"/>
            <a:ext cx="2381250" cy="118110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E6E1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AA8E276-75A1-4A14-BBB3-31662CE5E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190750"/>
            <a:ext cx="2000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DUMMY PR-AUC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BFCB9E6-FB4E-4EDD-B4E4-A57780022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447925"/>
            <a:ext cx="2000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2250" b="1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0.056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E3857D6-2FDC-415D-9658-62A54EDD5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2038350"/>
            <a:ext cx="2381250" cy="118110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DCEF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B8AE293-869C-47DF-A583-28B56B6E4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190750"/>
            <a:ext cx="2000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PRIMARY METRIC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41DB09C-205A-4D69-94CE-9784E6916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447925"/>
            <a:ext cx="2000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1F776D"/>
                </a:solidFill>
                <a:latin typeface="Aptos"/>
                <a:ea typeface="Aptos"/>
                <a:cs typeface="Aptos"/>
              </a:defRPr>
            </a:pPr>
            <a:r>
              <a:rPr sz="2250" b="1" i="0">
                <a:solidFill>
                  <a:srgbClr val="1F776D"/>
                </a:solidFill>
                <a:latin typeface="Aptos"/>
                <a:ea typeface="Aptos"/>
                <a:cs typeface="Aptos"/>
              </a:rPr>
              <a:t>PR-AUC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CD414C2-5F0F-4532-88F1-5460CB909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33800"/>
            <a:ext cx="2571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7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Why not accuracy?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3A3E09D-1335-48E8-874A-02C643F88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2481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2A9D8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F27D923-101D-4EB1-8691-6AA67D330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171950"/>
            <a:ext cx="9791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18232C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18232C"/>
                </a:solidFill>
                <a:latin typeface="Aptos"/>
                <a:ea typeface="Aptos"/>
                <a:cs typeface="Aptos"/>
              </a:rPr>
              <a:t>Predicting ‘not fraud’ for everybody is about 94% accurate.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E246715-7F74-446D-A67A-46E7A4E19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910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2A9D8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AD4A09C-BCA9-47BA-90B3-76E3BF159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14850"/>
            <a:ext cx="9791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18232C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18232C"/>
                </a:solidFill>
                <a:latin typeface="Aptos"/>
                <a:ea typeface="Aptos"/>
                <a:cs typeface="Aptos"/>
              </a:rPr>
              <a:t>That strategy finds zero fraud cases.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83CFC3D-290D-42FC-B09A-CCB8509BE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9339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2A9D8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A88D813-8499-4CCD-A76D-807CA58B1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57750"/>
            <a:ext cx="9791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18232C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18232C"/>
                </a:solidFill>
                <a:latin typeface="Aptos"/>
                <a:ea typeface="Aptos"/>
                <a:cs typeface="Aptos"/>
              </a:rPr>
              <a:t>Average precision rewards a useful ordering of rare positives.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B43BEBA-EF92-425F-BA9E-1E49C727A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2768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2A9D8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7D54833-0301-4EBA-ACA2-53BD656E0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200650"/>
            <a:ext cx="9791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18232C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18232C"/>
                </a:solidFill>
                <a:latin typeface="Aptos"/>
                <a:ea typeface="Aptos"/>
                <a:cs typeface="Aptos"/>
              </a:rPr>
              <a:t>Precision@k and recall@k translate the score into inspection capacity.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E97FCDA-78E5-4DFE-9971-4F827AA0D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EC1"/>
          </a:solidFill>
          <a:ln xmlns:a="http://schemas.openxmlformats.org/drawingml/2006/main" w="0">
            <a:solidFill>
              <a:srgbClr val="D5CEC1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D080735-4E21-4CC7-ABE4-13B9E464F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10350"/>
            <a:ext cx="3429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825" b="1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ROY + SEAN  ·  FRAUD DETECTION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2A7E029-311C-492F-AA3A-F56A5522F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6591300"/>
            <a:ext cx="733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30786820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102A4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7E2E8AE-B9E3-48F9-A368-AC0E1BFF6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A8DADC"/>
                </a:solidFill>
                <a:latin typeface="Aptos"/>
                <a:ea typeface="Aptos"/>
                <a:cs typeface="Aptos"/>
              </a:defRPr>
            </a:pPr>
            <a:r>
              <a:rPr sz="1125" b="1" i="0">
                <a:solidFill>
                  <a:srgbClr val="A8DADC"/>
                </a:solidFill>
                <a:latin typeface="Aptos"/>
                <a:ea typeface="Aptos"/>
                <a:cs typeface="Aptos"/>
              </a:rPr>
              <a:t>RECOMMENDATION  /  THE CONCLUSION FIRST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81E50F4-6929-461A-84FA-F4ED9FC53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90625"/>
            <a:ext cx="695325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6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Use the tuned LightGBM</a:t>
            </a:r>
          </a:p>
          <a:p xmlns:a="http://schemas.openxmlformats.org/drawingml/2006/main">
            <a:pPr algn="l">
              <a:defRPr sz="36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6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as a ranking aid.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6C2D23E-098D-4D59-9427-E19A3382D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47950"/>
            <a:ext cx="5810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 i="0">
                <a:solidFill>
                  <a:srgbClr val="E9A23B"/>
                </a:solidFill>
                <a:latin typeface="Aptos"/>
                <a:ea typeface="Aptos"/>
                <a:cs typeface="Aptos"/>
              </a:defRPr>
            </a:pPr>
            <a:r>
              <a:rPr sz="2025" b="1" i="0">
                <a:solidFill>
                  <a:srgbClr val="E9A23B"/>
                </a:solidFill>
                <a:latin typeface="Aptos"/>
                <a:ea typeface="Aptos"/>
                <a:cs typeface="Aptos"/>
              </a:rPr>
              <a:t>Not an automatic fraud verdict.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F82323-E130-4B47-A2E1-B002B1FA4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143000"/>
            <a:ext cx="2857500" cy="1000125"/>
          </a:xfrm>
          <a:prstGeom xmlns:a="http://schemas.openxmlformats.org/drawingml/2006/main" prst="roundRect">
            <a:avLst>
              <a:gd name="adj" fmla="val 7619"/>
            </a:avLst>
          </a:prstGeom>
          <a:solidFill xmlns:a="http://schemas.openxmlformats.org/drawingml/2006/main">
            <a:srgbClr val="1D425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FE3B939-B00A-4502-8264-C46A93BBE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1295400"/>
            <a:ext cx="247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FINAL HOLDOUT PR-AUC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BAC844B-CBD6-498F-BAD2-21B8CD7C8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1552575"/>
            <a:ext cx="24765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2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0.2647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0E07883-CF85-4D3D-8B0E-2799CAEC9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343150"/>
            <a:ext cx="2857500" cy="1000125"/>
          </a:xfrm>
          <a:prstGeom xmlns:a="http://schemas.openxmlformats.org/drawingml/2006/main" prst="roundRect">
            <a:avLst>
              <a:gd name="adj" fmla="val 7619"/>
            </a:avLst>
          </a:prstGeom>
          <a:solidFill xmlns:a="http://schemas.openxmlformats.org/drawingml/2006/main">
            <a:srgbClr val="1D425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42B316A-0AB6-4A2B-A14E-BE9425DA1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495550"/>
            <a:ext cx="247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FINAL HOLDOUT ROC-AUC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C0BE7B2-88EA-4384-9A1E-43EFFA0FB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752725"/>
            <a:ext cx="24765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2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0.8354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2B85910-5D01-44A1-A333-C1CDF3B4F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52850"/>
            <a:ext cx="428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A8DADC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A8DADC"/>
                </a:solidFill>
                <a:latin typeface="Aptos"/>
                <a:ea typeface="Aptos"/>
                <a:cs typeface="Aptos"/>
              </a:rPr>
              <a:t>The evidence behind this decision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79F2766-B69F-4465-892E-0C4C0056D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2481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9A23B"/>
          </a:solidFill>
          <a:ln xmlns:a="http://schemas.openxmlformats.org/drawingml/2006/main" w="0">
            <a:solidFill>
              <a:srgbClr val="E9A23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B5D7D65-F782-49FE-A686-6B329FF07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171950"/>
            <a:ext cx="96012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Client-level features contain signal beyond the dummy ranking.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B780A22-E8CE-4221-B329-173F55A23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5815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9A23B"/>
          </a:solidFill>
          <a:ln xmlns:a="http://schemas.openxmlformats.org/drawingml/2006/main" w="0">
            <a:solidFill>
              <a:srgbClr val="E9A23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34E5F61-588B-4D9A-886D-CF360CBE2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505325"/>
            <a:ext cx="96012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Tree models improve the linear baseline, but do not separate fraud perfectly.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7E97F71-F2E6-4850-992C-926AADE77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9149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9A23B"/>
          </a:solidFill>
          <a:ln xmlns:a="http://schemas.openxmlformats.org/drawingml/2006/main" w="0">
            <a:solidFill>
              <a:srgbClr val="E9A23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7389BEB-A1E6-4587-B026-E471B9096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838700"/>
            <a:ext cx="96012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Error analysis finds a shared short-history blind spot and regional variation.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CF9B7C3-B7F8-4330-9C55-D76254A23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2482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9A23B"/>
          </a:solidFill>
          <a:ln xmlns:a="http://schemas.openxmlformats.org/drawingml/2006/main" w="0">
            <a:solidFill>
              <a:srgbClr val="E9A23B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C155C06-934A-4C92-8290-C300D37D6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172075"/>
            <a:ext cx="96012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Human review and a capacity-based threshold remain necessary.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094D4C6-5DCC-4C56-A787-4F5BB7FBE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791200"/>
            <a:ext cx="895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D8E3EA"/>
                </a:solidFill>
                <a:latin typeface="Aptos"/>
                <a:ea typeface="Aptos"/>
                <a:cs typeface="Aptos"/>
              </a:defRPr>
            </a:pPr>
            <a:r>
              <a:rPr sz="1350" b="0" i="0">
                <a:solidFill>
                  <a:srgbClr val="D8E3EA"/>
                </a:solidFill>
                <a:latin typeface="Aptos"/>
                <a:ea typeface="Aptos"/>
                <a:cs typeface="Aptos"/>
              </a:rPr>
              <a:t>Next: how the EDA, feature contract, models, and error analysis led here.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1C40729-AC1A-4E0B-B8CD-1F5C77138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5064"/>
          </a:solidFill>
          <a:ln xmlns:a="http://schemas.openxmlformats.org/drawingml/2006/main" w="0">
            <a:solidFill>
              <a:srgbClr val="35506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AC6C63D-1070-41B5-9930-CF188AE18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10350"/>
            <a:ext cx="3429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B9C7D2"/>
                </a:solidFill>
                <a:latin typeface="Aptos"/>
                <a:ea typeface="Aptos"/>
                <a:cs typeface="Aptos"/>
              </a:defRPr>
            </a:pPr>
            <a:r>
              <a:rPr sz="825" b="1" i="0">
                <a:solidFill>
                  <a:srgbClr val="B9C7D2"/>
                </a:solidFill>
                <a:latin typeface="Aptos"/>
                <a:ea typeface="Aptos"/>
                <a:cs typeface="Aptos"/>
              </a:rPr>
              <a:t>ROY + SEAN  ·  FRAUD DETECTION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B3E4B68-BE48-486F-B884-DE7D838CD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6591300"/>
            <a:ext cx="733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 i="0">
                <a:solidFill>
                  <a:srgbClr val="B9C7D2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B9C7D2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79768232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5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1B2E743-19BC-4487-BF35-790188AEF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385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1F776D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1F776D"/>
                </a:solidFill>
                <a:latin typeface="Aptos"/>
                <a:ea typeface="Aptos"/>
                <a:cs typeface="Aptos"/>
              </a:rPr>
              <a:t>EDA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3D7E388-07DD-44E0-879E-CB04DEE68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5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We changed the grain before we changed the model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D0CC88-4A20-4D8F-84A0-0BED66883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57300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EC1"/>
          </a:solidFill>
          <a:ln xmlns:a="http://schemas.openxmlformats.org/drawingml/2006/main" w="0">
            <a:solidFill>
              <a:srgbClr val="D5CEC1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A39C83-3D4D-406D-99A0-E4CB98D49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390650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The target is at client level; invoices are a repeated history.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11608D7-A801-4BEC-B268-9D308CBAB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95500"/>
            <a:ext cx="21336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D9E8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41FB990-AA1B-4FC3-86D8-12DBA25C5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266950"/>
            <a:ext cx="1790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CLIENT TABLE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1618128-FB5B-42BE-B50C-DB175F348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562225"/>
            <a:ext cx="18478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5238"/>
          </a:bodyPr>
          <a:lstStyle xmlns:a="http://schemas.openxmlformats.org/drawingml/2006/main"/>
          <a:p xmlns:a="http://schemas.openxmlformats.org/drawingml/2006/main">
            <a:pPr algn="ctr">
              <a:defRPr sz="157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57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135,493 rows</a:t>
            </a:r>
          </a:p>
          <a:p xmlns:a="http://schemas.openxmlformats.org/drawingml/2006/main">
            <a:pPr algn="ctr">
              <a:defRPr sz="157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57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1 target / client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AF247D9-8FDB-428A-8CB2-22A05A56A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447925"/>
            <a:ext cx="495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8958"/>
          </a:bodyPr>
          <a:lstStyle xmlns:a="http://schemas.openxmlformats.org/drawingml/2006/main"/>
          <a:p xmlns:a="http://schemas.openxmlformats.org/drawingml/2006/main">
            <a:pPr algn="ctr">
              <a:defRPr sz="2400" b="1" i="0">
                <a:solidFill>
                  <a:srgbClr val="2A9D8F"/>
                </a:solidFill>
                <a:latin typeface="Aptos"/>
                <a:ea typeface="Aptos"/>
                <a:cs typeface="Aptos"/>
              </a:defRPr>
            </a:pPr>
            <a:r>
              <a:rPr sz="2400" b="1" i="0">
                <a:solidFill>
                  <a:srgbClr val="2A9D8F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3EABF88-CE1B-47AC-B53A-EF491A0E3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095500"/>
            <a:ext cx="21336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DCEF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8F0DC9E-602E-4EC3-8DD0-F07ECDE54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2266950"/>
            <a:ext cx="1790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INVOICE TABLE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C62191C-73A6-44A0-8523-B3C40236F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4725" y="2562225"/>
            <a:ext cx="18478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5238"/>
          </a:bodyPr>
          <a:lstStyle xmlns:a="http://schemas.openxmlformats.org/drawingml/2006/main"/>
          <a:p xmlns:a="http://schemas.openxmlformats.org/drawingml/2006/main">
            <a:pPr algn="ctr">
              <a:defRPr sz="157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57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4,476,749 rows</a:t>
            </a:r>
          </a:p>
          <a:p xmlns:a="http://schemas.openxmlformats.org/drawingml/2006/main">
            <a:pPr algn="ctr">
              <a:defRPr sz="157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57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many / client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DD602D6-1939-46A3-8A12-E341718AD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2447925"/>
            <a:ext cx="495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8958"/>
          </a:bodyPr>
          <a:lstStyle xmlns:a="http://schemas.openxmlformats.org/drawingml/2006/main"/>
          <a:p xmlns:a="http://schemas.openxmlformats.org/drawingml/2006/main">
            <a:pPr algn="ctr">
              <a:defRPr sz="2400" b="1" i="0">
                <a:solidFill>
                  <a:srgbClr val="2A9D8F"/>
                </a:solidFill>
                <a:latin typeface="Aptos"/>
                <a:ea typeface="Aptos"/>
                <a:cs typeface="Aptos"/>
              </a:defRPr>
            </a:pPr>
            <a:r>
              <a:rPr sz="2400" b="1" i="0">
                <a:solidFill>
                  <a:srgbClr val="2A9D8F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BB35A24-D867-49B4-A31D-5DF088ACE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095500"/>
            <a:ext cx="21336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2D3C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3337691-8BFA-4BF5-A7F2-F0D72A99C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266950"/>
            <a:ext cx="1790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FEATURE TABLE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036BEA8-2B74-4A9C-A7AF-AA5FDBC35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62225"/>
            <a:ext cx="18478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5238"/>
          </a:bodyPr>
          <a:lstStyle xmlns:a="http://schemas.openxmlformats.org/drawingml/2006/main"/>
          <a:p xmlns:a="http://schemas.openxmlformats.org/drawingml/2006/main">
            <a:pPr algn="ctr">
              <a:defRPr sz="157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57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135,493 rows</a:t>
            </a:r>
          </a:p>
          <a:p xmlns:a="http://schemas.openxmlformats.org/drawingml/2006/main">
            <a:pPr algn="ctr">
              <a:defRPr sz="157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57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15 inputs + target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121A729-A8D8-41A8-AE37-901536D3E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447925"/>
            <a:ext cx="495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8958"/>
          </a:bodyPr>
          <a:lstStyle xmlns:a="http://schemas.openxmlformats.org/drawingml/2006/main"/>
          <a:p xmlns:a="http://schemas.openxmlformats.org/drawingml/2006/main">
            <a:pPr algn="ctr">
              <a:defRPr sz="2400" b="1" i="0">
                <a:solidFill>
                  <a:srgbClr val="2A9D8F"/>
                </a:solidFill>
                <a:latin typeface="Aptos"/>
                <a:ea typeface="Aptos"/>
                <a:cs typeface="Aptos"/>
              </a:defRPr>
            </a:pPr>
            <a:r>
              <a:rPr sz="2400" b="1" i="0">
                <a:solidFill>
                  <a:srgbClr val="2A9D8F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DFB710A-E0B2-4F2E-A0C1-D8268958A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2095500"/>
            <a:ext cx="21336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E6E1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9D5AC63-0E46-4756-B461-300C01BB0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266950"/>
            <a:ext cx="1790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MODEL SCORE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7F53995-CC1C-4663-B4D6-4F5B5CA5F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3025" y="2562225"/>
            <a:ext cx="18478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5238"/>
          </a:bodyPr>
          <a:lstStyle xmlns:a="http://schemas.openxmlformats.org/drawingml/2006/main"/>
          <a:p xmlns:a="http://schemas.openxmlformats.org/drawingml/2006/main">
            <a:pPr algn="ctr">
              <a:defRPr sz="157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57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ranked</a:t>
            </a:r>
          </a:p>
          <a:p xmlns:a="http://schemas.openxmlformats.org/drawingml/2006/main">
            <a:pPr algn="ctr">
              <a:defRPr sz="157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57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inspection queue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5564476-0AD0-4AC8-A05A-3C76363C9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638550"/>
            <a:ext cx="762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425" b="0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Invoices were read in chunks; the executed EDA completed aggregation in 16.4 seconds.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2AA773C-671C-4C19-AFA0-09BE826F5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48125"/>
            <a:ext cx="7524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18232C"/>
                </a:solidFill>
                <a:latin typeface="Aptos"/>
                <a:ea typeface="Aptos"/>
                <a:cs typeface="Aptos"/>
              </a:defRPr>
            </a:pPr>
            <a:r>
              <a:rPr sz="1500" b="0" i="0">
                <a:solidFill>
                  <a:srgbClr val="18232C"/>
                </a:solidFill>
                <a:latin typeface="Aptos"/>
                <a:ea typeface="Aptos"/>
                <a:cs typeface="Aptos"/>
              </a:rPr>
              <a:t>The raw tables have no missing cells. 5,333 clients lack a valid meter transition; those derived features are imputed only inside modelling.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4650243-066B-4C9D-BD18-5E31753DE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EC1"/>
          </a:solidFill>
          <a:ln xmlns:a="http://schemas.openxmlformats.org/drawingml/2006/main" w="0">
            <a:solidFill>
              <a:srgbClr val="D5CEC1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2D939F9-8B24-4EBA-A411-3C69D0F9E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10350"/>
            <a:ext cx="3429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825" b="1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ROY + SEAN  ·  FRAUD DETECTION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1067AD5-224C-4C89-92C4-27A204ED7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6591300"/>
            <a:ext cx="733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46327601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5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1957F0D5-4ECF-471D-A3C8-134D6EA8D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385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1F776D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1F776D"/>
                </a:solidFill>
                <a:latin typeface="Aptos"/>
                <a:ea typeface="Aptos"/>
                <a:cs typeface="Aptos"/>
              </a:rPr>
              <a:t>EDA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0654AD8-56A7-42E3-9FAA-B62DBBEC1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5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The feature contract made the history comparable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0E09BD7-26E4-4537-BE4E-D2A3B348D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57300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EC1"/>
          </a:solidFill>
          <a:ln xmlns:a="http://schemas.openxmlformats.org/drawingml/2006/main" w="0">
            <a:solidFill>
              <a:srgbClr val="D5CEC1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6B43109-326E-466B-835B-69A95CE0E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390650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Twelve engineered numeric features plus three original categorical fields.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805529-31FC-4C47-BDC5-ACD6F68C9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3835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9525">
            <a:solidFill>
              <a:srgbClr val="F5F1E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E7B030-6B56-43F7-99AA-1BB6F7280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33600"/>
            <a:ext cx="1257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FAMILY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0288782-AE50-4C3D-80D6-5DC1380AC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2038350"/>
            <a:ext cx="5314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9525">
            <a:solidFill>
              <a:srgbClr val="F5F1E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C13864C-F9BD-4C75-93CC-B5E02B5B4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2133600"/>
            <a:ext cx="5105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FEATURES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28E48AD-AEDE-480A-B4DA-DA2A28E68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038350"/>
            <a:ext cx="3219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9525">
            <a:solidFill>
              <a:srgbClr val="F5F1E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48F7257-2548-4675-BA97-C7E5CC7C1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2133600"/>
            <a:ext cx="3009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WHY IT ENTERS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1F76242-82CA-4865-833A-EA90F9977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438400"/>
            <a:ext cx="14668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8F3"/>
          </a:solidFill>
          <a:ln xmlns:a="http://schemas.openxmlformats.org/drawingml/2006/main" w="9525">
            <a:solidFill>
              <a:srgbClr val="F5F1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CEF89A6-0CE6-4990-B97C-74C87F34E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1257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27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History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BB3F73C-0A27-43A4-AE76-D91F2534C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2438400"/>
            <a:ext cx="53149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8F3"/>
          </a:solidFill>
          <a:ln xmlns:a="http://schemas.openxmlformats.org/drawingml/2006/main" w="9525">
            <a:solidFill>
              <a:srgbClr val="F5F1E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67F7F45-414B-4358-91FA-BAAE43EFB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2533650"/>
            <a:ext cx="5105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18232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18232C"/>
                </a:solidFill>
                <a:latin typeface="Aptos"/>
                <a:ea typeface="Aptos"/>
                <a:cs typeface="Aptos"/>
              </a:rPr>
              <a:t>invoice_count · active_days · mean_invoice_gap_days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19737B9-E09C-448E-B406-B5A26DDA6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438400"/>
            <a:ext cx="32194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8F3"/>
          </a:solidFill>
          <a:ln xmlns:a="http://schemas.openxmlformats.org/drawingml/2006/main" w="9525">
            <a:solidFill>
              <a:srgbClr val="F5F1E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1A0C749-F4F8-4496-9C72-6ADFA78A0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2533650"/>
            <a:ext cx="3009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18232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18232C"/>
                </a:solidFill>
                <a:latin typeface="Aptos"/>
                <a:ea typeface="Aptos"/>
                <a:cs typeface="Aptos"/>
              </a:rPr>
              <a:t>Exposure and regularity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36F32ED-264B-43E5-88F9-BC053A3CE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086100"/>
            <a:ext cx="14668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9DF"/>
          </a:solidFill>
          <a:ln xmlns:a="http://schemas.openxmlformats.org/drawingml/2006/main" w="9525">
            <a:solidFill>
              <a:srgbClr val="F5F1E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4AF3CFE-EB92-43F5-A440-772C2CF64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181350"/>
            <a:ext cx="1257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27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Consumption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3D1F31F-840D-4DBB-939C-CC32CAE20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3086100"/>
            <a:ext cx="53149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9DF"/>
          </a:solidFill>
          <a:ln xmlns:a="http://schemas.openxmlformats.org/drawingml/2006/main" w="9525">
            <a:solidFill>
              <a:srgbClr val="F5F1E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E5B3ADD-C1AF-4B3D-9384-C573F0827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3181350"/>
            <a:ext cx="5105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18232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18232C"/>
                </a:solidFill>
                <a:latin typeface="Aptos"/>
                <a:ea typeface="Aptos"/>
                <a:cs typeface="Aptos"/>
              </a:rPr>
              <a:t>mean_consumption · zero_consumption_rate · elec_share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65B3EDD-922C-4262-8AC3-27EE4C034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086100"/>
            <a:ext cx="32194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9DF"/>
          </a:solidFill>
          <a:ln xmlns:a="http://schemas.openxmlformats.org/drawingml/2006/main" w="9525">
            <a:solidFill>
              <a:srgbClr val="F5F1E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E4F4282-87A5-420B-ACC8-34DCACB33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3181350"/>
            <a:ext cx="3009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18232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18232C"/>
                </a:solidFill>
                <a:latin typeface="Aptos"/>
                <a:ea typeface="Aptos"/>
                <a:cs typeface="Aptos"/>
              </a:rPr>
              <a:t>Typical use across unequal history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B7E4CB8-7E17-405E-9E99-01B5471BE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33800"/>
            <a:ext cx="14668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8F3"/>
          </a:solidFill>
          <a:ln xmlns:a="http://schemas.openxmlformats.org/drawingml/2006/main" w="9525">
            <a:solidFill>
              <a:srgbClr val="F5F1E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0B432B3-F286-4E10-8461-D6C9828DC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29050"/>
            <a:ext cx="1257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27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Meter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C322D32-6641-489E-8465-AA73C500D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3733800"/>
            <a:ext cx="53149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8F3"/>
          </a:solidFill>
          <a:ln xmlns:a="http://schemas.openxmlformats.org/drawingml/2006/main" w="9525">
            <a:solidFill>
              <a:srgbClr val="F5F1E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4F828E3-DEB4-46AD-972A-D7E63A89D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3829050"/>
            <a:ext cx="5105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18232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18232C"/>
                </a:solidFill>
                <a:latin typeface="Aptos"/>
                <a:ea typeface="Aptos"/>
                <a:cs typeface="Aptos"/>
              </a:rPr>
              <a:t>backwards_index_rate · meter_count · mean_monthly_submission_index_delta · backward_submission_rate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156494C-41A4-46CD-B2D7-D00ED84C3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733800"/>
            <a:ext cx="32194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8F3"/>
          </a:solidFill>
          <a:ln xmlns:a="http://schemas.openxmlformats.org/drawingml/2006/main" w="9525">
            <a:solidFill>
              <a:srgbClr val="F5F1E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7C3FDDA-D146-49E3-BA4B-428E6176B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3829050"/>
            <a:ext cx="3009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18232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18232C"/>
                </a:solidFill>
                <a:latin typeface="Aptos"/>
                <a:ea typeface="Aptos"/>
                <a:cs typeface="Aptos"/>
              </a:rPr>
              <a:t>Corrections and sequence behaviour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4D2FACD-FED8-4B7E-AF4F-F67089596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381500"/>
            <a:ext cx="14668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9DF"/>
          </a:solidFill>
          <a:ln xmlns:a="http://schemas.openxmlformats.org/drawingml/2006/main" w="9525">
            <a:solidFill>
              <a:srgbClr val="F5F1E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95E9943-89D6-4EC2-8BBE-4DFA3F7DB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76750"/>
            <a:ext cx="1257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27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Reconciliation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F095F34-9456-431E-97EF-74BE12965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4381500"/>
            <a:ext cx="53149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9DF"/>
          </a:solidFill>
          <a:ln xmlns:a="http://schemas.openxmlformats.org/drawingml/2006/main" w="9525">
            <a:solidFill>
              <a:srgbClr val="F5F1E8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9C59752-9C92-4176-87A9-585A55AD8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4476750"/>
            <a:ext cx="5105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18232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18232C"/>
                </a:solidFill>
                <a:latin typeface="Aptos"/>
                <a:ea typeface="Aptos"/>
                <a:cs typeface="Aptos"/>
              </a:rPr>
              <a:t>large_mismatch_count · reconciliation_gap_abs_mean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9DB47DA-7D2B-429D-87E5-F272E860C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4381500"/>
            <a:ext cx="32194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9DF"/>
          </a:solidFill>
          <a:ln xmlns:a="http://schemas.openxmlformats.org/drawingml/2006/main" w="9525">
            <a:solidFill>
              <a:srgbClr val="F5F1E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85E0E33-0ACF-40E1-920D-2E3C78605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4476750"/>
            <a:ext cx="3009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18232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18232C"/>
                </a:solidFill>
                <a:latin typeface="Aptos"/>
                <a:ea typeface="Aptos"/>
                <a:cs typeface="Aptos"/>
              </a:rPr>
              <a:t>Meter movement versus billed use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54D2D64-CB05-4C85-BA85-654E026F4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029200"/>
            <a:ext cx="14668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8F3"/>
          </a:solidFill>
          <a:ln xmlns:a="http://schemas.openxmlformats.org/drawingml/2006/main" w="9525">
            <a:solidFill>
              <a:srgbClr val="F5F1E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4EBC854-0747-4249-A58A-F1622F337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124450"/>
            <a:ext cx="1257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27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Category / geo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C558555-F0B0-470C-9C0B-A0594C7B7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5029200"/>
            <a:ext cx="53149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8F3"/>
          </a:solidFill>
          <a:ln xmlns:a="http://schemas.openxmlformats.org/drawingml/2006/main" w="9525">
            <a:solidFill>
              <a:srgbClr val="F5F1E8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740D4CE-C092-4E3A-96AC-9B611C1B1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5124450"/>
            <a:ext cx="5105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18232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18232C"/>
                </a:solidFill>
                <a:latin typeface="Aptos"/>
                <a:ea typeface="Aptos"/>
                <a:cs typeface="Aptos"/>
              </a:rPr>
              <a:t>client_catg · disrict · region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B479FA8-21EF-4B24-BECF-9391A7158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5029200"/>
            <a:ext cx="32194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8F3"/>
          </a:solidFill>
          <a:ln xmlns:a="http://schemas.openxmlformats.org/drawingml/2006/main" w="9525">
            <a:solidFill>
              <a:srgbClr val="F5F1E8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0E0EFA5-9160-4F3C-BF34-63D5D0614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5124450"/>
            <a:ext cx="3009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18232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18232C"/>
                </a:solidFill>
                <a:latin typeface="Aptos"/>
                <a:ea typeface="Aptos"/>
                <a:cs typeface="Aptos"/>
              </a:rPr>
              <a:t>Group patterns without fake numeric distance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07ACE0E-CE7A-43B7-8525-3B519A913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810250"/>
            <a:ext cx="171450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DCEF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E3146AB-C5C7-45BC-8421-9AA262F28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962650"/>
            <a:ext cx="133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BASELINE INPUTS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B57549AE-19E2-47B5-86BD-CF1E5068F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19825"/>
            <a:ext cx="1333500" cy="76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22222"/>
          </a:bodyPr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1F776D"/>
                </a:solidFill>
                <a:latin typeface="Aptos"/>
                <a:ea typeface="Aptos"/>
                <a:cs typeface="Aptos"/>
              </a:defRPr>
            </a:pPr>
            <a:r>
              <a:rPr sz="2250" b="1" i="0">
                <a:solidFill>
                  <a:srgbClr val="1F776D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6970B26-7FA4-4C59-8359-34CC111B9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5886450"/>
            <a:ext cx="857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Postponed ≠ deleted: totals, maxima, duplicate counts, raw dates, and possible investigation-leakage fields stay available for later experiments.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25F7129-7553-4F8D-97B0-A6E45E9E7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EC1"/>
          </a:solidFill>
          <a:ln xmlns:a="http://schemas.openxmlformats.org/drawingml/2006/main" w="0">
            <a:solidFill>
              <a:srgbClr val="D5CEC1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69510CF4-C1F8-46BB-9164-64A0A56A8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10350"/>
            <a:ext cx="3429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825" b="1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ROY + SEAN  ·  FRAUD DETECTION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6F9F1094-EE61-4A97-8175-6B9D3213E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6591300"/>
            <a:ext cx="733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7654028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5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E100C94-F3D9-4A01-8A41-E07FCE28F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385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1F776D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1F776D"/>
                </a:solidFill>
                <a:latin typeface="Aptos"/>
                <a:ea typeface="Aptos"/>
                <a:cs typeface="Aptos"/>
              </a:rPr>
              <a:t>EDA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EAB4703-D0AC-4423-898A-F8487943B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5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The strongest patterns also expose the main risks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0E4AF85-1780-4D7A-9F71-C6A5DC1B7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57300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EC1"/>
          </a:solidFill>
          <a:ln xmlns:a="http://schemas.openxmlformats.org/drawingml/2006/main" w="0">
            <a:solidFill>
              <a:srgbClr val="D5CEC1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EC458CB-D25A-47FE-9E88-FA294B8B6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390650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Associations are useful for feature design, but they are not causal proof.</a:t>
            </a:r>
          </a:p>
        </p:txBody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f0b961bacd94172"/>
          <a:stretch xmlns:a="http://schemas.openxmlformats.org/drawingml/2006/main"/>
        </p:blipFill>
        <p:spPr>
          <a:xfrm xmlns:a="http://schemas.openxmlformats.org/drawingml/2006/main">
            <a:off x="647700" y="2626756"/>
            <a:ext cx="4762500" cy="1223487"/>
          </a:xfrm>
          <a:prstGeom xmlns:a="http://schemas.openxmlformats.org/drawingml/2006/main" prst="roundRect">
            <a:avLst>
              <a:gd name="adj" fmla="val 4000"/>
            </a:avLst>
          </a:prstGeom>
        </p:spPr>
      </p:pic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c7e3262abe64519"/>
          <a:stretch xmlns:a="http://schemas.openxmlformats.org/drawingml/2006/main"/>
        </p:blipFill>
        <p:spPr>
          <a:xfrm xmlns:a="http://schemas.openxmlformats.org/drawingml/2006/main">
            <a:off x="7187298" y="1809750"/>
            <a:ext cx="3341905" cy="2857500"/>
          </a:xfrm>
          <a:prstGeom xmlns:a="http://schemas.openxmlformats.org/drawingml/2006/main" prst="roundRect">
            <a:avLst>
              <a:gd name="adj" fmla="val 4000"/>
            </a:avLst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B6885B0-C573-40CB-A72B-6EF3370EB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914900"/>
            <a:ext cx="342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D95D53"/>
                </a:solidFill>
                <a:latin typeface="Aptos"/>
                <a:ea typeface="Aptos"/>
                <a:cs typeface="Aptos"/>
              </a:defRPr>
            </a:pPr>
            <a:r>
              <a:rPr sz="1575" b="1" i="0">
                <a:solidFill>
                  <a:srgbClr val="D95D53"/>
                </a:solidFill>
                <a:latin typeface="Aptos"/>
                <a:ea typeface="Aptos"/>
                <a:cs typeface="Aptos"/>
              </a:rPr>
              <a:t>Category 51: 16.87% fraud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DE8BB9C-1F52-4241-9D3E-A7066CC6F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91490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1F776D"/>
                </a:solidFill>
                <a:latin typeface="Aptos"/>
                <a:ea typeface="Aptos"/>
                <a:cs typeface="Aptos"/>
              </a:defRPr>
            </a:pPr>
            <a:r>
              <a:rPr sz="1425" b="1" i="0">
                <a:solidFill>
                  <a:srgbClr val="1F776D"/>
                </a:solidFill>
                <a:latin typeface="Aptos"/>
                <a:ea typeface="Aptos"/>
                <a:cs typeface="Aptos"/>
              </a:rPr>
              <a:t>Large mismatch: 8.82% of fraud vs 5.52% of non-fraud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42E1CF1-7F07-427D-951C-646FDE66D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457825"/>
            <a:ext cx="1066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18232C"/>
                </a:solidFill>
                <a:latin typeface="Aptos"/>
                <a:ea typeface="Aptos"/>
                <a:cs typeface="Aptos"/>
              </a:defRPr>
            </a:pPr>
            <a:r>
              <a:rPr sz="1500" b="0" i="0">
                <a:solidFill>
                  <a:srgbClr val="18232C"/>
                </a:solidFill>
                <a:latin typeface="Aptos"/>
                <a:ea typeface="Aptos"/>
                <a:cs typeface="Aptos"/>
              </a:rPr>
              <a:t>Observation-window bias: fraud rises from 0.94% in the shortest-history group to 9.15% in the longest. Longer histories create more opportunities for a label to appear.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2B6A94C-B12B-462A-BAE1-C3B95611D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EC1"/>
          </a:solidFill>
          <a:ln xmlns:a="http://schemas.openxmlformats.org/drawingml/2006/main" w="0">
            <a:solidFill>
              <a:srgbClr val="D5CEC1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14219E5-A7B5-44F7-9E62-0B30AC832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10350"/>
            <a:ext cx="3429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825" b="1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ROY + SEAN  ·  FRAUD DETECTION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11B1E0D-13DF-490B-A2D6-074EA02F4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6591300"/>
            <a:ext cx="733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0853611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5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0ADC6D8-52E4-4071-8FBB-3D9B72C10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385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1F776D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1F776D"/>
                </a:solidFill>
                <a:latin typeface="Aptos"/>
                <a:ea typeface="Aptos"/>
                <a:cs typeface="Aptos"/>
              </a:rPr>
              <a:t>EDA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9FD8762-B24F-4D62-9FD5-D74ABBE2D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5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We kept rows, but made the model inputs explicit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9C35174-7023-4FA8-9A51-A8D761BEC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57300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EC1"/>
          </a:solidFill>
          <a:ln xmlns:a="http://schemas.openxmlformats.org/drawingml/2006/main" w="0">
            <a:solidFill>
              <a:srgbClr val="D5CEC1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BED3DA-3BA9-4BA9-B9F6-4267B09B2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390650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The correlation table informed the discussion; it did not decide feature deletion by itself.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2D4F75-3AAE-452A-A45E-D98AE68B8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1717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2A9D8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CD4587B-05E5-45AE-A258-1F4919054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095500"/>
            <a:ext cx="54102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18232C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18232C"/>
                </a:solidFill>
                <a:latin typeface="Aptos"/>
                <a:ea typeface="Aptos"/>
                <a:cs typeface="Aptos"/>
              </a:rPr>
              <a:t>KEEP: all raw invoice rows, including the 11 duplicate-looking rows and backward readings.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9236AAB-EFB3-4001-97E6-BAF0CA3A8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8575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2A9D8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F7EBDC9-42FD-44A2-9D33-8DA21FB6A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781300"/>
            <a:ext cx="54102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18232C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18232C"/>
                </a:solidFill>
                <a:latin typeface="Aptos"/>
                <a:ea typeface="Aptos"/>
                <a:cs typeface="Aptos"/>
              </a:rPr>
              <a:t>KEEP: 15 client inputs — 12 engineered numeric + 3 categorical.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46D715E-E6AD-40FF-9111-DFE9E3CC5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5433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2A9D8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84A9E3A-F900-4770-A8E7-3E7F18E8C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467100"/>
            <a:ext cx="54102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18232C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18232C"/>
                </a:solidFill>
                <a:latin typeface="Aptos"/>
                <a:ea typeface="Aptos"/>
                <a:cs typeface="Aptos"/>
              </a:rPr>
              <a:t>EXCLUDE: IDs, target, raw dates, unreliable tenure, split labels, and possible last-invoice leakage.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2928A5A-4410-4A3E-854C-1C6F29C2E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2291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2A9D8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AD6C862-9737-4760-8F7E-9D1CF283D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152900"/>
            <a:ext cx="54102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18232C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18232C"/>
                </a:solidFill>
                <a:latin typeface="Aptos"/>
                <a:ea typeface="Aptos"/>
                <a:cs typeface="Aptos"/>
              </a:rPr>
              <a:t>POSTPONE: redundant totals, maxima, count duplicates, and invalid months_number features.</a:t>
            </a:r>
          </a:p>
        </p:txBody>
      </p:sp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b86b3954904111"/>
          <a:stretch xmlns:a="http://schemas.openxmlformats.org/drawingml/2006/main"/>
        </p:blipFill>
        <p:spPr>
          <a:xfrm xmlns:a="http://schemas.openxmlformats.org/drawingml/2006/main">
            <a:off x="6953250" y="1954637"/>
            <a:ext cx="4095750" cy="3663100"/>
          </a:xfrm>
          <a:prstGeom xmlns:a="http://schemas.openxmlformats.org/drawingml/2006/main" prst="roundRect">
            <a:avLst>
              <a:gd name="adj" fmla="val 3117"/>
            </a:avLst>
          </a:prstGeom>
        </p:spPr>
      </p:pic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8BD296F-F7A7-470E-A410-D53ED0CB3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219700"/>
            <a:ext cx="5715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350" b="0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No pair exceeded 0.90. Invoice count and active days correlated at 0.77, so we kept both as explicit history signals and tested the risk in error analysis.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72B5038-4E83-4E6F-89FD-DDB359AEE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EC1"/>
          </a:solidFill>
          <a:ln xmlns:a="http://schemas.openxmlformats.org/drawingml/2006/main" w="0">
            <a:solidFill>
              <a:srgbClr val="D5CEC1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1073438-029B-4E18-89C3-8C49AD2AB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10350"/>
            <a:ext cx="3429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825" b="1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ROY + SEAN  ·  FRAUD DETECTION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35EA232-D45E-48FF-96E1-0F8756898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6591300"/>
            <a:ext cx="733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7002395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5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FD636E1-3D10-4A5D-A898-FE73E48B8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385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1F776D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1F776D"/>
                </a:solidFill>
                <a:latin typeface="Aptos"/>
                <a:ea typeface="Aptos"/>
                <a:cs typeface="Aptos"/>
              </a:rPr>
              <a:t>WORKFLOW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CE5E572-2472-4A8D-9605-981D4CF97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5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The notebooks form one reproducible modelling path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8981897-9E73-422A-A21D-8BCBDE4F4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57300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EC1"/>
          </a:solidFill>
          <a:ln xmlns:a="http://schemas.openxmlformats.org/drawingml/2006/main" w="0">
            <a:solidFill>
              <a:srgbClr val="D5CEC1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F88BDD-74A4-423A-B412-BE3BBE48F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390650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Each numbered notebook answers a different question and carries the same feature contract forward.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ABB7002-D056-4522-A38E-AAA67195A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190750"/>
            <a:ext cx="184785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D9E8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86A07D5-0329-4AE2-B81F-5D4FC1E76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362200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1F776D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F776D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A837756-56FD-49A8-A4DB-D05E88AD2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714625"/>
            <a:ext cx="1504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80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EDA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2D06B78-800C-4173-884C-E652EB009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181350"/>
            <a:ext cx="15049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18232C"/>
                </a:solidFill>
                <a:latin typeface="Aptos"/>
                <a:ea typeface="Aptos"/>
                <a:cs typeface="Aptos"/>
              </a:defRPr>
            </a:pPr>
            <a:r>
              <a:rPr sz="1350" b="0" i="0">
                <a:solidFill>
                  <a:srgbClr val="18232C"/>
                </a:solidFill>
                <a:latin typeface="Aptos"/>
                <a:ea typeface="Aptos"/>
                <a:cs typeface="Aptos"/>
              </a:rPr>
              <a:t>aggregate</a:t>
            </a:r>
          </a:p>
          <a:p xmlns:a="http://schemas.openxmlformats.org/drawingml/2006/main">
            <a:pPr algn="l">
              <a:defRPr sz="1350" b="0" i="0">
                <a:solidFill>
                  <a:srgbClr val="18232C"/>
                </a:solidFill>
                <a:latin typeface="Aptos"/>
                <a:ea typeface="Aptos"/>
                <a:cs typeface="Aptos"/>
              </a:defRPr>
            </a:pPr>
            <a:r>
              <a:rPr sz="1350" b="0" i="0">
                <a:solidFill>
                  <a:srgbClr val="18232C"/>
                </a:solidFill>
                <a:latin typeface="Aptos"/>
                <a:ea typeface="Aptos"/>
                <a:cs typeface="Aptos"/>
              </a:rPr>
              <a:t>and audit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AECF785-9B67-4006-9804-8C3559393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2809875"/>
            <a:ext cx="3238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025" b="1" i="0">
                <a:solidFill>
                  <a:srgbClr val="2A9D8F"/>
                </a:solidFill>
                <a:latin typeface="Aptos"/>
                <a:ea typeface="Aptos"/>
                <a:cs typeface="Aptos"/>
              </a:defRPr>
            </a:pPr>
            <a:r>
              <a:rPr sz="2025" b="1" i="0">
                <a:solidFill>
                  <a:srgbClr val="2A9D8F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E1395A3-B7E8-43D0-9656-9BE5CF5E1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190750"/>
            <a:ext cx="184785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DCEF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4B480A2-9AB8-4D56-B836-DCE97AD60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362200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1F776D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F776D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1DB61DF-B90C-4818-A072-749B941B3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714625"/>
            <a:ext cx="1504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80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Baseline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9609AA5-6321-43F1-954B-EB114D840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181350"/>
            <a:ext cx="15049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18232C"/>
                </a:solidFill>
                <a:latin typeface="Aptos"/>
                <a:ea typeface="Aptos"/>
                <a:cs typeface="Aptos"/>
              </a:defRPr>
            </a:pPr>
            <a:r>
              <a:rPr sz="1350" b="0" i="0">
                <a:solidFill>
                  <a:srgbClr val="18232C"/>
                </a:solidFill>
                <a:latin typeface="Aptos"/>
                <a:ea typeface="Aptos"/>
                <a:cs typeface="Aptos"/>
              </a:rPr>
              <a:t>dummy vs</a:t>
            </a:r>
          </a:p>
          <a:p xmlns:a="http://schemas.openxmlformats.org/drawingml/2006/main">
            <a:pPr algn="l">
              <a:defRPr sz="1350" b="0" i="0">
                <a:solidFill>
                  <a:srgbClr val="18232C"/>
                </a:solidFill>
                <a:latin typeface="Aptos"/>
                <a:ea typeface="Aptos"/>
                <a:cs typeface="Aptos"/>
              </a:defRPr>
            </a:pPr>
            <a:r>
              <a:rPr sz="1350" b="0" i="0">
                <a:solidFill>
                  <a:srgbClr val="18232C"/>
                </a:solidFill>
                <a:latin typeface="Aptos"/>
                <a:ea typeface="Aptos"/>
                <a:cs typeface="Aptos"/>
              </a:rPr>
              <a:t>logistic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CC48909-C19B-46B8-A2D6-83D912A53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2809875"/>
            <a:ext cx="3238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025" b="1" i="0">
                <a:solidFill>
                  <a:srgbClr val="2A9D8F"/>
                </a:solidFill>
                <a:latin typeface="Aptos"/>
                <a:ea typeface="Aptos"/>
                <a:cs typeface="Aptos"/>
              </a:defRPr>
            </a:pPr>
            <a:r>
              <a:rPr sz="2025" b="1" i="0">
                <a:solidFill>
                  <a:srgbClr val="2A9D8F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85BBD09-F4F1-4718-8E23-4A03774BC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2190750"/>
            <a:ext cx="184785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6E1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A2BDB4E-A74A-4676-A437-ED5590BED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2362200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1F776D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F776D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6840D54-61CF-4B6F-94B4-C77B9A59F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2714625"/>
            <a:ext cx="1504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80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Extensions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6F57567-5B60-4B03-9E2A-7673A02BC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3181350"/>
            <a:ext cx="15049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18232C"/>
                </a:solidFill>
                <a:latin typeface="Aptos"/>
                <a:ea typeface="Aptos"/>
                <a:cs typeface="Aptos"/>
              </a:defRPr>
            </a:pPr>
            <a:r>
              <a:rPr sz="1350" b="0" i="0">
                <a:solidFill>
                  <a:srgbClr val="18232C"/>
                </a:solidFill>
                <a:latin typeface="Aptos"/>
                <a:ea typeface="Aptos"/>
                <a:cs typeface="Aptos"/>
              </a:rPr>
              <a:t>six model</a:t>
            </a:r>
          </a:p>
          <a:p xmlns:a="http://schemas.openxmlformats.org/drawingml/2006/main">
            <a:pPr algn="l">
              <a:defRPr sz="1350" b="0" i="0">
                <a:solidFill>
                  <a:srgbClr val="18232C"/>
                </a:solidFill>
                <a:latin typeface="Aptos"/>
                <a:ea typeface="Aptos"/>
                <a:cs typeface="Aptos"/>
              </a:defRPr>
            </a:pPr>
            <a:r>
              <a:rPr sz="1350" b="0" i="0">
                <a:solidFill>
                  <a:srgbClr val="18232C"/>
                </a:solidFill>
                <a:latin typeface="Aptos"/>
                <a:ea typeface="Aptos"/>
                <a:cs typeface="Aptos"/>
              </a:rPr>
              <a:t>families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B9A18DC-CEC5-4418-BD0C-C217DAB38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809875"/>
            <a:ext cx="3238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025" b="1" i="0">
                <a:solidFill>
                  <a:srgbClr val="2A9D8F"/>
                </a:solidFill>
                <a:latin typeface="Aptos"/>
                <a:ea typeface="Aptos"/>
                <a:cs typeface="Aptos"/>
              </a:defRPr>
            </a:pPr>
            <a:r>
              <a:rPr sz="2025" b="1" i="0">
                <a:solidFill>
                  <a:srgbClr val="2A9D8F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19F303F-9C01-4C8A-A136-ECF48C24C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190750"/>
            <a:ext cx="184785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2D3C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A200EAD-BCDE-458F-BCBC-D2859BE99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362200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1F776D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F776D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0B17A64-3557-454C-8B73-C95B82BAA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714625"/>
            <a:ext cx="1504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80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Errors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BE8CA76-B301-4D94-BC35-A5FF8700B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181350"/>
            <a:ext cx="15049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18232C"/>
                </a:solidFill>
                <a:latin typeface="Aptos"/>
                <a:ea typeface="Aptos"/>
                <a:cs typeface="Aptos"/>
              </a:defRPr>
            </a:pPr>
            <a:r>
              <a:rPr sz="1350" b="0" i="0">
                <a:solidFill>
                  <a:srgbClr val="18232C"/>
                </a:solidFill>
                <a:latin typeface="Aptos"/>
                <a:ea typeface="Aptos"/>
                <a:cs typeface="Aptos"/>
              </a:rPr>
              <a:t>agreement +</a:t>
            </a:r>
          </a:p>
          <a:p xmlns:a="http://schemas.openxmlformats.org/drawingml/2006/main">
            <a:pPr algn="l">
              <a:defRPr sz="1350" b="0" i="0">
                <a:solidFill>
                  <a:srgbClr val="18232C"/>
                </a:solidFill>
                <a:latin typeface="Aptos"/>
                <a:ea typeface="Aptos"/>
                <a:cs typeface="Aptos"/>
              </a:defRPr>
            </a:pPr>
            <a:r>
              <a:rPr sz="1350" b="0" i="0">
                <a:solidFill>
                  <a:srgbClr val="18232C"/>
                </a:solidFill>
                <a:latin typeface="Aptos"/>
                <a:ea typeface="Aptos"/>
                <a:cs typeface="Aptos"/>
              </a:rPr>
              <a:t>segments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85DAAF6-04F5-4032-874C-BA64E7BC7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2809875"/>
            <a:ext cx="3238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025" b="1" i="0">
                <a:solidFill>
                  <a:srgbClr val="2A9D8F"/>
                </a:solidFill>
                <a:latin typeface="Aptos"/>
                <a:ea typeface="Aptos"/>
                <a:cs typeface="Aptos"/>
              </a:defRPr>
            </a:pPr>
            <a:r>
              <a:rPr sz="2025" b="1" i="0">
                <a:solidFill>
                  <a:srgbClr val="2A9D8F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2B48A54-3501-4CF6-949B-DBE8DC08D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2190750"/>
            <a:ext cx="184785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6E5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76E47C2-950D-4632-8DB2-AE83A62FE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2362200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1F776D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F776D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8D5EFAB-C3B2-405F-BEBE-03C5062DD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2714625"/>
            <a:ext cx="1504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80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Final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3CD54B6-F5E9-4489-9DD3-330E76D87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3181350"/>
            <a:ext cx="15049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18232C"/>
                </a:solidFill>
                <a:latin typeface="Aptos"/>
                <a:ea typeface="Aptos"/>
                <a:cs typeface="Aptos"/>
              </a:defRPr>
            </a:pPr>
            <a:r>
              <a:rPr sz="1350" b="0" i="0">
                <a:solidFill>
                  <a:srgbClr val="18232C"/>
                </a:solidFill>
                <a:latin typeface="Aptos"/>
                <a:ea typeface="Aptos"/>
                <a:cs typeface="Aptos"/>
              </a:rPr>
              <a:t>tune + one-time</a:t>
            </a:r>
          </a:p>
          <a:p xmlns:a="http://schemas.openxmlformats.org/drawingml/2006/main">
            <a:pPr algn="l">
              <a:defRPr sz="1350" b="0" i="0">
                <a:solidFill>
                  <a:srgbClr val="18232C"/>
                </a:solidFill>
                <a:latin typeface="Aptos"/>
                <a:ea typeface="Aptos"/>
                <a:cs typeface="Aptos"/>
              </a:defRPr>
            </a:pPr>
            <a:r>
              <a:rPr sz="1350" b="0" i="0">
                <a:solidFill>
                  <a:srgbClr val="18232C"/>
                </a:solidFill>
                <a:latin typeface="Aptos"/>
                <a:ea typeface="Aptos"/>
                <a:cs typeface="Aptos"/>
              </a:rPr>
              <a:t>holdout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5D50622-E936-44A1-B11A-68C68EAE9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419600"/>
            <a:ext cx="1028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2750"/>
          </a:bodyPr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57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Fold-safe preprocessing: numeric median imputation/scaling and categorical handling are fitted inside training folds.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31A7423-D1B7-40C2-AE4B-BF13F49AD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972050"/>
            <a:ext cx="10287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9297"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425" b="0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The EDA itself does not fill source-table cells. The final holdout is created in memory and scored once after decisions are frozen.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A424578-B6F0-4CCC-BAB7-3A2243FD9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EC1"/>
          </a:solidFill>
          <a:ln xmlns:a="http://schemas.openxmlformats.org/drawingml/2006/main" w="0">
            <a:solidFill>
              <a:srgbClr val="D5CEC1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2E4A1C9-EF55-474A-97EC-986CC3BD3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10350"/>
            <a:ext cx="3429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825" b="1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ROY + SEAN  ·  FRAUD DETECTION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8D08216-2C73-428B-9AE2-55164D71B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6591300"/>
            <a:ext cx="733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93981989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5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05B6AB8-41D8-4CC2-8C01-7B09EF871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385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1F776D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1F776D"/>
                </a:solidFill>
                <a:latin typeface="Aptos"/>
                <a:ea typeface="Aptos"/>
                <a:cs typeface="Aptos"/>
              </a:rPr>
              <a:t>BASELINE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5F2A465-148E-4581-82A6-92282D4F5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5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The simple model proved that the features contain signal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DB185A9-3096-423A-9079-EE9D7A665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57300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EC1"/>
          </a:solidFill>
          <a:ln xmlns:a="http://schemas.openxmlformats.org/drawingml/2006/main" w="0">
            <a:solidFill>
              <a:srgbClr val="D5CEC1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3748B3-653C-4959-BE79-5850F8B4C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390650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We started with a dummy reference and regularised logistic regression.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CF76C55-1902-4CCC-8E55-C18A2B810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190750"/>
            <a:ext cx="28384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9525">
            <a:solidFill>
              <a:srgbClr val="F5F1E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B7FE25B-0145-41E5-BC4D-FB82FE4B0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86000"/>
            <a:ext cx="2628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MODEL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A14336F-19D0-408A-A3FA-B12051BB8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190750"/>
            <a:ext cx="14097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9525">
            <a:solidFill>
              <a:srgbClr val="F5F1E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3099084-08FC-4B15-84BD-337561D86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286000"/>
            <a:ext cx="120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5-FOLD PR-AUC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B127923-79D3-4580-8A65-95549F049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2190750"/>
            <a:ext cx="14097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9525">
            <a:solidFill>
              <a:srgbClr val="F5F1E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08DDEF5-D03A-4BEA-9858-22AD535F5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286000"/>
            <a:ext cx="120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ROC-AUC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A060043-EB84-4BBD-BC34-2C722B5AC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190750"/>
            <a:ext cx="18859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9525">
            <a:solidFill>
              <a:srgbClr val="F5F1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B639B12-D391-43A7-ACF5-04669BF53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286000"/>
            <a:ext cx="1676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ROLE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1E68CD7-60A6-4063-A27F-476D67F6F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00325"/>
            <a:ext cx="28384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8F3"/>
          </a:solidFill>
          <a:ln xmlns:a="http://schemas.openxmlformats.org/drawingml/2006/main" w="9525">
            <a:solidFill>
              <a:srgbClr val="F5F1E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2C58119-0748-4C65-B610-22CE7C10C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2628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18232C"/>
                </a:solidFill>
                <a:latin typeface="Aptos"/>
                <a:ea typeface="Aptos"/>
                <a:cs typeface="Aptos"/>
              </a:defRPr>
            </a:pPr>
            <a:r>
              <a:rPr sz="1500" b="1" i="0">
                <a:solidFill>
                  <a:srgbClr val="18232C"/>
                </a:solidFill>
                <a:latin typeface="Aptos"/>
                <a:ea typeface="Aptos"/>
                <a:cs typeface="Aptos"/>
              </a:rPr>
              <a:t>Dummy classifier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6A71CFD-5FE2-4760-B8C9-6FFEFBE32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600325"/>
            <a:ext cx="14097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8F3"/>
          </a:solidFill>
          <a:ln xmlns:a="http://schemas.openxmlformats.org/drawingml/2006/main" w="9525">
            <a:solidFill>
              <a:srgbClr val="F5F1E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09C0358-1044-4B25-86E2-DB9466187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714625"/>
            <a:ext cx="1200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1F776D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F776D"/>
                </a:solidFill>
                <a:latin typeface="Aptos"/>
                <a:ea typeface="Aptos"/>
                <a:cs typeface="Aptos"/>
              </a:rPr>
              <a:t>0.056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C156E97-39B7-42E6-9222-A55AD65BD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2600325"/>
            <a:ext cx="14097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8F3"/>
          </a:solidFill>
          <a:ln xmlns:a="http://schemas.openxmlformats.org/drawingml/2006/main" w="9525">
            <a:solidFill>
              <a:srgbClr val="F5F1E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DF0A3D0-64F7-4139-A3DF-494455812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714625"/>
            <a:ext cx="1200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18232C"/>
                </a:solidFill>
                <a:latin typeface="Aptos"/>
                <a:ea typeface="Aptos"/>
                <a:cs typeface="Aptos"/>
              </a:defRPr>
            </a:pPr>
            <a:r>
              <a:rPr sz="1350" b="0" i="0">
                <a:solidFill>
                  <a:srgbClr val="18232C"/>
                </a:solidFill>
                <a:latin typeface="Aptos"/>
                <a:ea typeface="Aptos"/>
                <a:cs typeface="Aptos"/>
              </a:rPr>
              <a:t>0.502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3CFAD60-F977-47AB-A62A-F61A5005E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600325"/>
            <a:ext cx="18859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8F3"/>
          </a:solidFill>
          <a:ln xmlns:a="http://schemas.openxmlformats.org/drawingml/2006/main" w="9525">
            <a:solidFill>
              <a:srgbClr val="F5F1E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6D0B08B-A056-4361-B37C-E4DE3A952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714625"/>
            <a:ext cx="1676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18232C"/>
                </a:solidFill>
                <a:latin typeface="Aptos"/>
                <a:ea typeface="Aptos"/>
                <a:cs typeface="Aptos"/>
              </a:defRPr>
            </a:pPr>
            <a:r>
              <a:rPr sz="1350" b="0" i="0">
                <a:solidFill>
                  <a:srgbClr val="18232C"/>
                </a:solidFill>
                <a:latin typeface="Aptos"/>
                <a:ea typeface="Aptos"/>
                <a:cs typeface="Aptos"/>
              </a:rPr>
              <a:t>reference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3018569-FD78-40BB-914B-C28ED4406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09925"/>
            <a:ext cx="28384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EA"/>
          </a:solidFill>
          <a:ln xmlns:a="http://schemas.openxmlformats.org/drawingml/2006/main" w="9525">
            <a:solidFill>
              <a:srgbClr val="F5F1E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B9D7209-DC64-4288-97DA-18560F911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24225"/>
            <a:ext cx="2628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18232C"/>
                </a:solidFill>
                <a:latin typeface="Aptos"/>
                <a:ea typeface="Aptos"/>
                <a:cs typeface="Aptos"/>
              </a:defRPr>
            </a:pPr>
            <a:r>
              <a:rPr sz="1500" b="1" i="0">
                <a:solidFill>
                  <a:srgbClr val="18232C"/>
                </a:solidFill>
                <a:latin typeface="Aptos"/>
                <a:ea typeface="Aptos"/>
                <a:cs typeface="Aptos"/>
              </a:rPr>
              <a:t>Logistic regression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890C601-66C4-4BA2-B807-04AFFF5EF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3209925"/>
            <a:ext cx="14097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EA"/>
          </a:solidFill>
          <a:ln xmlns:a="http://schemas.openxmlformats.org/drawingml/2006/main" w="9525">
            <a:solidFill>
              <a:srgbClr val="F5F1E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0AB6CD9-4375-4C0F-A747-FE8CA3E12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324225"/>
            <a:ext cx="1200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1F776D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F776D"/>
                </a:solidFill>
                <a:latin typeface="Aptos"/>
                <a:ea typeface="Aptos"/>
                <a:cs typeface="Aptos"/>
              </a:rPr>
              <a:t>0.170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4872BED-F30D-432E-8027-C084A7E88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3209925"/>
            <a:ext cx="14097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EA"/>
          </a:solidFill>
          <a:ln xmlns:a="http://schemas.openxmlformats.org/drawingml/2006/main" w="9525">
            <a:solidFill>
              <a:srgbClr val="F5F1E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F6B54E5-3D31-4591-88A7-D08E8FD82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324225"/>
            <a:ext cx="1200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18232C"/>
                </a:solidFill>
                <a:latin typeface="Aptos"/>
                <a:ea typeface="Aptos"/>
                <a:cs typeface="Aptos"/>
              </a:defRPr>
            </a:pPr>
            <a:r>
              <a:rPr sz="1350" b="0" i="0">
                <a:solidFill>
                  <a:srgbClr val="18232C"/>
                </a:solidFill>
                <a:latin typeface="Aptos"/>
                <a:ea typeface="Aptos"/>
                <a:cs typeface="Aptos"/>
              </a:rPr>
              <a:t>0.795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DB8A942-CCD5-46E6-AD03-71B064442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209925"/>
            <a:ext cx="18859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EA"/>
          </a:solidFill>
          <a:ln xmlns:a="http://schemas.openxmlformats.org/drawingml/2006/main" w="9525">
            <a:solidFill>
              <a:srgbClr val="F5F1E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0B694D8-B9A2-45B7-8920-9E5624342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324225"/>
            <a:ext cx="1676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18232C"/>
                </a:solidFill>
                <a:latin typeface="Aptos"/>
                <a:ea typeface="Aptos"/>
                <a:cs typeface="Aptos"/>
              </a:defRPr>
            </a:pPr>
            <a:r>
              <a:rPr sz="1350" b="0" i="0">
                <a:solidFill>
                  <a:srgbClr val="18232C"/>
                </a:solidFill>
                <a:latin typeface="Aptos"/>
                <a:ea typeface="Aptos"/>
                <a:cs typeface="Aptos"/>
              </a:rPr>
              <a:t>explainable floor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7524CC2-6905-4F0D-A49B-219289EFE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286000"/>
            <a:ext cx="2571750" cy="1000125"/>
          </a:xfrm>
          <a:prstGeom xmlns:a="http://schemas.openxmlformats.org/drawingml/2006/main" prst="roundRect">
            <a:avLst>
              <a:gd name="adj" fmla="val 7619"/>
            </a:avLst>
          </a:prstGeom>
          <a:solidFill xmlns:a="http://schemas.openxmlformats.org/drawingml/2006/main">
            <a:srgbClr val="F2D3C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C6D7F08-AF14-48E2-9F5C-900D700CF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438400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IMPROVEMENT OVER DUMMY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A63F4C4-074E-4473-8ED7-AF5192743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695575"/>
            <a:ext cx="219075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D95D53"/>
                </a:solidFill>
                <a:latin typeface="Aptos"/>
                <a:ea typeface="Aptos"/>
                <a:cs typeface="Aptos"/>
              </a:defRPr>
            </a:pPr>
            <a:r>
              <a:rPr sz="2250" b="1" i="0">
                <a:solidFill>
                  <a:srgbClr val="D95D53"/>
                </a:solidFill>
                <a:latin typeface="Aptos"/>
                <a:ea typeface="Aptos"/>
                <a:cs typeface="Aptos"/>
              </a:rPr>
              <a:t>0.056 → 0.170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DB4681A-9F32-4633-BB71-394976AF2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9052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7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What it means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8A8B82C-FE01-43F9-B458-9EC7446AA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4196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2A9D8F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50BA18A-A1A4-4488-827B-C982CBF06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43400"/>
            <a:ext cx="9315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18232C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18232C"/>
                </a:solidFill>
                <a:latin typeface="Aptos"/>
                <a:ea typeface="Aptos"/>
                <a:cs typeface="Aptos"/>
              </a:rPr>
              <a:t>The feature contract is learnable, not just a class-prior trick.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C633E01-0093-4EBD-9BA9-00E92C0C1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8196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2A9D8F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D30C2AD-528E-40E1-97CB-57CCB998F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743450"/>
            <a:ext cx="9315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18232C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18232C"/>
                </a:solidFill>
                <a:latin typeface="Aptos"/>
                <a:ea typeface="Aptos"/>
                <a:cs typeface="Aptos"/>
              </a:rPr>
              <a:t>PR-AUC remains far below 1.0: the classes overlap substantially.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79B6E9D-06F6-4AF9-B2DF-83341F458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2197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2A9D8F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23898C0-4A1A-4091-A610-5F553FA9C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143500"/>
            <a:ext cx="9315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18232C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18232C"/>
                </a:solidFill>
                <a:latin typeface="Aptos"/>
                <a:ea typeface="Aptos"/>
                <a:cs typeface="Aptos"/>
              </a:rPr>
              <a:t>The baseline sets an explainable floor for stronger model families.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BDD1378-43C6-4F2F-BD59-DD5CDBFD6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EC1"/>
          </a:solidFill>
          <a:ln xmlns:a="http://schemas.openxmlformats.org/drawingml/2006/main" w="0">
            <a:solidFill>
              <a:srgbClr val="D5CEC1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0AFEAC9-C1EC-49C1-991A-BF20398BE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10350"/>
            <a:ext cx="3429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825" b="1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ROY + SEAN  ·  FRAUD DETECTION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F47431A-A0BC-4898-8D3E-3020B0A58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6591300"/>
            <a:ext cx="733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949198223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5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8BE90195-E2EF-4D47-A510-A221AFE55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385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1F776D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1F776D"/>
                </a:solidFill>
                <a:latin typeface="Aptos"/>
                <a:ea typeface="Aptos"/>
                <a:cs typeface="Aptos"/>
              </a:rPr>
              <a:t>MODEL COMPARISON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66F32ED-DF71-4043-9D29-C3DF5F1E0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5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Non-linear tree models moved the ranking forward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2DB1CEE-B587-443B-A5D1-A88BBBC8B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57300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EC1"/>
          </a:solidFill>
          <a:ln xmlns:a="http://schemas.openxmlformats.org/drawingml/2006/main" w="0">
            <a:solidFill>
              <a:srgbClr val="D5CEC1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CD3AFB1-6ECC-4A9B-87F1-F83D85DBC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390650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Same 15 inputs, same five-fold CV, six candidate families.</a:t>
            </a:r>
          </a:p>
        </p:txBody>
      </p:sp>
      <p:pic>
        <p:nvPicPr>
          <p:cNvPr id="7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24e25be4be84215"/>
          <a:stretch xmlns:a="http://schemas.openxmlformats.org/drawingml/2006/main"/>
        </p:blipFill>
        <p:spPr>
          <a:xfrm xmlns:a="http://schemas.openxmlformats.org/drawingml/2006/main">
            <a:off x="1301535" y="1809750"/>
            <a:ext cx="4121581" cy="3524250"/>
          </a:xfrm>
          <a:prstGeom xmlns:a="http://schemas.openxmlformats.org/drawingml/2006/main" prst="roundRect">
            <a:avLst>
              <a:gd name="adj" fmla="val 3243"/>
            </a:avLst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996AD2A-689B-4FD5-9987-3F9A6D179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847850"/>
            <a:ext cx="1790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9525">
            <a:solidFill>
              <a:srgbClr val="F5F1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14925C7-0814-48B6-B5D4-900CEFE0C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2725" y="1933575"/>
            <a:ext cx="16383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MODEL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9B4B099-8F43-4204-AB0E-F8CB9EAE9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847850"/>
            <a:ext cx="9334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9525">
            <a:solidFill>
              <a:srgbClr val="F5F1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55BC165-AE36-46E8-A890-09438F9F0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2475" y="1933575"/>
            <a:ext cx="781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PR-AUC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EC063FF-2079-4BD0-86AF-98F9315E2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847850"/>
            <a:ext cx="9334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9525">
            <a:solidFill>
              <a:srgbClr val="F5F1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EC1F9FC-2608-47F7-AE9D-EE73EE86E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4975" y="1933575"/>
            <a:ext cx="781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ROC-AUC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51A21E8-03FA-408B-B3C7-65E07C080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1847850"/>
            <a:ext cx="1409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9525">
            <a:solidFill>
              <a:srgbClr val="F5F1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B45B542-B628-4791-B731-966C6CAB9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77475" y="1933575"/>
            <a:ext cx="12573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DECISION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A37FC01-D3D0-4AED-858D-9E3EB00B6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219325"/>
            <a:ext cx="17907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EA"/>
          </a:solidFill>
          <a:ln xmlns:a="http://schemas.openxmlformats.org/drawingml/2006/main" w="9525">
            <a:solidFill>
              <a:srgbClr val="F5F1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9BBDE4E-62EE-453F-8133-D94905C3D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2725" y="2314575"/>
            <a:ext cx="1638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8232C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18232C"/>
                </a:solidFill>
                <a:latin typeface="Aptos"/>
                <a:ea typeface="Aptos"/>
                <a:cs typeface="Aptos"/>
              </a:rPr>
              <a:t>LightGBM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767BAE9-0948-4C6E-90A8-F10AF63A8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219325"/>
            <a:ext cx="9334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EA"/>
          </a:solidFill>
          <a:ln xmlns:a="http://schemas.openxmlformats.org/drawingml/2006/main" w="9525">
            <a:solidFill>
              <a:srgbClr val="F5F1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591D017-21E6-47E6-9797-67490135A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2475" y="2314575"/>
            <a:ext cx="781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1F776D"/>
                </a:solidFill>
                <a:latin typeface="Aptos"/>
                <a:ea typeface="Aptos"/>
                <a:cs typeface="Aptos"/>
              </a:defRPr>
            </a:pPr>
            <a:r>
              <a:rPr sz="1125" b="1" i="0">
                <a:solidFill>
                  <a:srgbClr val="1F776D"/>
                </a:solidFill>
                <a:latin typeface="Aptos"/>
                <a:ea typeface="Aptos"/>
                <a:cs typeface="Aptos"/>
              </a:rPr>
              <a:t>0.247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48EB047-B11C-4F3E-91A9-337A56B0B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219325"/>
            <a:ext cx="9334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EA"/>
          </a:solidFill>
          <a:ln xmlns:a="http://schemas.openxmlformats.org/drawingml/2006/main" w="9525">
            <a:solidFill>
              <a:srgbClr val="F5F1E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1D0BA3D-3CDE-4E2A-B551-29489A154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4975" y="2314575"/>
            <a:ext cx="781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18232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18232C"/>
                </a:solidFill>
                <a:latin typeface="Aptos"/>
                <a:ea typeface="Aptos"/>
                <a:cs typeface="Aptos"/>
              </a:rPr>
              <a:t>0.831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FC7CEA7-7E53-4D5D-B35B-AE349A864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2219325"/>
            <a:ext cx="14097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EA"/>
          </a:solidFill>
          <a:ln xmlns:a="http://schemas.openxmlformats.org/drawingml/2006/main" w="9525">
            <a:solidFill>
              <a:srgbClr val="F5F1E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1BD4968-7818-42F0-B366-307D1B71B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77475" y="2314575"/>
            <a:ext cx="1257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18232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18232C"/>
                </a:solidFill>
                <a:latin typeface="Aptos"/>
                <a:ea typeface="Aptos"/>
                <a:cs typeface="Aptos"/>
              </a:rPr>
              <a:t>tune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4EF9CC2-168A-4986-B924-EDBEAC5E2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714625"/>
            <a:ext cx="17907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9DF"/>
          </a:solidFill>
          <a:ln xmlns:a="http://schemas.openxmlformats.org/drawingml/2006/main" w="9525">
            <a:solidFill>
              <a:srgbClr val="F5F1E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30799A4-BADB-4FB7-9CF0-38AB8C694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2725" y="2809875"/>
            <a:ext cx="1638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8232C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18232C"/>
                </a:solidFill>
                <a:latin typeface="Aptos"/>
                <a:ea typeface="Aptos"/>
                <a:cs typeface="Aptos"/>
              </a:rPr>
              <a:t>XGBoost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95F6932-4513-4EFA-B546-8F6B25F95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714625"/>
            <a:ext cx="9334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9DF"/>
          </a:solidFill>
          <a:ln xmlns:a="http://schemas.openxmlformats.org/drawingml/2006/main" w="9525">
            <a:solidFill>
              <a:srgbClr val="F5F1E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1CD32D9-2B39-4FEE-B9D6-E4BA29665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2475" y="2809875"/>
            <a:ext cx="781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1F776D"/>
                </a:solidFill>
                <a:latin typeface="Aptos"/>
                <a:ea typeface="Aptos"/>
                <a:cs typeface="Aptos"/>
              </a:defRPr>
            </a:pPr>
            <a:r>
              <a:rPr sz="1125" b="1" i="0">
                <a:solidFill>
                  <a:srgbClr val="1F776D"/>
                </a:solidFill>
                <a:latin typeface="Aptos"/>
                <a:ea typeface="Aptos"/>
                <a:cs typeface="Aptos"/>
              </a:rPr>
              <a:t>0.232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B712C53-C4AE-4FA3-B0C1-D126C7635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714625"/>
            <a:ext cx="9334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9DF"/>
          </a:solidFill>
          <a:ln xmlns:a="http://schemas.openxmlformats.org/drawingml/2006/main" w="9525">
            <a:solidFill>
              <a:srgbClr val="F5F1E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37273A7-A5BB-422D-A3B4-B7B5D6F23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4975" y="2809875"/>
            <a:ext cx="781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18232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18232C"/>
                </a:solidFill>
                <a:latin typeface="Aptos"/>
                <a:ea typeface="Aptos"/>
                <a:cs typeface="Aptos"/>
              </a:rPr>
              <a:t>0.812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09FBEED-8BD0-4CCF-B614-E9B411851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2714625"/>
            <a:ext cx="14097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9DF"/>
          </a:solidFill>
          <a:ln xmlns:a="http://schemas.openxmlformats.org/drawingml/2006/main" w="9525">
            <a:solidFill>
              <a:srgbClr val="F5F1E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FC828C2-CB2C-4017-8BE2-AF44B701D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77475" y="2809875"/>
            <a:ext cx="1257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18232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18232C"/>
                </a:solidFill>
                <a:latin typeface="Aptos"/>
                <a:ea typeface="Aptos"/>
                <a:cs typeface="Aptos"/>
              </a:rPr>
              <a:t>reference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4D10A26-EC41-46B1-AB35-E942CF609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209925"/>
            <a:ext cx="17907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8F3"/>
          </a:solidFill>
          <a:ln xmlns:a="http://schemas.openxmlformats.org/drawingml/2006/main" w="9525">
            <a:solidFill>
              <a:srgbClr val="F5F1E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986EA81-D48A-4388-8DA5-475CC0CC6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2725" y="3305175"/>
            <a:ext cx="1638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8232C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18232C"/>
                </a:solidFill>
                <a:latin typeface="Aptos"/>
                <a:ea typeface="Aptos"/>
                <a:cs typeface="Aptos"/>
              </a:rPr>
              <a:t>Random Forest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A939579-F558-4185-B95D-BDFF94179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209925"/>
            <a:ext cx="9334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8F3"/>
          </a:solidFill>
          <a:ln xmlns:a="http://schemas.openxmlformats.org/drawingml/2006/main" w="9525">
            <a:solidFill>
              <a:srgbClr val="F5F1E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1674153-33C8-4F7D-80F1-CE84D7C71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2475" y="3305175"/>
            <a:ext cx="781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1F776D"/>
                </a:solidFill>
                <a:latin typeface="Aptos"/>
                <a:ea typeface="Aptos"/>
                <a:cs typeface="Aptos"/>
              </a:defRPr>
            </a:pPr>
            <a:r>
              <a:rPr sz="1125" b="1" i="0">
                <a:solidFill>
                  <a:srgbClr val="1F776D"/>
                </a:solidFill>
                <a:latin typeface="Aptos"/>
                <a:ea typeface="Aptos"/>
                <a:cs typeface="Aptos"/>
              </a:rPr>
              <a:t>0.227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216B0C9-2BC8-46B9-B5B8-04B8D97A0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209925"/>
            <a:ext cx="9334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8F3"/>
          </a:solidFill>
          <a:ln xmlns:a="http://schemas.openxmlformats.org/drawingml/2006/main" w="9525">
            <a:solidFill>
              <a:srgbClr val="F5F1E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219F56E-080D-4160-B16F-37225B8D3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4975" y="3305175"/>
            <a:ext cx="781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18232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18232C"/>
                </a:solidFill>
                <a:latin typeface="Aptos"/>
                <a:ea typeface="Aptos"/>
                <a:cs typeface="Aptos"/>
              </a:rPr>
              <a:t>0.816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87E0335-EA9C-46A7-8C2F-9DE587F8B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3209925"/>
            <a:ext cx="14097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8F3"/>
          </a:solidFill>
          <a:ln xmlns:a="http://schemas.openxmlformats.org/drawingml/2006/main" w="9525">
            <a:solidFill>
              <a:srgbClr val="F5F1E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7492C0F-98DE-4A40-9A30-7A2EF73F9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77475" y="3305175"/>
            <a:ext cx="1257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18232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18232C"/>
                </a:solidFill>
                <a:latin typeface="Aptos"/>
                <a:ea typeface="Aptos"/>
                <a:cs typeface="Aptos"/>
              </a:rPr>
              <a:t>reference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97966C1-6412-44B6-9937-1B69EBF4E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705225"/>
            <a:ext cx="17907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9DF"/>
          </a:solidFill>
          <a:ln xmlns:a="http://schemas.openxmlformats.org/drawingml/2006/main" w="9525">
            <a:solidFill>
              <a:srgbClr val="F5F1E8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F370C23-F9B7-4C1B-B883-EC69EF5A4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2725" y="3800475"/>
            <a:ext cx="1638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8232C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18232C"/>
                </a:solidFill>
                <a:latin typeface="Aptos"/>
                <a:ea typeface="Aptos"/>
                <a:cs typeface="Aptos"/>
              </a:rPr>
              <a:t>Logistic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45725EE-96E0-4424-9E0A-5D3A0A7B0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705225"/>
            <a:ext cx="9334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9DF"/>
          </a:solidFill>
          <a:ln xmlns:a="http://schemas.openxmlformats.org/drawingml/2006/main" w="9525">
            <a:solidFill>
              <a:srgbClr val="F5F1E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C2649ED-EB52-4242-BC35-81EAF5F19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2475" y="3800475"/>
            <a:ext cx="781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1F776D"/>
                </a:solidFill>
                <a:latin typeface="Aptos"/>
                <a:ea typeface="Aptos"/>
                <a:cs typeface="Aptos"/>
              </a:defRPr>
            </a:pPr>
            <a:r>
              <a:rPr sz="1125" b="1" i="0">
                <a:solidFill>
                  <a:srgbClr val="1F776D"/>
                </a:solidFill>
                <a:latin typeface="Aptos"/>
                <a:ea typeface="Aptos"/>
                <a:cs typeface="Aptos"/>
              </a:rPr>
              <a:t>0.170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9754C9C-5BE3-4EDC-A19D-88DF4548B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705225"/>
            <a:ext cx="9334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9DF"/>
          </a:solidFill>
          <a:ln xmlns:a="http://schemas.openxmlformats.org/drawingml/2006/main" w="9525">
            <a:solidFill>
              <a:srgbClr val="F5F1E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C873451-F440-4553-9AE8-422F57394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4975" y="3800475"/>
            <a:ext cx="781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18232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18232C"/>
                </a:solidFill>
                <a:latin typeface="Aptos"/>
                <a:ea typeface="Aptos"/>
                <a:cs typeface="Aptos"/>
              </a:rPr>
              <a:t>0.795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0D6D5AE-AA61-4E2B-B5B1-D5C2C32AC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3705225"/>
            <a:ext cx="14097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9DF"/>
          </a:solidFill>
          <a:ln xmlns:a="http://schemas.openxmlformats.org/drawingml/2006/main" w="9525">
            <a:solidFill>
              <a:srgbClr val="F5F1E8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6AA15515-86C8-4A4A-8344-4BB33409B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77475" y="3800475"/>
            <a:ext cx="1257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18232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18232C"/>
                </a:solidFill>
                <a:latin typeface="Aptos"/>
                <a:ea typeface="Aptos"/>
                <a:cs typeface="Aptos"/>
              </a:rPr>
              <a:t>baseline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97CA90D5-2013-44ED-B048-01C07A82B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200525"/>
            <a:ext cx="17907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8F3"/>
          </a:solidFill>
          <a:ln xmlns:a="http://schemas.openxmlformats.org/drawingml/2006/main" w="9525">
            <a:solidFill>
              <a:srgbClr val="F5F1E8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4F7682F4-45C7-4C16-818F-9BAB11E35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2725" y="4295775"/>
            <a:ext cx="1638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8232C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18232C"/>
                </a:solidFill>
                <a:latin typeface="Aptos"/>
                <a:ea typeface="Aptos"/>
                <a:cs typeface="Aptos"/>
              </a:rPr>
              <a:t>KNN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116D066A-34CE-4DAB-A8E2-CF3DD2A9A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200525"/>
            <a:ext cx="9334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8F3"/>
          </a:solidFill>
          <a:ln xmlns:a="http://schemas.openxmlformats.org/drawingml/2006/main" w="9525">
            <a:solidFill>
              <a:srgbClr val="F5F1E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7B61FE29-9929-4B7E-B621-0287AA853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2475" y="4295775"/>
            <a:ext cx="781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1F776D"/>
                </a:solidFill>
                <a:latin typeface="Aptos"/>
                <a:ea typeface="Aptos"/>
                <a:cs typeface="Aptos"/>
              </a:defRPr>
            </a:pPr>
            <a:r>
              <a:rPr sz="1125" b="1" i="0">
                <a:solidFill>
                  <a:srgbClr val="1F776D"/>
                </a:solidFill>
                <a:latin typeface="Aptos"/>
                <a:ea typeface="Aptos"/>
                <a:cs typeface="Aptos"/>
              </a:rPr>
              <a:t>0.139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F33D6EC7-6D1F-4FF7-BD78-1D200E2F4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4200525"/>
            <a:ext cx="9334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8F3"/>
          </a:solidFill>
          <a:ln xmlns:a="http://schemas.openxmlformats.org/drawingml/2006/main" w="9525">
            <a:solidFill>
              <a:srgbClr val="F5F1E8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4B908F71-C81F-4693-BF85-86278BDAB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4975" y="4295775"/>
            <a:ext cx="781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18232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18232C"/>
                </a:solidFill>
                <a:latin typeface="Aptos"/>
                <a:ea typeface="Aptos"/>
                <a:cs typeface="Aptos"/>
              </a:rPr>
              <a:t>0.687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6B1AE256-A566-43AD-9C4E-ABB40F182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4200525"/>
            <a:ext cx="14097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8F3"/>
          </a:solidFill>
          <a:ln xmlns:a="http://schemas.openxmlformats.org/drawingml/2006/main" w="9525">
            <a:solidFill>
              <a:srgbClr val="F5F1E8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247507C8-CA56-4E52-A0A0-9CC1D2844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77475" y="4295775"/>
            <a:ext cx="1257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18232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18232C"/>
                </a:solidFill>
                <a:latin typeface="Aptos"/>
                <a:ea typeface="Aptos"/>
                <a:cs typeface="Aptos"/>
              </a:rPr>
              <a:t>weaker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B4904E2A-494B-4DB1-9640-8054BD8C1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695825"/>
            <a:ext cx="17907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9DF"/>
          </a:solidFill>
          <a:ln xmlns:a="http://schemas.openxmlformats.org/drawingml/2006/main" w="9525">
            <a:solidFill>
              <a:srgbClr val="F5F1E8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55B0157D-7311-44E4-ADE5-29FD460F6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2725" y="4791075"/>
            <a:ext cx="1638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8232C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18232C"/>
                </a:solidFill>
                <a:latin typeface="Aptos"/>
                <a:ea typeface="Aptos"/>
                <a:cs typeface="Aptos"/>
              </a:rPr>
              <a:t>Isolation Forest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D14F220F-27BD-4CB8-849E-8960DA1C0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695825"/>
            <a:ext cx="9334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9DF"/>
          </a:solidFill>
          <a:ln xmlns:a="http://schemas.openxmlformats.org/drawingml/2006/main" w="9525">
            <a:solidFill>
              <a:srgbClr val="F5F1E8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0DC4B07C-E897-44FB-A5A3-3D5BB7C28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2475" y="4791075"/>
            <a:ext cx="781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1F776D"/>
                </a:solidFill>
                <a:latin typeface="Aptos"/>
                <a:ea typeface="Aptos"/>
                <a:cs typeface="Aptos"/>
              </a:defRPr>
            </a:pPr>
            <a:r>
              <a:rPr sz="1125" b="1" i="0">
                <a:solidFill>
                  <a:srgbClr val="1F776D"/>
                </a:solidFill>
                <a:latin typeface="Aptos"/>
                <a:ea typeface="Aptos"/>
                <a:cs typeface="Aptos"/>
              </a:rPr>
              <a:t>0.072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C6F579D7-4093-436B-A994-7C3FEF2E2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4695825"/>
            <a:ext cx="9334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9DF"/>
          </a:solidFill>
          <a:ln xmlns:a="http://schemas.openxmlformats.org/drawingml/2006/main" w="9525">
            <a:solidFill>
              <a:srgbClr val="F5F1E8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BA60BF1B-5EBA-4333-AE4B-248DCEDA2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4975" y="4791075"/>
            <a:ext cx="781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18232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18232C"/>
                </a:solidFill>
                <a:latin typeface="Aptos"/>
                <a:ea typeface="Aptos"/>
                <a:cs typeface="Aptos"/>
              </a:rPr>
              <a:t>0.560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F0B9A89C-DACC-4187-B934-A1AFFCE68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4695825"/>
            <a:ext cx="14097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9DF"/>
          </a:solidFill>
          <a:ln xmlns:a="http://schemas.openxmlformats.org/drawingml/2006/main" w="9525">
            <a:solidFill>
              <a:srgbClr val="F5F1E8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9875EDCC-D468-4773-9A16-A3D5C192E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77475" y="4791075"/>
            <a:ext cx="1257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18232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18232C"/>
                </a:solidFill>
                <a:latin typeface="Aptos"/>
                <a:ea typeface="Aptos"/>
                <a:cs typeface="Aptos"/>
              </a:rPr>
              <a:t>weaker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AA855B29-CEEA-4EBD-A580-422A10D62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5334000"/>
            <a:ext cx="4857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8225"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Decision: tune LightGBM. The gain is evidence for non-linear combinations, not proof that one feature causes fraud.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18E4E5A9-B91E-4035-9EA8-EE3B0FA84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EC1"/>
          </a:solidFill>
          <a:ln xmlns:a="http://schemas.openxmlformats.org/drawingml/2006/main" w="0">
            <a:solidFill>
              <a:srgbClr val="D5CEC1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2DEEF940-E1E5-4438-A306-5C38850EE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10350"/>
            <a:ext cx="3429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825" b="1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ROY + SEAN  ·  FRAUD DETECTION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0C9F093A-772C-42E9-857B-D09306608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6591300"/>
            <a:ext cx="733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47490985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5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A8D6F55-BA05-455E-8530-03684EE47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385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1F776D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1F776D"/>
                </a:solidFill>
                <a:latin typeface="Aptos"/>
                <a:ea typeface="Aptos"/>
                <a:cs typeface="Aptos"/>
              </a:rPr>
              <a:t>ERROR ANALYSIS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BBEAD07-7840-4B20-B74C-B8EB1844D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5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The models share a large blind spot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95352A-E5E9-4D25-8C0F-00C08F136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57300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EC1"/>
          </a:solidFill>
          <a:ln xmlns:a="http://schemas.openxmlformats.org/drawingml/2006/main" w="0">
            <a:solidFill>
              <a:srgbClr val="D5CEC1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EFFDF69-788B-4D1A-9E75-A44D0E862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390650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The question changed from ‘which model wins?’ to ‘which fraud cases do all models miss?’</a:t>
            </a:r>
          </a:p>
        </p:txBody>
      </p:sp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1d777150adb45e1"/>
          <a:stretch xmlns:a="http://schemas.openxmlformats.org/drawingml/2006/main"/>
        </p:blipFill>
        <p:spPr>
          <a:xfrm xmlns:a="http://schemas.openxmlformats.org/drawingml/2006/main">
            <a:off x="647700" y="1792877"/>
            <a:ext cx="6667500" cy="2376897"/>
          </a:xfrm>
          <a:prstGeom xmlns:a="http://schemas.openxmlformats.org/drawingml/2006/main" prst="roundRect">
            <a:avLst>
              <a:gd name="adj" fmla="val 4800"/>
            </a:avLst>
          </a:prstGeom>
        </p:spPr>
      </p:pic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26418bd7e948a1"/>
          <a:stretch xmlns:a="http://schemas.openxmlformats.org/drawingml/2006/main"/>
        </p:blipFill>
        <p:spPr>
          <a:xfrm xmlns:a="http://schemas.openxmlformats.org/drawingml/2006/main">
            <a:off x="7976105" y="1790700"/>
            <a:ext cx="3193040" cy="2381250"/>
          </a:xfrm>
          <a:prstGeom xmlns:a="http://schemas.openxmlformats.org/drawingml/2006/main" prst="roundRect">
            <a:avLst>
              <a:gd name="adj" fmla="val 4800"/>
            </a:avLst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3A72E88-20B2-429B-9516-746626DAF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333875"/>
            <a:ext cx="2190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1F776D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F776D"/>
                </a:solidFill>
                <a:latin typeface="Aptos"/>
                <a:ea typeface="Aptos"/>
                <a:cs typeface="Aptos"/>
              </a:rPr>
              <a:t>2,250 caught by all 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CB57C74-5AF1-4D09-9DD8-67B2560DE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4333875"/>
            <a:ext cx="2190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D95D5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D95D53"/>
                </a:solidFill>
                <a:latin typeface="Aptos"/>
                <a:ea typeface="Aptos"/>
                <a:cs typeface="Aptos"/>
              </a:rPr>
              <a:t>3,248 missed by all three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B513A9B-2414-42D4-BA37-E1328317D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8863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2A9D8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12B0578-AEC3-4142-9DB6-16E1BD87E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10125"/>
            <a:ext cx="10267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18232C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18232C"/>
                </a:solidFill>
                <a:latin typeface="Aptos"/>
                <a:ea typeface="Aptos"/>
                <a:cs typeface="Aptos"/>
              </a:rPr>
              <a:t>3,248 fraud clients (42.9%) were missed by all three tree models.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40CC7E-F839-47AC-A9A4-B0933DB01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2101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2A9D8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668D6D7-0A18-4926-9E30-FAF7E7A47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133975"/>
            <a:ext cx="10267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18232C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18232C"/>
                </a:solidFill>
                <a:latin typeface="Aptos"/>
                <a:ea typeface="Aptos"/>
                <a:cs typeface="Aptos"/>
              </a:rPr>
              <a:t>Short-history clients are especially difficult: top-10% recall is only 2.3% for LightGBM.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D06E7DF-2DEB-448F-BEC0-E681517F9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5340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2A9D8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BCDA53A-ABF1-4903-9A7C-20444F0AB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457825"/>
            <a:ext cx="10267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18232C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18232C"/>
                </a:solidFill>
                <a:latin typeface="Aptos"/>
                <a:ea typeface="Aptos"/>
                <a:cs typeface="Aptos"/>
              </a:rPr>
              <a:t>3,017 long-history fraud clients were still missed — not only a short-history problem.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8EEB4CB-44E6-45DB-A591-5EE2DA8EA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EC1"/>
          </a:solidFill>
          <a:ln xmlns:a="http://schemas.openxmlformats.org/drawingml/2006/main" w="0">
            <a:solidFill>
              <a:srgbClr val="D5CEC1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FBCAA48-9D73-4A2D-AACA-005661F5F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10350"/>
            <a:ext cx="3429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825" b="1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ROY + SEAN  ·  FRAUD DETECTION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8CB617B-8E87-4580-9A21-C16DFC8ED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6591300"/>
            <a:ext cx="733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21553118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5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94B10499-036E-4926-AC7D-E64689FE7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385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1F776D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1F776D"/>
                </a:solidFill>
                <a:latin typeface="Aptos"/>
                <a:ea typeface="Aptos"/>
                <a:cs typeface="Aptos"/>
              </a:rPr>
              <a:t>FINAL MODEL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E2C11D-DC66-4971-BC3D-BA0DA5DC5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5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Tuning helped; it did not erase the blind spot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78A3C91-8950-4BB8-816D-1509DEEAC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57300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EC1"/>
          </a:solidFill>
          <a:ln xmlns:a="http://schemas.openxmlformats.org/drawingml/2006/main" w="0">
            <a:solidFill>
              <a:srgbClr val="D5CEC1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8A61EF-B55C-4B0E-94D7-532FAD95C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390650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LightGBM with native categorical handling was selected after a small, evidence-gated comparison.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4026C9F-F495-4C13-944B-D1ECD9807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00250"/>
            <a:ext cx="3409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9525">
            <a:solidFill>
              <a:srgbClr val="F5F1E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C2FCF14-535A-4D1F-962D-253E4B77A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2085975"/>
            <a:ext cx="3219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CANDIDATE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DD9B127-44E7-4D6B-A450-61A61FE93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2000250"/>
            <a:ext cx="1409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9525">
            <a:solidFill>
              <a:srgbClr val="F5F1E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1E9E18B-1A41-483E-AEBF-ACD177A3A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81475" y="2085975"/>
            <a:ext cx="1219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DEV CV PR-AUC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1847E6F-D07F-43D0-B833-67F42A52E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2000250"/>
            <a:ext cx="16954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9525">
            <a:solidFill>
              <a:srgbClr val="F5F1E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33B8148-6360-439A-BDC3-79AEA3897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0225" y="2085975"/>
            <a:ext cx="1504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DECISION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6A66BCC-6E97-40FA-A972-A4B96BF0F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71725"/>
            <a:ext cx="34099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8F3"/>
          </a:solidFill>
          <a:ln xmlns:a="http://schemas.openxmlformats.org/drawingml/2006/main" w="9525">
            <a:solidFill>
              <a:srgbClr val="F5F1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E84E2FA-98E5-4F80-88FC-AB71D4B80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2476500"/>
            <a:ext cx="3219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8232C"/>
                </a:solidFill>
                <a:latin typeface="Aptos"/>
                <a:ea typeface="Aptos"/>
                <a:cs typeface="Aptos"/>
              </a:defRPr>
            </a:pPr>
            <a:r>
              <a:rPr sz="1275" b="1" i="0">
                <a:solidFill>
                  <a:srgbClr val="18232C"/>
                </a:solidFill>
                <a:latin typeface="Aptos"/>
                <a:ea typeface="Aptos"/>
                <a:cs typeface="Aptos"/>
              </a:rPr>
              <a:t>Untuned LightGBM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2B22D33-0507-4693-AE9F-AB2665C46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2371725"/>
            <a:ext cx="14097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8F3"/>
          </a:solidFill>
          <a:ln xmlns:a="http://schemas.openxmlformats.org/drawingml/2006/main" w="9525">
            <a:solidFill>
              <a:srgbClr val="F5F1E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11505D5-D6E6-475E-A9DE-32CEB6230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81475" y="2476500"/>
            <a:ext cx="1219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1F776D"/>
                </a:solidFill>
                <a:latin typeface="Aptos"/>
                <a:ea typeface="Aptos"/>
                <a:cs typeface="Aptos"/>
              </a:defRPr>
            </a:pPr>
            <a:r>
              <a:rPr sz="1200" b="0" i="0">
                <a:solidFill>
                  <a:srgbClr val="1F776D"/>
                </a:solidFill>
                <a:latin typeface="Aptos"/>
                <a:ea typeface="Aptos"/>
                <a:cs typeface="Aptos"/>
              </a:rPr>
              <a:t>0.2379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79512A4-CA3A-4658-9A46-BE7D6B38A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2371725"/>
            <a:ext cx="16954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8F3"/>
          </a:solidFill>
          <a:ln xmlns:a="http://schemas.openxmlformats.org/drawingml/2006/main" w="9525">
            <a:solidFill>
              <a:srgbClr val="F5F1E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CDBA666-A752-4EE7-92D1-A4E17EC02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0225" y="2476500"/>
            <a:ext cx="1504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18232C"/>
                </a:solidFill>
                <a:latin typeface="Aptos"/>
                <a:ea typeface="Aptos"/>
                <a:cs typeface="Aptos"/>
              </a:defRPr>
            </a:pPr>
            <a:r>
              <a:rPr sz="1200" b="0" i="0">
                <a:solidFill>
                  <a:srgbClr val="18232C"/>
                </a:solidFill>
                <a:latin typeface="Aptos"/>
                <a:ea typeface="Aptos"/>
                <a:cs typeface="Aptos"/>
              </a:rPr>
              <a:t>reference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F2C4D8F-9A69-46B5-9DB3-216D49550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886075"/>
            <a:ext cx="34099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9DF"/>
          </a:solidFill>
          <a:ln xmlns:a="http://schemas.openxmlformats.org/drawingml/2006/main" w="9525">
            <a:solidFill>
              <a:srgbClr val="F5F1E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CC4B2DE-9746-4F96-9DE0-01F2DC017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2990850"/>
            <a:ext cx="3219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8232C"/>
                </a:solidFill>
                <a:latin typeface="Aptos"/>
                <a:ea typeface="Aptos"/>
                <a:cs typeface="Aptos"/>
              </a:defRPr>
            </a:pPr>
            <a:r>
              <a:rPr sz="1275" b="1" i="0">
                <a:solidFill>
                  <a:srgbClr val="18232C"/>
                </a:solidFill>
                <a:latin typeface="Aptos"/>
                <a:ea typeface="Aptos"/>
                <a:cs typeface="Aptos"/>
              </a:rPr>
              <a:t>Tuned, one-hot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71CA02C-5504-46D9-82AF-3C67CE355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2886075"/>
            <a:ext cx="14097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9DF"/>
          </a:solidFill>
          <a:ln xmlns:a="http://schemas.openxmlformats.org/drawingml/2006/main" w="9525">
            <a:solidFill>
              <a:srgbClr val="F5F1E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101DA37-814C-4909-9B4F-AE658D373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81475" y="2990850"/>
            <a:ext cx="1219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1F776D"/>
                </a:solidFill>
                <a:latin typeface="Aptos"/>
                <a:ea typeface="Aptos"/>
                <a:cs typeface="Aptos"/>
              </a:defRPr>
            </a:pPr>
            <a:r>
              <a:rPr sz="1200" b="0" i="0">
                <a:solidFill>
                  <a:srgbClr val="1F776D"/>
                </a:solidFill>
                <a:latin typeface="Aptos"/>
                <a:ea typeface="Aptos"/>
                <a:cs typeface="Aptos"/>
              </a:rPr>
              <a:t>0.2470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18BBA46-6039-4D5E-BBE3-84986A4CC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2886075"/>
            <a:ext cx="16954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9DF"/>
          </a:solidFill>
          <a:ln xmlns:a="http://schemas.openxmlformats.org/drawingml/2006/main" w="9525">
            <a:solidFill>
              <a:srgbClr val="F5F1E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4394DD3-A440-4542-A858-854D9CCF3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0225" y="2990850"/>
            <a:ext cx="1504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18232C"/>
                </a:solidFill>
                <a:latin typeface="Aptos"/>
                <a:ea typeface="Aptos"/>
                <a:cs typeface="Aptos"/>
              </a:defRPr>
            </a:pPr>
            <a:r>
              <a:rPr sz="1200" b="0" i="0">
                <a:solidFill>
                  <a:srgbClr val="18232C"/>
                </a:solidFill>
                <a:latin typeface="Aptos"/>
                <a:ea typeface="Aptos"/>
                <a:cs typeface="Aptos"/>
              </a:rPr>
              <a:t>improved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54754F0-8BC1-401C-A0A2-9BACAEE81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400425"/>
            <a:ext cx="34099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EA"/>
          </a:solidFill>
          <a:ln xmlns:a="http://schemas.openxmlformats.org/drawingml/2006/main" w="9525">
            <a:solidFill>
              <a:srgbClr val="F5F1E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7B69DB5-6728-4F95-A376-67DC68A1A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3505200"/>
            <a:ext cx="3219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8232C"/>
                </a:solidFill>
                <a:latin typeface="Aptos"/>
                <a:ea typeface="Aptos"/>
                <a:cs typeface="Aptos"/>
              </a:defRPr>
            </a:pPr>
            <a:r>
              <a:rPr sz="1275" b="1" i="0">
                <a:solidFill>
                  <a:srgbClr val="18232C"/>
                </a:solidFill>
                <a:latin typeface="Aptos"/>
                <a:ea typeface="Aptos"/>
                <a:cs typeface="Aptos"/>
              </a:rPr>
              <a:t>Tuned, native categorical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5207080-5DF3-4790-AED8-22FFCD57E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3400425"/>
            <a:ext cx="14097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EA"/>
          </a:solidFill>
          <a:ln xmlns:a="http://schemas.openxmlformats.org/drawingml/2006/main" w="9525">
            <a:solidFill>
              <a:srgbClr val="F5F1E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6EE6F46-D218-4E88-8306-6978E17E3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81475" y="3505200"/>
            <a:ext cx="1219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F776D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1F776D"/>
                </a:solidFill>
                <a:latin typeface="Aptos"/>
                <a:ea typeface="Aptos"/>
                <a:cs typeface="Aptos"/>
              </a:rPr>
              <a:t>0.2506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0363E51-9AEA-4350-8FA0-D679593F9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3400425"/>
            <a:ext cx="16954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EA"/>
          </a:solidFill>
          <a:ln xmlns:a="http://schemas.openxmlformats.org/drawingml/2006/main" w="9525">
            <a:solidFill>
              <a:srgbClr val="F5F1E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8D171AE-F0FA-48F0-BBDA-7ED0A1397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0225" y="3505200"/>
            <a:ext cx="1504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8232C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18232C"/>
                </a:solidFill>
                <a:latin typeface="Aptos"/>
                <a:ea typeface="Aptos"/>
                <a:cs typeface="Aptos"/>
              </a:rPr>
              <a:t>selected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3457AD8-F0B2-4014-BDFD-B33F2F0F8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914775"/>
            <a:ext cx="34099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9DF"/>
          </a:solidFill>
          <a:ln xmlns:a="http://schemas.openxmlformats.org/drawingml/2006/main" w="9525">
            <a:solidFill>
              <a:srgbClr val="F5F1E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114FD9E-DBF1-4EF4-A824-80915FF55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4019550"/>
            <a:ext cx="3219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8232C"/>
                </a:solidFill>
                <a:latin typeface="Aptos"/>
                <a:ea typeface="Aptos"/>
                <a:cs typeface="Aptos"/>
              </a:defRPr>
            </a:pPr>
            <a:r>
              <a:rPr sz="1275" b="1" i="0">
                <a:solidFill>
                  <a:srgbClr val="18232C"/>
                </a:solidFill>
                <a:latin typeface="Aptos"/>
                <a:ea typeface="Aptos"/>
                <a:cs typeface="Aptos"/>
              </a:rPr>
              <a:t>Tuned + RF ensemble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8BF3BD1-2051-418E-BAB2-1284E7F12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3914775"/>
            <a:ext cx="14097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9DF"/>
          </a:solidFill>
          <a:ln xmlns:a="http://schemas.openxmlformats.org/drawingml/2006/main" w="9525">
            <a:solidFill>
              <a:srgbClr val="F5F1E8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0B987A4-96BC-4EA2-810B-68EB278CB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81475" y="4019550"/>
            <a:ext cx="1219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1F776D"/>
                </a:solidFill>
                <a:latin typeface="Aptos"/>
                <a:ea typeface="Aptos"/>
                <a:cs typeface="Aptos"/>
              </a:defRPr>
            </a:pPr>
            <a:r>
              <a:rPr sz="1200" b="0" i="0">
                <a:solidFill>
                  <a:srgbClr val="1F776D"/>
                </a:solidFill>
                <a:latin typeface="Aptos"/>
                <a:ea typeface="Aptos"/>
                <a:cs typeface="Aptos"/>
              </a:rPr>
              <a:t>0.2499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B683085-9095-45D3-88D2-2090D6773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3914775"/>
            <a:ext cx="16954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9DF"/>
          </a:solidFill>
          <a:ln xmlns:a="http://schemas.openxmlformats.org/drawingml/2006/main" w="9525">
            <a:solidFill>
              <a:srgbClr val="F5F1E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D24D8EE-3892-4A70-B03D-C858D938B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0225" y="4019550"/>
            <a:ext cx="1504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18232C"/>
                </a:solidFill>
                <a:latin typeface="Aptos"/>
                <a:ea typeface="Aptos"/>
                <a:cs typeface="Aptos"/>
              </a:defRPr>
            </a:pPr>
            <a:r>
              <a:rPr sz="1200" b="0" i="0">
                <a:solidFill>
                  <a:srgbClr val="18232C"/>
                </a:solidFill>
                <a:latin typeface="Aptos"/>
                <a:ea typeface="Aptos"/>
                <a:cs typeface="Aptos"/>
              </a:rPr>
              <a:t>rejected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9FCC8BF-2351-4B20-A6AD-83DFD82DF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67250"/>
            <a:ext cx="257175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2D3C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1C5E9FD-43DF-4F0D-87AE-0060210C1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819650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ONE-TIME HOLDOUT PR-AUC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EE70A40-7271-4E26-8D8C-014B2E0AA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076825"/>
            <a:ext cx="2190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D95D53"/>
                </a:solidFill>
                <a:latin typeface="Aptos"/>
                <a:ea typeface="Aptos"/>
                <a:cs typeface="Aptos"/>
              </a:defRPr>
            </a:pPr>
            <a:r>
              <a:rPr sz="2250" b="1" i="0">
                <a:solidFill>
                  <a:srgbClr val="D95D53"/>
                </a:solidFill>
                <a:latin typeface="Aptos"/>
                <a:ea typeface="Aptos"/>
                <a:cs typeface="Aptos"/>
              </a:rPr>
              <a:t>0.2647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361C557-A0F6-4F56-A851-0CF7F84E5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667250"/>
            <a:ext cx="257175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DCEF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2113C09-F88D-4399-9FFF-4B6CEB1B4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4819650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ONE-TIME HOLDOUT ROC-AUC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2CD9366-4BF6-47AB-B69E-E39D404F2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5076825"/>
            <a:ext cx="2190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1F776D"/>
                </a:solidFill>
                <a:latin typeface="Aptos"/>
                <a:ea typeface="Aptos"/>
                <a:cs typeface="Aptos"/>
              </a:defRPr>
            </a:pPr>
            <a:r>
              <a:rPr sz="2250" b="1" i="0">
                <a:solidFill>
                  <a:srgbClr val="1F776D"/>
                </a:solidFill>
                <a:latin typeface="Aptos"/>
                <a:ea typeface="Aptos"/>
                <a:cs typeface="Aptos"/>
              </a:rPr>
              <a:t>0.8354</a:t>
            </a:r>
          </a:p>
        </p:txBody>
      </p:sp>
      <p:pic>
        <p:nvPicPr>
          <p:cNvPr id="8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c26753a05f4b6f"/>
          <a:stretch xmlns:a="http://schemas.openxmlformats.org/drawingml/2006/main"/>
        </p:blipFill>
        <p:spPr>
          <a:xfrm xmlns:a="http://schemas.openxmlformats.org/drawingml/2006/main">
            <a:off x="7429500" y="2210628"/>
            <a:ext cx="4000500" cy="2551043"/>
          </a:xfrm>
          <a:prstGeom xmlns:a="http://schemas.openxmlformats.org/drawingml/2006/main" prst="roundRect">
            <a:avLst>
              <a:gd name="adj" fmla="val 4000"/>
            </a:avLst>
          </a:prstGeom>
        </p:spPr>
      </p:pic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8A519CF-5AA8-4C98-9781-BA767DEE2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810250"/>
            <a:ext cx="590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750"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200" b="0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0.2514 was the best search CV score; 0.2506 is the post-selection OOF comparison used for the final decision.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B437893-1DB1-44BC-A22F-2ECEF6C0D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5219700"/>
            <a:ext cx="4000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The shortest-history holdout group reaches only 5.6% recall at the same top-10% inspection rule.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09FF39E-CFCC-4040-9187-DA1CF2500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EC1"/>
          </a:solidFill>
          <a:ln xmlns:a="http://schemas.openxmlformats.org/drawingml/2006/main" w="0">
            <a:solidFill>
              <a:srgbClr val="D5CEC1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3BA60A6-9618-4D17-9B2A-BC713559C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10350"/>
            <a:ext cx="3429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825" b="1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ROY + SEAN  ·  FRAUD DETECTION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13AC7E0B-7C2B-44A9-9BAB-146A3506D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6591300"/>
            <a:ext cx="733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286461871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5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A6E5C03-D9D6-43BE-8C32-A67089950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385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1F776D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1F776D"/>
                </a:solidFill>
                <a:latin typeface="Aptos"/>
                <a:ea typeface="Aptos"/>
                <a:cs typeface="Aptos"/>
              </a:rPr>
              <a:t>RECOMMENDATION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57F660E-9E6C-439D-B862-28A592567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5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Useful ranking, bounded claim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9A4AED-8E1A-46EC-9D64-697E2A2AD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57300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EC1"/>
          </a:solidFill>
          <a:ln xmlns:a="http://schemas.openxmlformats.org/drawingml/2006/main" w="0">
            <a:solidFill>
              <a:srgbClr val="D5CEC1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1A8859-B15F-464A-B5FC-32E851CB7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390650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The model is ready for a controlled prioritisation experiment — not an unattended decision.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4E86047-657A-4092-98C9-4526DC415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00250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F776D"/>
                </a:solidFill>
                <a:latin typeface="Aptos"/>
                <a:ea typeface="Aptos"/>
                <a:cs typeface="Aptos"/>
              </a:defRPr>
            </a:pPr>
            <a:r>
              <a:rPr sz="1800" b="1" i="0">
                <a:solidFill>
                  <a:srgbClr val="1F776D"/>
                </a:solidFill>
                <a:latin typeface="Aptos"/>
                <a:ea typeface="Aptos"/>
                <a:cs typeface="Aptos"/>
              </a:rPr>
              <a:t>What we can claim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A02BF40-89E0-4F31-8FF1-DEE19F5B1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527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2A9D8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6F50831-4016-47E2-9212-5CF70D675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76500"/>
            <a:ext cx="4743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18232C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18232C"/>
                </a:solidFill>
                <a:latin typeface="Aptos"/>
                <a:ea typeface="Aptos"/>
                <a:cs typeface="Aptos"/>
              </a:rPr>
              <a:t>It ranks better than the dummy and logistic baseline.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8BF6B10-0065-4BB0-A8FB-8CAA28936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480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2A9D8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2B6D6DA-0F06-4AF6-8437-8368DB922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971800"/>
            <a:ext cx="4743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18232C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18232C"/>
                </a:solidFill>
                <a:latin typeface="Aptos"/>
                <a:ea typeface="Aptos"/>
                <a:cs typeface="Aptos"/>
              </a:rPr>
              <a:t>It captures useful signal in a one-time holdout check.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AB5AD92-73B3-4F11-BB93-406A3E395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433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2A9D8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7D5C6C0-2490-42DF-8955-63FFFD060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67100"/>
            <a:ext cx="4743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18232C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18232C"/>
                </a:solidFill>
                <a:latin typeface="Aptos"/>
                <a:ea typeface="Aptos"/>
                <a:cs typeface="Aptos"/>
              </a:rPr>
              <a:t>It gives inspectors a consistent shortlist to evaluate.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11A42AD-19B7-42A6-B724-CB1CCF17C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000250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D95D53"/>
                </a:solidFill>
                <a:latin typeface="Aptos"/>
                <a:ea typeface="Aptos"/>
                <a:cs typeface="Aptos"/>
              </a:defRPr>
            </a:pPr>
            <a:r>
              <a:rPr sz="1800" b="1" i="0">
                <a:solidFill>
                  <a:srgbClr val="D95D53"/>
                </a:solidFill>
                <a:latin typeface="Aptos"/>
                <a:ea typeface="Aptos"/>
                <a:cs typeface="Aptos"/>
              </a:rPr>
              <a:t>What we cannot claim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93AD54D-CC85-4940-A6D1-4093624C1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5527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5D53"/>
          </a:solidFill>
          <a:ln xmlns:a="http://schemas.openxmlformats.org/drawingml/2006/main" w="0">
            <a:solidFill>
              <a:srgbClr val="D95D5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073E744-DA70-4C6E-A919-38BE1C201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476500"/>
            <a:ext cx="4743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18232C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18232C"/>
                </a:solidFill>
                <a:latin typeface="Aptos"/>
                <a:ea typeface="Aptos"/>
                <a:cs typeface="Aptos"/>
              </a:rPr>
              <a:t>It does not prove that a client is committing fraud.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13C54B7-1329-4235-A1D7-D3AF53187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0480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5D53"/>
          </a:solidFill>
          <a:ln xmlns:a="http://schemas.openxmlformats.org/drawingml/2006/main" w="0">
            <a:solidFill>
              <a:srgbClr val="D95D5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F222A59-1927-4CAD-8589-D049D81A3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971800"/>
            <a:ext cx="4743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18232C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18232C"/>
                </a:solidFill>
                <a:latin typeface="Aptos"/>
                <a:ea typeface="Aptos"/>
                <a:cs typeface="Aptos"/>
              </a:rPr>
              <a:t>It is not equally reliable across regions or history lengths.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C137DF2-8C20-4B03-A68D-75F2DF1AA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5433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5D53"/>
          </a:solidFill>
          <a:ln xmlns:a="http://schemas.openxmlformats.org/drawingml/2006/main" w="0">
            <a:solidFill>
              <a:srgbClr val="D95D5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645DFA7-AD1E-43F0-9B72-B7FE4B435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467100"/>
            <a:ext cx="4743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18232C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18232C"/>
                </a:solidFill>
                <a:latin typeface="Aptos"/>
                <a:ea typeface="Aptos"/>
                <a:cs typeface="Aptos"/>
              </a:rPr>
              <a:t>A random split does not prove future-time performance.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AE79389-4A24-42A4-A4A1-4DEA2DDE8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86300"/>
            <a:ext cx="1080135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21068D8-59F7-4A3B-9182-2CDDC580C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933950"/>
            <a:ext cx="10287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79710"/>
          </a:bodyPr>
          <a:lstStyle xmlns:a="http://schemas.openxmlformats.org/drawingml/2006/main"/>
          <a:p xmlns:a="http://schemas.openxmlformats.org/drawingml/2006/main">
            <a:pPr algn="ctr">
              <a:defRPr sz="17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725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Deployment guardrail: choose the inspection capacity first, then set the score threshold and monitor precision/recall by segment.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C8EE0A7-A451-47FC-AD94-B00B28BD3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EC1"/>
          </a:solidFill>
          <a:ln xmlns:a="http://schemas.openxmlformats.org/drawingml/2006/main" w="0">
            <a:solidFill>
              <a:srgbClr val="D5CEC1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9C01CC6-CAC8-4A16-8793-3C49A7644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10350"/>
            <a:ext cx="3429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825" b="1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ROY + SEAN  ·  FRAUD DETECTION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4E2781B-D2C4-468B-B0F6-CA8CFB52D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6591300"/>
            <a:ext cx="733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711371459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5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5C9F78B-F842-4DA7-B15D-97C9089C8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385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1F776D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1F776D"/>
                </a:solidFill>
                <a:latin typeface="Aptos"/>
                <a:ea typeface="Aptos"/>
                <a:cs typeface="Aptos"/>
              </a:rPr>
              <a:t>NEXT ITERATION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85B215F-87EA-49AC-B2AD-294B126D7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5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The next lift is more likely to come from data than tuning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58B9A27-8DAB-4ABF-807C-164A1AD14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57300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EC1"/>
          </a:solidFill>
          <a:ln xmlns:a="http://schemas.openxmlformats.org/drawingml/2006/main" w="0">
            <a:solidFill>
              <a:srgbClr val="D5CEC1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85BFA2-0DF2-4CEE-89D4-C14DC49EE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390650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The error analysis tells us where to invest next.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EFB3A5-2A82-41AB-B78B-498A8D7B4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859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1F776D"/>
                </a:solidFill>
                <a:latin typeface="Aptos"/>
                <a:ea typeface="Aptos"/>
                <a:cs typeface="Aptos"/>
              </a:defRPr>
            </a:pPr>
            <a:r>
              <a:rPr sz="1500" b="1" i="0">
                <a:solidFill>
                  <a:srgbClr val="1F776D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BEB724-98F7-4E52-87B9-0AB3B15F6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88595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Define the operating point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FD9606-680C-4902-94DE-231B0E25B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905000"/>
            <a:ext cx="619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350" b="0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inspection capacity and cost of false positives vs missed fraud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BE2E10C-9DEA-44EA-927D-DE49C829B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381250"/>
            <a:ext cx="9525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EC1"/>
          </a:solidFill>
          <a:ln xmlns:a="http://schemas.openxmlformats.org/drawingml/2006/main" w="0">
            <a:solidFill>
              <a:srgbClr val="D5CEC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898E07D-B9A1-4C15-A2F3-FC5C063F3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6700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1F776D"/>
                </a:solidFill>
                <a:latin typeface="Aptos"/>
                <a:ea typeface="Aptos"/>
                <a:cs typeface="Aptos"/>
              </a:defRPr>
            </a:pPr>
            <a:r>
              <a:rPr sz="1500" b="1" i="0">
                <a:solidFill>
                  <a:srgbClr val="1F776D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26FF1B5-7559-43B9-9E71-0F6F5F5D6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6670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Add short-history signal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C476707-6D05-487A-9A66-1F57493E4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686050"/>
            <a:ext cx="619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350" b="0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relative or sequence features that work with only a few invoices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84C787F-DCFB-4E28-97C7-B7DADCAE6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62300"/>
            <a:ext cx="9525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EC1"/>
          </a:solidFill>
          <a:ln xmlns:a="http://schemas.openxmlformats.org/drawingml/2006/main" w="0">
            <a:solidFill>
              <a:srgbClr val="D5CEC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4316793-2ECB-444B-8EF1-8E5537891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480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1F776D"/>
                </a:solidFill>
                <a:latin typeface="Aptos"/>
                <a:ea typeface="Aptos"/>
                <a:cs typeface="Aptos"/>
              </a:defRPr>
            </a:pPr>
            <a:r>
              <a:rPr sz="1500" b="1" i="0">
                <a:solidFill>
                  <a:srgbClr val="1F776D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FACEF84-0498-47E0-BA85-858BBDC83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44805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Validate semantics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60BBB37-2FE8-4539-BA4D-D1C4795A1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467100"/>
            <a:ext cx="619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350" b="0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meter identifiers and the reconciliation threshold with experts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DC260EE-07B3-48D8-A810-0C7CB97EE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943350"/>
            <a:ext cx="9525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EC1"/>
          </a:solidFill>
          <a:ln xmlns:a="http://schemas.openxmlformats.org/drawingml/2006/main" w="0">
            <a:solidFill>
              <a:srgbClr val="D5CEC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6AF9C66-8922-4B0E-A52E-249CF8E3C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2910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1F776D"/>
                </a:solidFill>
                <a:latin typeface="Aptos"/>
                <a:ea typeface="Aptos"/>
                <a:cs typeface="Aptos"/>
              </a:defRPr>
            </a:pPr>
            <a:r>
              <a:rPr sz="1500" b="1" i="0">
                <a:solidFill>
                  <a:srgbClr val="1F776D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578B7CE-DC48-4DCE-88F7-905CDFF4A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2291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Test time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904A384-4B24-411A-9C0B-FE718BEA8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248150"/>
            <a:ext cx="619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350" b="0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as-of cutoff and temporal backtesting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633841A-0094-4528-9B7A-5E1C8BD63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724400"/>
            <a:ext cx="9525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EC1"/>
          </a:solidFill>
          <a:ln xmlns:a="http://schemas.openxmlformats.org/drawingml/2006/main" w="0">
            <a:solidFill>
              <a:srgbClr val="D5CEC1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BE4D244-1405-4445-8020-35745CF6B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0101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1F776D"/>
                </a:solidFill>
                <a:latin typeface="Aptos"/>
                <a:ea typeface="Aptos"/>
                <a:cs typeface="Aptos"/>
              </a:defRPr>
            </a:pPr>
            <a:r>
              <a:rPr sz="1500" b="1" i="0">
                <a:solidFill>
                  <a:srgbClr val="1F776D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7D544D9-B613-4754-8944-38B2B8D80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01015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Check segments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5B37676-73AD-459F-8B92-4CAC09165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5029200"/>
            <a:ext cx="619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1350" b="0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region, category, history length, and meter availability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5D478C5-1E8A-47B3-8C81-E2F4D4351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505450"/>
            <a:ext cx="9525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EC1"/>
          </a:solidFill>
          <a:ln xmlns:a="http://schemas.openxmlformats.org/drawingml/2006/main" w="0">
            <a:solidFill>
              <a:srgbClr val="D5CEC1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73C9A6C-4EB1-414D-9700-03B8165D0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924550"/>
            <a:ext cx="933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D95D53"/>
                </a:solidFill>
                <a:latin typeface="Aptos"/>
                <a:ea typeface="Aptos"/>
                <a:cs typeface="Aptos"/>
              </a:defRPr>
            </a:pPr>
            <a:r>
              <a:rPr sz="1425" b="1" i="0">
                <a:solidFill>
                  <a:srgbClr val="D95D53"/>
                </a:solidFill>
                <a:latin typeface="Aptos"/>
                <a:ea typeface="Aptos"/>
                <a:cs typeface="Aptos"/>
              </a:rPr>
              <a:t>Protect the final holdout until the feature contract and threshold are frozen.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DF41215-B88F-4909-B5F2-0A5913C89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EC1"/>
          </a:solidFill>
          <a:ln xmlns:a="http://schemas.openxmlformats.org/drawingml/2006/main" w="0">
            <a:solidFill>
              <a:srgbClr val="D5CEC1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832594A-0406-4903-9F7A-8D045C43F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10350"/>
            <a:ext cx="3429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825" b="1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ROY + SEAN  ·  FRAUD DETECTION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BD6188F-1758-4940-A5B1-580FE58CD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6591300"/>
            <a:ext cx="733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 i="0">
                <a:solidFill>
                  <a:srgbClr val="52606D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52606D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642464640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102A4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615597E-C878-406E-8AA0-923FDA89E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A8DADC"/>
                </a:solidFill>
                <a:latin typeface="Aptos"/>
                <a:ea typeface="Aptos"/>
                <a:cs typeface="Aptos"/>
              </a:defRPr>
            </a:pPr>
            <a:r>
              <a:rPr sz="1125" b="1" i="0">
                <a:solidFill>
                  <a:srgbClr val="A8DADC"/>
                </a:solidFill>
                <a:latin typeface="Aptos"/>
                <a:ea typeface="Aptos"/>
                <a:cs typeface="Aptos"/>
              </a:rPr>
              <a:t>BONUS  /  ENGINEERING FOR REPRODUCIBILITY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796B5E8-2A30-4174-91A3-DD6B32009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715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5486"/>
          </a:bodyPr>
          <a:lstStyle xmlns:a="http://schemas.openxmlformats.org/drawingml/2006/main"/>
          <a:p xmlns:a="http://schemas.openxmlformats.org/drawingml/2006/main">
            <a:pPr algn="l">
              <a:defRPr sz="36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6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The ML deliverable is</a:t>
            </a:r>
          </a:p>
          <a:p xmlns:a="http://schemas.openxmlformats.org/drawingml/2006/main">
            <a:pPr algn="l">
              <a:defRPr sz="36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6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more than a score.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9B8E50A-9E2B-425A-81AA-FAFCAB477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62250"/>
            <a:ext cx="76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A23B"/>
          </a:solidFill>
          <a:ln xmlns:a="http://schemas.openxmlformats.org/drawingml/2006/main" w="0">
            <a:solidFill>
              <a:srgbClr val="E9A23B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E977741-4D17-469C-B046-5708117B5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7432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GitHub Actions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B57083-8BDE-464F-8562-DB63CAAC7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762250"/>
            <a:ext cx="685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D8E3EA"/>
                </a:solidFill>
                <a:latin typeface="Aptos"/>
                <a:ea typeface="Aptos"/>
                <a:cs typeface="Aptos"/>
              </a:defRPr>
            </a:pPr>
            <a:r>
              <a:rPr sz="1350" b="0" i="0">
                <a:solidFill>
                  <a:srgbClr val="D8E3EA"/>
                </a:solidFill>
                <a:latin typeface="Aptos"/>
                <a:ea typeface="Aptos"/>
                <a:cs typeface="Aptos"/>
              </a:rPr>
              <a:t>PRs and pushes to main execute the EDA and baseline notebooks headlessly.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A5F3CD-0874-4191-9622-8DE12A35B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67100"/>
            <a:ext cx="76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2A9D8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232C03C-60AC-4EFC-8D11-DF0924ECF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44805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Parquet workflow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E4A6E89-CEAC-4150-B075-97DD59DE3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467100"/>
            <a:ext cx="685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D8E3EA"/>
                </a:solidFill>
                <a:latin typeface="Aptos"/>
                <a:ea typeface="Aptos"/>
                <a:cs typeface="Aptos"/>
              </a:defRPr>
            </a:pPr>
            <a:r>
              <a:rPr sz="1350" b="0" i="0">
                <a:solidFill>
                  <a:srgbClr val="D8E3EA"/>
                </a:solidFill>
                <a:latin typeface="Aptos"/>
                <a:ea typeface="Aptos"/>
                <a:cs typeface="Aptos"/>
              </a:rPr>
              <a:t>Committed Parquet inputs make large-table reads repeatable and memory-aware.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FBB020E-8AD2-4D89-B45B-712B85936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71950"/>
            <a:ext cx="76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2A9D8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4331013-C262-43CE-A251-38D7107EA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1529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Saved pipeline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AAE7A48-3214-4814-B84E-97DF60D82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4171950"/>
            <a:ext cx="685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D8E3EA"/>
                </a:solidFill>
                <a:latin typeface="Aptos"/>
                <a:ea typeface="Aptos"/>
                <a:cs typeface="Aptos"/>
              </a:defRPr>
            </a:pPr>
            <a:r>
              <a:rPr sz="1350" b="0" i="0">
                <a:solidFill>
                  <a:srgbClr val="D8E3EA"/>
                </a:solidFill>
                <a:latin typeface="Aptos"/>
                <a:ea typeface="Aptos"/>
                <a:cs typeface="Aptos"/>
              </a:rPr>
              <a:t>The saved feature and preprocessing contract can be reused consistently for future data.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A05551B-C4AC-404A-A373-53A948F4D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76800"/>
            <a:ext cx="76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2A9D8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B34BB6A-85D5-46DD-B01A-903272B22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85775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Explicit contract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931287B-06CD-4994-ACFB-39FC82A0E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4876800"/>
            <a:ext cx="685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D8E3EA"/>
                </a:solidFill>
                <a:latin typeface="Aptos"/>
                <a:ea typeface="Aptos"/>
                <a:cs typeface="Aptos"/>
              </a:defRPr>
            </a:pPr>
            <a:r>
              <a:rPr sz="1350" b="0" i="0">
                <a:solidFill>
                  <a:srgbClr val="D8E3EA"/>
                </a:solidFill>
                <a:latin typeface="Aptos"/>
                <a:ea typeface="Aptos"/>
                <a:cs typeface="Aptos"/>
              </a:rPr>
              <a:t>The 15 inputs and excluded leakage-prone fields are documented across notebooks.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3715E79-D2F8-4DAD-8600-801A96AEA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67400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E9A23B"/>
                </a:solidFill>
                <a:latin typeface="Aptos"/>
                <a:ea typeface="Aptos"/>
                <a:cs typeface="Aptos"/>
              </a:defRPr>
            </a:pPr>
            <a:r>
              <a:rPr sz="1800" b="1" i="0">
                <a:solidFill>
                  <a:srgbClr val="E9A23B"/>
                </a:solidFill>
                <a:latin typeface="Aptos"/>
                <a:ea typeface="Aptos"/>
                <a:cs typeface="Aptos"/>
              </a:rPr>
              <a:t>Reproducibility is part of the model’s credibility.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6981928-8913-4B46-B61D-4FD2E76E8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5064"/>
          </a:solidFill>
          <a:ln xmlns:a="http://schemas.openxmlformats.org/drawingml/2006/main" w="0">
            <a:solidFill>
              <a:srgbClr val="355064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E2BBA4D-3391-45F3-BD8C-D10A3F20C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10350"/>
            <a:ext cx="3429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B9C7D2"/>
                </a:solidFill>
                <a:latin typeface="Aptos"/>
                <a:ea typeface="Aptos"/>
                <a:cs typeface="Aptos"/>
              </a:defRPr>
            </a:pPr>
            <a:r>
              <a:rPr sz="825" b="1" i="0">
                <a:solidFill>
                  <a:srgbClr val="B9C7D2"/>
                </a:solidFill>
                <a:latin typeface="Aptos"/>
                <a:ea typeface="Aptos"/>
                <a:cs typeface="Aptos"/>
              </a:rPr>
              <a:t>ROY + SEAN  ·  FRAUD DETECTION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11E523F-635A-4D3C-9B4B-8892EA60B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6591300"/>
            <a:ext cx="733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 i="0">
                <a:solidFill>
                  <a:srgbClr val="B9C7D2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B9C7D2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158457398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2026-08-20T21:07:18.9150000Z</dcterms:created>
  <dcterms:modified xsi:type="dcterms:W3CDTF">2026-08-20T21:07:18.9150000Z</dcterms:modified>
</coreProperties>
</file>